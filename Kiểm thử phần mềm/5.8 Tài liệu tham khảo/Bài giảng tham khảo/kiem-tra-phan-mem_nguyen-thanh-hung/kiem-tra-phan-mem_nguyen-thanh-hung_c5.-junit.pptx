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0"/>
  </p:notesMasterIdLst>
  <p:sldIdLst>
    <p:sldId id="28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6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interSettings" Target="printerSettings/printerSettings1.bin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76FD5-8311-D146-BD5B-6B4CB9D669F4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07C04-5250-FB49-B83E-202BC949E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5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409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081164" indent="-216233"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513629" indent="-216233"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946095" indent="-216233" defTabSz="914485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93A92AB-4DA4-8440-9BF5-ED1BD851BD05}" type="slidenum">
              <a:rPr lang="en-US" sz="1200"/>
              <a:pPr/>
              <a:t>1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/>
        </p:nvSpPr>
        <p:spPr bwMode="gray">
          <a:xfrm>
            <a:off x="8004175" y="0"/>
            <a:ext cx="1139825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white">
          <a:xfrm>
            <a:off x="0" y="4699000"/>
            <a:ext cx="9144000" cy="2219325"/>
          </a:xfrm>
          <a:prstGeom prst="rect">
            <a:avLst/>
          </a:prstGeom>
          <a:solidFill>
            <a:schemeClr val="folHlink">
              <a:alpha val="3098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7" name="Freeform 20"/>
          <p:cNvSpPr>
            <a:spLocks/>
          </p:cNvSpPr>
          <p:nvPr/>
        </p:nvSpPr>
        <p:spPr bwMode="gray">
          <a:xfrm>
            <a:off x="-9525" y="2138363"/>
            <a:ext cx="8015288" cy="2271712"/>
          </a:xfrm>
          <a:custGeom>
            <a:avLst/>
            <a:gdLst>
              <a:gd name="T0" fmla="*/ 0 w 5049"/>
              <a:gd name="T1" fmla="*/ 0 h 1471"/>
              <a:gd name="T2" fmla="*/ 2147483647 w 5049"/>
              <a:gd name="T3" fmla="*/ 2147483647 h 1471"/>
              <a:gd name="T4" fmla="*/ 2147483647 w 5049"/>
              <a:gd name="T5" fmla="*/ 2147483647 h 1471"/>
              <a:gd name="T6" fmla="*/ 0 w 5049"/>
              <a:gd name="T7" fmla="*/ 2147483647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grpSp>
        <p:nvGrpSpPr>
          <p:cNvPr id="11" name="Group 116"/>
          <p:cNvGrpSpPr>
            <a:grpSpLocks/>
          </p:cNvGrpSpPr>
          <p:nvPr/>
        </p:nvGrpSpPr>
        <p:grpSpPr bwMode="auto">
          <a:xfrm>
            <a:off x="0" y="1806575"/>
            <a:ext cx="3276600" cy="3314700"/>
            <a:chOff x="120" y="1464"/>
            <a:chExt cx="2064" cy="2088"/>
          </a:xfrm>
        </p:grpSpPr>
        <p:sp>
          <p:nvSpPr>
            <p:cNvPr id="12" name="AutoShape 113" descr="gdd01"/>
            <p:cNvSpPr>
              <a:spLocks noChangeArrowheads="1"/>
            </p:cNvSpPr>
            <p:nvPr userDrawn="1"/>
          </p:nvSpPr>
          <p:spPr bwMode="gray">
            <a:xfrm>
              <a:off x="120" y="1992"/>
              <a:ext cx="1104" cy="1008"/>
            </a:xfrm>
            <a:prstGeom prst="hexagon">
              <a:avLst>
                <a:gd name="adj" fmla="val 27381"/>
                <a:gd name="vf" fmla="val 115470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blurRad="63500"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ko-KR" altLang="en-US" smtClean="0"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13" name="AutoShape 114" descr="gdd04"/>
            <p:cNvSpPr>
              <a:spLocks noChangeArrowheads="1"/>
            </p:cNvSpPr>
            <p:nvPr userDrawn="1"/>
          </p:nvSpPr>
          <p:spPr bwMode="gray">
            <a:xfrm>
              <a:off x="1032" y="146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3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blurRad="63500"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ko-KR" altLang="en-US" smtClean="0"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14" name="AutoShape 115" descr="gdd03"/>
            <p:cNvSpPr>
              <a:spLocks noChangeArrowheads="1"/>
            </p:cNvSpPr>
            <p:nvPr userDrawn="1"/>
          </p:nvSpPr>
          <p:spPr bwMode="gray">
            <a:xfrm>
              <a:off x="1008" y="254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blurRad="63500"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defRPr/>
              </a:pPr>
              <a:endParaRPr lang="ko-KR" altLang="en-US" smtClean="0">
                <a:ea typeface="Gulim" panose="020B0600000101010101" pitchFamily="34" charset="-127"/>
                <a:cs typeface="+mn-cs"/>
              </a:endParaRPr>
            </a:p>
          </p:txBody>
        </p:sp>
      </p:grpSp>
      <p:pic>
        <p:nvPicPr>
          <p:cNvPr id="15" name="Picture 24" descr="soic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525" y="0"/>
            <a:ext cx="752475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82638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43000" y="990600"/>
            <a:ext cx="6705600" cy="1012825"/>
          </a:xfrm>
        </p:spPr>
        <p:txBody>
          <a:bodyPr/>
          <a:lstStyle>
            <a:lvl1pPr algn="ctr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05200" y="2971800"/>
            <a:ext cx="4343400" cy="6858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352800" y="6553200"/>
            <a:ext cx="2133600" cy="1524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tx2"/>
                </a:solidFill>
                <a:latin typeface="Verdana" charset="0"/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" y="6548438"/>
            <a:ext cx="2590800" cy="228600"/>
          </a:xfrm>
          <a:prstGeom prst="rect">
            <a:avLst/>
          </a:prstGeom>
        </p:spPr>
        <p:txBody>
          <a:bodyPr/>
          <a:lstStyle>
            <a:lvl1pPr algn="ctr" eaLnBrk="1" hangingPunct="1">
              <a:defRPr sz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0550" y="6467475"/>
            <a:ext cx="533400" cy="244475"/>
          </a:xfrm>
        </p:spPr>
        <p:txBody>
          <a:bodyPr/>
          <a:lstStyle>
            <a:lvl1pPr>
              <a:defRPr sz="1200">
                <a:latin typeface="Arial" charset="0"/>
              </a:defRPr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67946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02332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46688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65960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78570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42232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12076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94753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7136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31159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19863"/>
            <a:ext cx="2133600" cy="244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+mn-cs"/>
              </a:defRPr>
            </a:lvl1pPr>
          </a:lstStyle>
          <a:p>
            <a:fld id="{2901851C-8D2C-5540-8681-CA8CE3AD8AAC}" type="datetimeFigureOut">
              <a:rPr lang="en-US" smtClean="0"/>
              <a:t>12/27/14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03251"/>
      </p:ext>
    </p:extLst>
  </p:cSld>
  <p:clrMapOvr>
    <a:masterClrMapping/>
  </p:clrMapOvr>
  <p:transition xmlns:p14="http://schemas.microsoft.com/office/powerpoint/2010/main"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7"/>
          <p:cNvSpPr>
            <a:spLocks noChangeArrowheads="1"/>
          </p:cNvSpPr>
          <p:nvPr/>
        </p:nvSpPr>
        <p:spPr bwMode="gray">
          <a:xfrm>
            <a:off x="8156575" y="0"/>
            <a:ext cx="987425" cy="6858000"/>
          </a:xfrm>
          <a:prstGeom prst="rect">
            <a:avLst/>
          </a:prstGeom>
          <a:solidFill>
            <a:schemeClr val="folHlink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26" name="Freeform 15"/>
          <p:cNvSpPr>
            <a:spLocks/>
          </p:cNvSpPr>
          <p:nvPr/>
        </p:nvSpPr>
        <p:spPr bwMode="gray">
          <a:xfrm>
            <a:off x="-9525" y="120650"/>
            <a:ext cx="9153525" cy="633413"/>
          </a:xfrm>
          <a:custGeom>
            <a:avLst/>
            <a:gdLst>
              <a:gd name="T0" fmla="*/ 0 w 5049"/>
              <a:gd name="T1" fmla="*/ 0 h 1471"/>
              <a:gd name="T2" fmla="*/ 2147483647 w 5049"/>
              <a:gd name="T3" fmla="*/ 2147483647 h 1471"/>
              <a:gd name="T4" fmla="*/ 2147483647 w 5049"/>
              <a:gd name="T5" fmla="*/ 2147483647 h 1471"/>
              <a:gd name="T6" fmla="*/ 0 w 5049"/>
              <a:gd name="T7" fmla="*/ 2147483647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" name="AutoShape 19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29" name="AutoShape 20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30" name="AutoShape 21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smtClean="0">
              <a:ea typeface="+mn-ea"/>
              <a:cs typeface="+mn-cs"/>
            </a:endParaRP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86750" y="6386513"/>
            <a:ext cx="457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bg1"/>
                </a:solidFill>
                <a:latin typeface="Verdana" charset="0"/>
                <a:cs typeface="+mn-cs"/>
              </a:defRPr>
            </a:lvl1pPr>
          </a:lstStyle>
          <a:p>
            <a:fld id="{AF8C4B88-7B17-1645-832B-4B10E004D9E4}" type="slidenum">
              <a:rPr lang="en-US" smtClean="0"/>
              <a:t>‹#›</a:t>
            </a:fld>
            <a:endParaRPr lang="en-US"/>
          </a:p>
        </p:txBody>
      </p:sp>
      <p:grpSp>
        <p:nvGrpSpPr>
          <p:cNvPr id="1033" name="Group 22"/>
          <p:cNvGrpSpPr>
            <a:grpSpLocks/>
          </p:cNvGrpSpPr>
          <p:nvPr/>
        </p:nvGrpSpPr>
        <p:grpSpPr bwMode="auto">
          <a:xfrm>
            <a:off x="80963" y="25400"/>
            <a:ext cx="838200" cy="838200"/>
            <a:chOff x="18" y="144"/>
            <a:chExt cx="510" cy="480"/>
          </a:xfrm>
        </p:grpSpPr>
        <p:sp>
          <p:nvSpPr>
            <p:cNvPr id="2" name="AutoShape 23"/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smtClean="0">
                <a:ea typeface="+mn-ea"/>
                <a:cs typeface="+mn-cs"/>
              </a:endParaRPr>
            </a:p>
          </p:txBody>
        </p:sp>
        <p:sp>
          <p:nvSpPr>
            <p:cNvPr id="1036" name="AutoShape 24"/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smtClean="0">
                <a:ea typeface="+mn-ea"/>
                <a:cs typeface="+mn-cs"/>
              </a:endParaRPr>
            </a:p>
          </p:txBody>
        </p:sp>
        <p:sp>
          <p:nvSpPr>
            <p:cNvPr id="1037" name="AutoShape 25"/>
            <p:cNvSpPr>
              <a:spLocks noChangeArrowheads="1"/>
            </p:cNvSpPr>
            <p:nvPr userDrawn="1"/>
          </p:nvSpPr>
          <p:spPr bwMode="gray">
            <a:xfrm>
              <a:off x="240" y="384"/>
              <a:ext cx="288" cy="240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smtClean="0">
                <a:ea typeface="+mn-ea"/>
                <a:cs typeface="+mn-cs"/>
              </a:endParaRPr>
            </a:p>
          </p:txBody>
        </p:sp>
      </p:grpSp>
      <p:sp>
        <p:nvSpPr>
          <p:cNvPr id="103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168275"/>
            <a:ext cx="6705600" cy="563563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xmlns:p14="http://schemas.microsoft.com/office/powerpoint/2010/main" spd="slow">
    <p:random/>
  </p:transition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/>
          <a:ea typeface="ＭＳ Ｐゴシック" charset="0"/>
          <a:cs typeface="Arial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charset="0"/>
        <a:buChar char="v"/>
        <a:defRPr sz="2800" b="1">
          <a:solidFill>
            <a:srgbClr val="303030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0"/>
        <a:buChar char="§"/>
        <a:defRPr sz="2800">
          <a:solidFill>
            <a:srgbClr val="303030"/>
          </a:solidFill>
          <a:latin typeface="Arial" charset="0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rgbClr val="303030"/>
          </a:solidFill>
          <a:latin typeface="Arial" charset="0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303030"/>
          </a:solidFill>
          <a:latin typeface="Arial" charset="0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303030"/>
          </a:solidFill>
          <a:latin typeface="Arial" charset="0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junit.or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gray">
          <a:xfrm>
            <a:off x="1873250" y="1163638"/>
            <a:ext cx="7772400" cy="1143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r>
              <a:rPr lang="en-US" sz="4000" dirty="0" err="1" smtClean="0">
                <a:solidFill>
                  <a:srgbClr val="0000FF"/>
                </a:solidFill>
              </a:rPr>
              <a:t>Kiểm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thử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phần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mềm</a:t>
            </a:r>
            <a:endParaRPr lang="en-US" sz="4000" dirty="0" smtClean="0">
              <a:solidFill>
                <a:srgbClr val="0000FF"/>
              </a:solidFill>
            </a:endParaRPr>
          </a:p>
        </p:txBody>
      </p:sp>
      <p:sp>
        <p:nvSpPr>
          <p:cNvPr id="3074" name="Subtitle 2"/>
          <p:cNvSpPr txBox="1">
            <a:spLocks/>
          </p:cNvSpPr>
          <p:nvPr/>
        </p:nvSpPr>
        <p:spPr bwMode="white">
          <a:xfrm>
            <a:off x="360363" y="4713288"/>
            <a:ext cx="7459662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TS.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Nguyễn</a:t>
            </a: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Thanh</a:t>
            </a: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Hùng</a:t>
            </a:r>
            <a:endParaRPr lang="en-US" sz="1600" b="1" dirty="0">
              <a:solidFill>
                <a:srgbClr val="0000FF"/>
              </a:solidFill>
              <a:latin typeface="Verdana" charset="0"/>
            </a:endParaRPr>
          </a:p>
          <a:p>
            <a:pPr algn="r"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Bộ</a:t>
            </a: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Môn</a:t>
            </a: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Công</a:t>
            </a: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Nghệ</a:t>
            </a: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Phần</a:t>
            </a: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Mềm</a:t>
            </a:r>
            <a:endParaRPr lang="en-US" sz="1600" b="1" dirty="0">
              <a:solidFill>
                <a:srgbClr val="0000FF"/>
              </a:solidFill>
              <a:latin typeface="Verdana" charset="0"/>
            </a:endParaRPr>
          </a:p>
          <a:p>
            <a:pPr algn="r"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Email: 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hungnt@soict.hust.edu.vn</a:t>
            </a:r>
            <a:endParaRPr lang="en-US" sz="1600" b="1" dirty="0">
              <a:solidFill>
                <a:srgbClr val="0000FF"/>
              </a:solidFill>
              <a:latin typeface="Verdana" charset="0"/>
            </a:endParaRPr>
          </a:p>
          <a:p>
            <a:pPr algn="r"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Website: http://</a:t>
            </a:r>
            <a:r>
              <a:rPr lang="en-US" sz="1600" b="1" dirty="0" err="1">
                <a:solidFill>
                  <a:srgbClr val="0000FF"/>
                </a:solidFill>
                <a:latin typeface="Verdana" charset="0"/>
              </a:rPr>
              <a:t>soict.hust.edu.vn</a:t>
            </a:r>
            <a:r>
              <a:rPr lang="en-US" sz="1600" b="1" dirty="0">
                <a:solidFill>
                  <a:srgbClr val="0000FF"/>
                </a:solidFill>
                <a:latin typeface="Verdana" charset="0"/>
              </a:rPr>
              <a:t>/</a:t>
            </a:r>
            <a:r>
              <a:rPr lang="en-US" sz="1600" b="1" dirty="0" smtClean="0">
                <a:solidFill>
                  <a:srgbClr val="0000FF"/>
                </a:solidFill>
                <a:latin typeface="Verdana" charset="0"/>
              </a:rPr>
              <a:t>~</a:t>
            </a:r>
            <a:r>
              <a:rPr lang="en-US" sz="1600" b="1" dirty="0" err="1" smtClean="0">
                <a:solidFill>
                  <a:srgbClr val="0000FF"/>
                </a:solidFill>
                <a:latin typeface="Verdana" charset="0"/>
              </a:rPr>
              <a:t>hungnt</a:t>
            </a:r>
            <a:endParaRPr lang="en-US" sz="1600" b="1" dirty="0">
              <a:solidFill>
                <a:srgbClr val="0000FF"/>
              </a:solidFill>
              <a:latin typeface="Verdana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33675" y="2840038"/>
            <a:ext cx="5486400" cy="1143000"/>
          </a:xfrm>
        </p:spPr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rgbClr val="0000FF"/>
                </a:solidFill>
                <a:cs typeface="+mj-cs"/>
              </a:rPr>
              <a:t>JUnit</a:t>
            </a:r>
            <a:endParaRPr lang="en-US" dirty="0" smtClean="0">
              <a:solidFill>
                <a:srgbClr val="0000FF"/>
              </a:solidFill>
              <a:cs typeface="+mj-cs"/>
            </a:endParaRPr>
          </a:p>
        </p:txBody>
      </p:sp>
      <p:sp>
        <p:nvSpPr>
          <p:cNvPr id="3076" name="TextBox 1"/>
          <p:cNvSpPr txBox="1">
            <a:spLocks noChangeArrowheads="1"/>
          </p:cNvSpPr>
          <p:nvPr/>
        </p:nvSpPr>
        <p:spPr bwMode="auto">
          <a:xfrm>
            <a:off x="720725" y="60325"/>
            <a:ext cx="7762875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b="1">
                <a:solidFill>
                  <a:srgbClr val="0000FF"/>
                </a:solidFill>
              </a:rPr>
              <a:t>Trường Đại Học Bách Khoa Hà Nội</a:t>
            </a:r>
          </a:p>
          <a:p>
            <a:pPr algn="ctr"/>
            <a:r>
              <a:rPr lang="en-US" sz="2800" b="1">
                <a:solidFill>
                  <a:srgbClr val="0000FF"/>
                </a:solidFill>
              </a:rPr>
              <a:t>Viện Công Nghệ Thông Tin &amp;Truyền Thông</a:t>
            </a:r>
          </a:p>
        </p:txBody>
      </p:sp>
    </p:spTree>
    <p:extLst>
      <p:ext uri="{BB962C8B-B14F-4D97-AF65-F5344CB8AC3E}">
        <p14:creationId xmlns:p14="http://schemas.microsoft.com/office/powerpoint/2010/main" val="4204663003"/>
      </p:ext>
    </p:extLst>
  </p:cSld>
  <p:clrMapOvr>
    <a:masterClrMapping/>
  </p:clrMapOvr>
  <p:transition xmlns:p14="http://schemas.microsoft.com/office/powerpoint/2010/main" spd="slow">
    <p:randomBar dir="vert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 smtClean="0"/>
              <a:t>Junit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nền</a:t>
            </a:r>
            <a:r>
              <a:rPr lang="en-US" sz="2000" dirty="0" smtClean="0"/>
              <a:t> </a:t>
            </a:r>
            <a:r>
              <a:rPr lang="en-US" sz="2000" dirty="0" err="1" smtClean="0"/>
              <a:t>tảng</a:t>
            </a:r>
            <a:r>
              <a:rPr lang="en-US" sz="2000" dirty="0" smtClean="0"/>
              <a:t> </a:t>
            </a:r>
            <a:r>
              <a:rPr lang="en-US" sz="2000" dirty="0" err="1" smtClean="0"/>
              <a:t>kiểm</a:t>
            </a:r>
            <a:r>
              <a:rPr lang="en-US" sz="2000" dirty="0" smtClean="0"/>
              <a:t> </a:t>
            </a:r>
            <a:r>
              <a:rPr lang="en-US" sz="2000" dirty="0" err="1" smtClean="0"/>
              <a:t>thử</a:t>
            </a:r>
            <a:endParaRPr lang="en-US" sz="2000" dirty="0" smtClean="0"/>
          </a:p>
          <a:p>
            <a:pPr>
              <a:buFontTx/>
              <a:buChar char="-"/>
            </a:pPr>
            <a:r>
              <a:rPr lang="en-US" sz="2000" b="0" dirty="0" err="1" smtClean="0"/>
              <a:t>Viết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bởi</a:t>
            </a:r>
            <a:r>
              <a:rPr lang="en-US" sz="2000" b="0" dirty="0" smtClean="0"/>
              <a:t> Erich Gamma (Design patterns) </a:t>
            </a:r>
            <a:r>
              <a:rPr lang="en-US" sz="2000" b="0" dirty="0" err="1" smtClean="0"/>
              <a:t>và</a:t>
            </a:r>
            <a:r>
              <a:rPr lang="en-US" sz="2000" b="0" dirty="0" smtClean="0"/>
              <a:t> Kent </a:t>
            </a:r>
            <a:r>
              <a:rPr lang="en-US" sz="2000" b="0" dirty="0" err="1" smtClean="0"/>
              <a:t>Bech</a:t>
            </a:r>
            <a:r>
              <a:rPr lang="en-US" sz="2000" b="0" dirty="0" smtClean="0"/>
              <a:t> (</a:t>
            </a:r>
            <a:r>
              <a:rPr lang="en-US" sz="2000" b="0" dirty="0" err="1" smtClean="0"/>
              <a:t>eXtreme</a:t>
            </a:r>
            <a:r>
              <a:rPr lang="en-US" sz="2000" b="0" dirty="0" smtClean="0"/>
              <a:t> Programming)</a:t>
            </a:r>
          </a:p>
          <a:p>
            <a:pPr>
              <a:buFontTx/>
              <a:buChar char="-"/>
            </a:pPr>
            <a:r>
              <a:rPr lang="en-US" sz="2000" b="0" dirty="0" err="1" smtClean="0"/>
              <a:t>Sử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dụng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khả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năng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phản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chiếu</a:t>
            </a:r>
            <a:r>
              <a:rPr lang="en-US" sz="2000" b="0" dirty="0" smtClean="0"/>
              <a:t> (</a:t>
            </a:r>
            <a:r>
              <a:rPr lang="en-US" sz="2000" b="0" dirty="0" err="1" smtClean="0"/>
              <a:t>Chương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trình</a:t>
            </a:r>
            <a:r>
              <a:rPr lang="en-US" sz="2000" b="0" dirty="0" smtClean="0"/>
              <a:t> Java </a:t>
            </a:r>
            <a:r>
              <a:rPr lang="en-US" sz="2000" b="0" dirty="0" err="1" smtClean="0"/>
              <a:t>có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thể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kiểm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tra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chính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mã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nguồn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cuả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nó</a:t>
            </a:r>
            <a:r>
              <a:rPr lang="en-US" sz="2000" b="0" dirty="0" smtClean="0"/>
              <a:t>)</a:t>
            </a:r>
          </a:p>
          <a:p>
            <a:pPr>
              <a:buFontTx/>
              <a:buChar char="-"/>
            </a:pPr>
            <a:r>
              <a:rPr lang="en-US" sz="2000" b="0" dirty="0" smtClean="0"/>
              <a:t>Cho </a:t>
            </a:r>
            <a:r>
              <a:rPr lang="en-US" sz="2000" b="0" dirty="0" err="1" smtClean="0"/>
              <a:t>phép</a:t>
            </a:r>
            <a:r>
              <a:rPr lang="en-US" sz="2000" b="0" dirty="0" smtClean="0"/>
              <a:t>:</a:t>
            </a:r>
          </a:p>
          <a:p>
            <a:pPr lvl="1">
              <a:buFontTx/>
              <a:buChar char="-"/>
            </a:pPr>
            <a:r>
              <a:rPr lang="en-US" sz="2000" dirty="0" err="1" smtClean="0"/>
              <a:t>Định</a:t>
            </a:r>
            <a:r>
              <a:rPr lang="en-US" sz="2000" dirty="0" smtClean="0"/>
              <a:t> </a:t>
            </a:r>
            <a:r>
              <a:rPr lang="en-US" sz="2000" dirty="0" err="1" smtClean="0"/>
              <a:t>nghĩa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kiểm</a:t>
            </a:r>
            <a:r>
              <a:rPr lang="en-US" sz="2000" dirty="0" smtClean="0"/>
              <a:t> </a:t>
            </a:r>
            <a:r>
              <a:rPr lang="en-US" sz="2000" dirty="0" err="1" smtClean="0"/>
              <a:t>thử</a:t>
            </a:r>
            <a:r>
              <a:rPr lang="en-US" sz="2000" dirty="0" smtClean="0"/>
              <a:t>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các</a:t>
            </a:r>
            <a:r>
              <a:rPr lang="en-US" sz="2000" dirty="0" smtClean="0"/>
              <a:t> </a:t>
            </a:r>
            <a:r>
              <a:rPr lang="en-US" sz="2000" dirty="0" err="1" smtClean="0"/>
              <a:t>tập</a:t>
            </a:r>
            <a:r>
              <a:rPr lang="en-US" sz="2000" dirty="0" smtClean="0"/>
              <a:t> </a:t>
            </a:r>
            <a:r>
              <a:rPr lang="en-US" sz="2000" dirty="0" err="1" smtClean="0"/>
              <a:t>kiểm</a:t>
            </a:r>
            <a:r>
              <a:rPr lang="en-US" sz="2000" dirty="0" smtClean="0"/>
              <a:t> </a:t>
            </a:r>
            <a:r>
              <a:rPr lang="en-US" sz="2000" dirty="0" err="1" smtClean="0"/>
              <a:t>thử</a:t>
            </a:r>
            <a:endParaRPr lang="en-US" sz="2000" dirty="0" smtClean="0"/>
          </a:p>
          <a:p>
            <a:pPr lvl="1">
              <a:buFontTx/>
              <a:buChar char="-"/>
            </a:pPr>
            <a:r>
              <a:rPr lang="en-US" sz="2000" b="0" dirty="0" err="1" smtClean="0"/>
              <a:t>Sử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dụng</a:t>
            </a:r>
            <a:r>
              <a:rPr lang="en-US" sz="2000" b="0" dirty="0" smtClean="0"/>
              <a:t> test </a:t>
            </a:r>
            <a:r>
              <a:rPr lang="en-US" sz="2000" b="0" dirty="0" err="1" smtClean="0"/>
              <a:t>như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một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công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cụ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hiệu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quả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cho</a:t>
            </a:r>
            <a:r>
              <a:rPr lang="en-US" sz="2000" b="0" dirty="0" smtClean="0"/>
              <a:t> specification</a:t>
            </a:r>
          </a:p>
          <a:p>
            <a:pPr>
              <a:buFontTx/>
              <a:buChar char="-"/>
            </a:pPr>
            <a:r>
              <a:rPr lang="en-US" sz="2000" b="0" dirty="0" err="1" smtClean="0"/>
              <a:t>Hỗ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trợ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trên</a:t>
            </a:r>
            <a:r>
              <a:rPr lang="en-US" sz="2000" b="0" dirty="0" smtClean="0"/>
              <a:t> IDEs </a:t>
            </a:r>
            <a:r>
              <a:rPr lang="en-US" sz="2000" b="0" dirty="0" err="1" smtClean="0"/>
              <a:t>như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BlueJ</a:t>
            </a:r>
            <a:r>
              <a:rPr lang="en-US" sz="2000" b="0" dirty="0" smtClean="0"/>
              <a:t>, </a:t>
            </a:r>
            <a:r>
              <a:rPr lang="en-US" sz="2000" b="0" dirty="0" err="1" smtClean="0"/>
              <a:t>Jbuilder</a:t>
            </a:r>
            <a:r>
              <a:rPr lang="en-US" sz="2000" b="0" dirty="0" smtClean="0"/>
              <a:t>, </a:t>
            </a:r>
            <a:r>
              <a:rPr lang="en-US" sz="2000" b="0" dirty="0" err="1" smtClean="0"/>
              <a:t>và</a:t>
            </a:r>
            <a:r>
              <a:rPr lang="en-US" sz="2000" b="0" dirty="0" smtClean="0"/>
              <a:t> Eclipse </a:t>
            </a:r>
            <a:r>
              <a:rPr lang="en-US" sz="2000" b="0" dirty="0" err="1" smtClean="0"/>
              <a:t>có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tích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hợp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sẵn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Junit</a:t>
            </a:r>
            <a:endParaRPr lang="en-US" sz="2000" b="0" dirty="0" smtClean="0"/>
          </a:p>
          <a:p>
            <a:pPr>
              <a:buFontTx/>
              <a:buChar char="-"/>
            </a:pPr>
            <a:r>
              <a:rPr lang="en-US" sz="2000" b="0" dirty="0" smtClean="0"/>
              <a:t>Website </a:t>
            </a:r>
            <a:r>
              <a:rPr lang="en-US" sz="2000" b="0" dirty="0" err="1" smtClean="0"/>
              <a:t>về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Junit</a:t>
            </a:r>
            <a:r>
              <a:rPr lang="en-US" sz="2000" b="0" dirty="0" smtClean="0"/>
              <a:t>: </a:t>
            </a:r>
            <a:r>
              <a:rPr lang="en-US" sz="2000" dirty="0">
                <a:hlinkClick r:id="rId2"/>
              </a:rPr>
              <a:t>http://</a:t>
            </a:r>
            <a:r>
              <a:rPr lang="en-US" sz="2000" dirty="0" smtClean="0">
                <a:hlinkClick r:id="rId2"/>
              </a:rPr>
              <a:t>www.junit.org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554762119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JUnit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 “Test runner” </a:t>
            </a:r>
            <a:r>
              <a:rPr lang="en-US" b="0" dirty="0" err="1" smtClean="0"/>
              <a:t>là</a:t>
            </a:r>
            <a:r>
              <a:rPr lang="en-US" b="0" dirty="0" smtClean="0"/>
              <a:t> </a:t>
            </a:r>
            <a:r>
              <a:rPr lang="en-US" b="0" dirty="0" err="1" smtClean="0"/>
              <a:t>phần</a:t>
            </a:r>
            <a:r>
              <a:rPr lang="en-US" b="0" dirty="0" smtClean="0"/>
              <a:t> </a:t>
            </a:r>
            <a:r>
              <a:rPr lang="en-US" b="0" dirty="0" err="1" smtClean="0"/>
              <a:t>mềm</a:t>
            </a:r>
            <a:r>
              <a:rPr lang="en-US" b="0" dirty="0" smtClean="0"/>
              <a:t> </a:t>
            </a:r>
            <a:r>
              <a:rPr lang="en-US" b="0" dirty="0" err="1" smtClean="0"/>
              <a:t>chạy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và</a:t>
            </a:r>
            <a:r>
              <a:rPr lang="en-US" b="0" dirty="0" smtClean="0"/>
              <a:t> </a:t>
            </a:r>
            <a:r>
              <a:rPr lang="en-US" b="0" dirty="0" err="1" smtClean="0"/>
              <a:t>báo</a:t>
            </a:r>
            <a:r>
              <a:rPr lang="en-US" b="0" dirty="0" smtClean="0"/>
              <a:t> </a:t>
            </a:r>
            <a:r>
              <a:rPr lang="en-US" b="0" dirty="0" err="1" smtClean="0"/>
              <a:t>cáo</a:t>
            </a:r>
            <a:r>
              <a:rPr lang="en-US" b="0" dirty="0" smtClean="0"/>
              <a:t> </a:t>
            </a:r>
            <a:r>
              <a:rPr lang="en-US" b="0" dirty="0" err="1" smtClean="0"/>
              <a:t>kết</a:t>
            </a:r>
            <a:r>
              <a:rPr lang="en-US" b="0" dirty="0" smtClean="0"/>
              <a:t> </a:t>
            </a:r>
            <a:r>
              <a:rPr lang="en-US" b="0" dirty="0" err="1" smtClean="0"/>
              <a:t>quả</a:t>
            </a:r>
            <a:endParaRPr lang="en-US" b="0" dirty="0" smtClean="0"/>
          </a:p>
          <a:p>
            <a:r>
              <a:rPr lang="en-US" b="0" dirty="0" smtClean="0"/>
              <a:t>“Test suite” </a:t>
            </a:r>
            <a:r>
              <a:rPr lang="en-US" b="0" dirty="0" err="1" smtClean="0"/>
              <a:t>là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tập</a:t>
            </a:r>
            <a:r>
              <a:rPr lang="en-US" b="0" dirty="0" smtClean="0"/>
              <a:t> </a:t>
            </a:r>
            <a:r>
              <a:rPr lang="en-US" b="0" dirty="0" err="1" smtClean="0"/>
              <a:t>các</a:t>
            </a:r>
            <a:r>
              <a:rPr lang="en-US" b="0" dirty="0" smtClean="0"/>
              <a:t> </a:t>
            </a:r>
            <a:r>
              <a:rPr lang="en-US" b="0" dirty="0" err="1" smtClean="0"/>
              <a:t>trường</a:t>
            </a:r>
            <a:r>
              <a:rPr lang="en-US" b="0" dirty="0" smtClean="0"/>
              <a:t> </a:t>
            </a:r>
            <a:r>
              <a:rPr lang="en-US" b="0" dirty="0" err="1" smtClean="0"/>
              <a:t>hợp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endParaRPr lang="en-US" b="0" dirty="0" smtClean="0"/>
          </a:p>
          <a:p>
            <a:r>
              <a:rPr lang="en-US" b="0" dirty="0" smtClean="0"/>
              <a:t>“Test case”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tra</a:t>
            </a:r>
            <a:r>
              <a:rPr lang="en-US" b="0" dirty="0" smtClean="0"/>
              <a:t> </a:t>
            </a:r>
            <a:r>
              <a:rPr lang="en-US" b="0" dirty="0" err="1" smtClean="0"/>
              <a:t>phản</a:t>
            </a:r>
            <a:r>
              <a:rPr lang="en-US" b="0" dirty="0" smtClean="0"/>
              <a:t> </a:t>
            </a:r>
            <a:r>
              <a:rPr lang="en-US" b="0" dirty="0" err="1" smtClean="0"/>
              <a:t>ứng</a:t>
            </a:r>
            <a:r>
              <a:rPr lang="en-US" b="0" dirty="0" smtClean="0"/>
              <a:t> </a:t>
            </a:r>
            <a:r>
              <a:rPr lang="en-US" b="0" dirty="0" err="1" smtClean="0"/>
              <a:t>của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hàm</a:t>
            </a:r>
            <a:r>
              <a:rPr lang="en-US" b="0" dirty="0" smtClean="0"/>
              <a:t> </a:t>
            </a:r>
            <a:r>
              <a:rPr lang="en-US" b="0" dirty="0" err="1" smtClean="0"/>
              <a:t>đơn</a:t>
            </a:r>
            <a:r>
              <a:rPr lang="en-US" b="0" dirty="0" smtClean="0"/>
              <a:t> </a:t>
            </a:r>
            <a:r>
              <a:rPr lang="en-US" b="0" dirty="0" err="1" smtClean="0"/>
              <a:t>với</a:t>
            </a:r>
            <a:r>
              <a:rPr lang="en-US" b="0" dirty="0" smtClean="0"/>
              <a:t> 1 </a:t>
            </a:r>
            <a:r>
              <a:rPr lang="en-US" b="0" dirty="0" err="1" smtClean="0"/>
              <a:t>tập</a:t>
            </a:r>
            <a:r>
              <a:rPr lang="en-US" b="0" dirty="0" smtClean="0"/>
              <a:t> </a:t>
            </a:r>
            <a:r>
              <a:rPr lang="en-US" b="0" dirty="0" err="1" smtClean="0"/>
              <a:t>đầu</a:t>
            </a:r>
            <a:r>
              <a:rPr lang="en-US" b="0" dirty="0" smtClean="0"/>
              <a:t> </a:t>
            </a:r>
            <a:r>
              <a:rPr lang="en-US" b="0" dirty="0" err="1" smtClean="0"/>
              <a:t>vào</a:t>
            </a:r>
            <a:endParaRPr lang="en-US" b="0" dirty="0" smtClean="0"/>
          </a:p>
          <a:p>
            <a:r>
              <a:rPr lang="en-US" b="0" dirty="0" smtClean="0"/>
              <a:t>“Unit test” </a:t>
            </a:r>
            <a:r>
              <a:rPr lang="en-US" b="0" dirty="0" err="1" smtClean="0"/>
              <a:t>là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của</a:t>
            </a:r>
            <a:r>
              <a:rPr lang="en-US" b="0" dirty="0" smtClean="0"/>
              <a:t> </a:t>
            </a:r>
            <a:r>
              <a:rPr lang="en-US" b="0" dirty="0" err="1" smtClean="0"/>
              <a:t>phần</a:t>
            </a:r>
            <a:r>
              <a:rPr lang="en-US" b="0" dirty="0" smtClean="0"/>
              <a:t> </a:t>
            </a:r>
            <a:r>
              <a:rPr lang="en-US" b="0" dirty="0" err="1" smtClean="0"/>
              <a:t>tử</a:t>
            </a:r>
            <a:r>
              <a:rPr lang="en-US" b="0" dirty="0" smtClean="0"/>
              <a:t> </a:t>
            </a:r>
            <a:r>
              <a:rPr lang="en-US" b="0" dirty="0" err="1" smtClean="0"/>
              <a:t>mã</a:t>
            </a:r>
            <a:r>
              <a:rPr lang="en-US" b="0" dirty="0" smtClean="0"/>
              <a:t> </a:t>
            </a:r>
            <a:r>
              <a:rPr lang="en-US" b="0" dirty="0" err="1" smtClean="0"/>
              <a:t>nguồn</a:t>
            </a:r>
            <a:r>
              <a:rPr lang="en-US" b="0" dirty="0" smtClean="0"/>
              <a:t> </a:t>
            </a:r>
            <a:r>
              <a:rPr lang="en-US" b="0" dirty="0" err="1" smtClean="0"/>
              <a:t>nhỏ</a:t>
            </a:r>
            <a:r>
              <a:rPr lang="en-US" b="0" dirty="0" smtClean="0"/>
              <a:t> </a:t>
            </a:r>
            <a:r>
              <a:rPr lang="en-US" b="0" dirty="0" err="1" smtClean="0"/>
              <a:t>nhất</a:t>
            </a:r>
            <a:r>
              <a:rPr lang="en-US" b="0" dirty="0" smtClean="0"/>
              <a:t> </a:t>
            </a:r>
            <a:r>
              <a:rPr lang="en-US" b="0" dirty="0" err="1" smtClean="0"/>
              <a:t>có</a:t>
            </a:r>
            <a:r>
              <a:rPr lang="en-US" b="0" dirty="0" smtClean="0"/>
              <a:t> </a:t>
            </a:r>
            <a:r>
              <a:rPr lang="en-US" b="0" dirty="0" err="1" smtClean="0"/>
              <a:t>thể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, </a:t>
            </a:r>
            <a:r>
              <a:rPr lang="en-US" b="0" dirty="0" err="1" smtClean="0"/>
              <a:t>thường</a:t>
            </a:r>
            <a:r>
              <a:rPr lang="en-US" b="0" dirty="0" smtClean="0"/>
              <a:t> </a:t>
            </a:r>
            <a:r>
              <a:rPr lang="en-US" b="0" dirty="0" err="1" smtClean="0"/>
              <a:t>là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lớp</a:t>
            </a:r>
            <a:r>
              <a:rPr lang="en-US" b="0" dirty="0" smtClean="0"/>
              <a:t> </a:t>
            </a:r>
            <a:r>
              <a:rPr lang="en-US" b="0" dirty="0" err="1" smtClean="0"/>
              <a:t>đơn</a:t>
            </a:r>
            <a:r>
              <a:rPr lang="en-US" b="0" dirty="0" smtClean="0"/>
              <a:t>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501989726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JUnit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 smtClean="0"/>
              <a:t> “Test fixture” </a:t>
            </a:r>
            <a:r>
              <a:rPr lang="en-US" sz="2000" b="0" dirty="0" err="1" smtClean="0"/>
              <a:t>là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môi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trường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chạy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kiểm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thử</a:t>
            </a:r>
            <a:r>
              <a:rPr lang="en-US" sz="2000" b="0" dirty="0" smtClean="0"/>
              <a:t>. </a:t>
            </a:r>
            <a:r>
              <a:rPr lang="en-US" sz="2000" b="0" dirty="0" err="1" smtClean="0"/>
              <a:t>Một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môi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trường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mới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được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cài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đặt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trước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mỗi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lần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thực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hiện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trường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hợp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kiểm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thử</a:t>
            </a:r>
            <a:r>
              <a:rPr lang="en-US" sz="2000" b="0" dirty="0" smtClean="0"/>
              <a:t>, </a:t>
            </a:r>
            <a:r>
              <a:rPr lang="en-US" sz="2000" b="0" dirty="0" err="1" smtClean="0"/>
              <a:t>và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được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huỷ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bỏ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sau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đó</a:t>
            </a:r>
            <a:r>
              <a:rPr lang="en-US" sz="2000" b="0" dirty="0" smtClean="0"/>
              <a:t>.</a:t>
            </a:r>
          </a:p>
          <a:p>
            <a:pPr marL="400050" lvl="1" indent="0">
              <a:buNone/>
            </a:pPr>
            <a:r>
              <a:rPr lang="en-US" sz="2000" b="0" dirty="0" err="1" smtClean="0"/>
              <a:t>Ví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dụ</a:t>
            </a:r>
            <a:r>
              <a:rPr lang="en-US" sz="2000" b="0" dirty="0"/>
              <a:t>: </a:t>
            </a:r>
            <a:r>
              <a:rPr lang="en-US" sz="2000" b="0" dirty="0" err="1" smtClean="0"/>
              <a:t>để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thử</a:t>
            </a:r>
            <a:r>
              <a:rPr lang="en-US" sz="2000" b="0" dirty="0" smtClean="0"/>
              <a:t> </a:t>
            </a:r>
            <a:r>
              <a:rPr lang="en-US" sz="2000" b="0" dirty="0" err="1"/>
              <a:t>nghiệm</a:t>
            </a:r>
            <a:r>
              <a:rPr lang="en-US" sz="2000" b="0" dirty="0"/>
              <a:t> </a:t>
            </a:r>
            <a:r>
              <a:rPr lang="en-US" sz="2000" b="0" dirty="0" err="1"/>
              <a:t>một</a:t>
            </a:r>
            <a:r>
              <a:rPr lang="en-US" sz="2000" b="0" dirty="0"/>
              <a:t> </a:t>
            </a:r>
            <a:r>
              <a:rPr lang="en-US" sz="2000" b="0" dirty="0" smtClean="0"/>
              <a:t>CSDL, </a:t>
            </a:r>
            <a:r>
              <a:rPr lang="en-US" sz="2000" b="0" dirty="0" err="1" smtClean="0"/>
              <a:t>môi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trường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kiểm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thử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có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thể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thiết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lập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máy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chủ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ở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trạng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thái</a:t>
            </a:r>
            <a:r>
              <a:rPr lang="en-US" sz="2000" b="0" dirty="0" smtClean="0"/>
              <a:t> ban </a:t>
            </a:r>
            <a:r>
              <a:rPr lang="en-US" sz="2000" b="0" dirty="0" err="1" smtClean="0"/>
              <a:t>đầu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chuẩn</a:t>
            </a:r>
            <a:r>
              <a:rPr lang="en-US" sz="2000" b="0" dirty="0" smtClean="0"/>
              <a:t>, </a:t>
            </a:r>
            <a:r>
              <a:rPr lang="en-US" sz="2000" b="0" dirty="0" err="1"/>
              <a:t>sẵn</a:t>
            </a:r>
            <a:r>
              <a:rPr lang="en-US" sz="2000" b="0" dirty="0"/>
              <a:t> </a:t>
            </a:r>
            <a:r>
              <a:rPr lang="en-US" sz="2000" b="0" dirty="0" err="1"/>
              <a:t>sàng</a:t>
            </a:r>
            <a:r>
              <a:rPr lang="en-US" sz="2000" b="0" dirty="0"/>
              <a:t> </a:t>
            </a:r>
            <a:r>
              <a:rPr lang="en-US" sz="2000" b="0" dirty="0" err="1"/>
              <a:t>cho</a:t>
            </a:r>
            <a:r>
              <a:rPr lang="en-US" sz="2000" b="0" dirty="0"/>
              <a:t> </a:t>
            </a:r>
            <a:r>
              <a:rPr lang="en-US" sz="2000" b="0" dirty="0" err="1"/>
              <a:t>khách</a:t>
            </a:r>
            <a:r>
              <a:rPr lang="en-US" sz="2000" b="0" dirty="0"/>
              <a:t> </a:t>
            </a:r>
            <a:r>
              <a:rPr lang="en-US" sz="2000" b="0" dirty="0" err="1"/>
              <a:t>hàng</a:t>
            </a:r>
            <a:r>
              <a:rPr lang="en-US" sz="2000" b="0" dirty="0"/>
              <a:t> </a:t>
            </a:r>
            <a:r>
              <a:rPr lang="en-US" sz="2000" b="0" dirty="0" err="1"/>
              <a:t>để</a:t>
            </a:r>
            <a:r>
              <a:rPr lang="en-US" sz="2000" b="0" dirty="0"/>
              <a:t> </a:t>
            </a:r>
            <a:r>
              <a:rPr lang="en-US" sz="2000" b="0" dirty="0" err="1"/>
              <a:t>kết</a:t>
            </a:r>
            <a:r>
              <a:rPr lang="en-US" sz="2000" b="0" dirty="0"/>
              <a:t> </a:t>
            </a:r>
            <a:r>
              <a:rPr lang="en-US" sz="2000" b="0" dirty="0" err="1"/>
              <a:t>nối</a:t>
            </a:r>
            <a:r>
              <a:rPr lang="en-US" sz="2000" b="0" dirty="0"/>
              <a:t>.</a:t>
            </a:r>
            <a:endParaRPr lang="en-US" sz="2000" b="0" dirty="0" smtClean="0"/>
          </a:p>
          <a:p>
            <a:r>
              <a:rPr lang="en-US" sz="2000" b="0" dirty="0" smtClean="0"/>
              <a:t>“Integration test” </a:t>
            </a:r>
            <a:r>
              <a:rPr lang="en-US" sz="2000" b="0" dirty="0" err="1" smtClean="0"/>
              <a:t>là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một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kiểm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thử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cho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việc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kết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hợp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hoạt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động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của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nhiều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lớp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với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nhau</a:t>
            </a:r>
            <a:endParaRPr lang="en-US" sz="2000" b="0" dirty="0" smtClean="0"/>
          </a:p>
          <a:p>
            <a:pPr marL="0" indent="0">
              <a:buNone/>
            </a:pPr>
            <a:r>
              <a:rPr lang="en-US" sz="2000" b="0" dirty="0" smtClean="0"/>
              <a:t>    </a:t>
            </a:r>
            <a:r>
              <a:rPr lang="en-US" sz="2000" b="0" dirty="0" err="1" smtClean="0"/>
              <a:t>Junit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hỗ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trợ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một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phần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cho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kiểm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thử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tích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hợp</a:t>
            </a:r>
            <a:endParaRPr lang="en-US" sz="2000" b="0" dirty="0" smtClean="0"/>
          </a:p>
        </p:txBody>
      </p:sp>
    </p:spTree>
    <p:extLst>
      <p:ext uri="{BB962C8B-B14F-4D97-AF65-F5344CB8AC3E}">
        <p14:creationId xmlns:p14="http://schemas.microsoft.com/office/powerpoint/2010/main" val="3567356337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 </a:t>
            </a:r>
            <a:r>
              <a:rPr lang="en-US" b="0" dirty="0" err="1" smtClean="0"/>
              <a:t>Chúng</a:t>
            </a:r>
            <a:r>
              <a:rPr lang="en-US" b="0" dirty="0" smtClean="0"/>
              <a:t> ta </a:t>
            </a:r>
            <a:r>
              <a:rPr lang="en-US" b="0" dirty="0" err="1" smtClean="0"/>
              <a:t>muốn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lớp</a:t>
            </a:r>
            <a:r>
              <a:rPr lang="en-US" b="0" dirty="0" smtClean="0"/>
              <a:t> </a:t>
            </a:r>
            <a:r>
              <a:rPr lang="en-US" b="0" dirty="0" err="1" smtClean="0"/>
              <a:t>tên</a:t>
            </a:r>
            <a:r>
              <a:rPr lang="en-US" b="0" dirty="0" smtClean="0"/>
              <a:t> Triangle</a:t>
            </a:r>
          </a:p>
          <a:p>
            <a:pPr lvl="1"/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Triangle;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hay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endParaRPr lang="en-US" dirty="0" smtClean="0"/>
          </a:p>
          <a:p>
            <a:pPr marL="857250" lvl="2" indent="0">
              <a:buNone/>
            </a:pPr>
            <a:r>
              <a:rPr lang="en-US" b="0" dirty="0" smtClean="0"/>
              <a:t>public class TriangleTestJ4{</a:t>
            </a:r>
          </a:p>
          <a:p>
            <a:pPr marL="857250" lvl="2" indent="0">
              <a:buNone/>
            </a:pPr>
            <a:r>
              <a:rPr lang="en-US" dirty="0" smtClean="0"/>
              <a:t>}</a:t>
            </a:r>
          </a:p>
          <a:p>
            <a:pPr marL="457200" lvl="1" indent="0">
              <a:buNone/>
            </a:pPr>
            <a:r>
              <a:rPr lang="en-US" b="0" dirty="0" err="1" smtClean="0"/>
              <a:t>Đây</a:t>
            </a:r>
            <a:r>
              <a:rPr lang="en-US" b="0" dirty="0" smtClean="0"/>
              <a:t> </a:t>
            </a:r>
            <a:r>
              <a:rPr lang="en-US" b="0" dirty="0" err="1" smtClean="0"/>
              <a:t>là</a:t>
            </a:r>
            <a:r>
              <a:rPr lang="en-US" b="0" dirty="0" smtClean="0"/>
              <a:t> </a:t>
            </a:r>
            <a:r>
              <a:rPr lang="en-US" b="0" dirty="0" err="1" smtClean="0"/>
              <a:t>hàm</a:t>
            </a:r>
            <a:r>
              <a:rPr lang="en-US" b="0" dirty="0" smtClean="0"/>
              <a:t> </a:t>
            </a:r>
            <a:r>
              <a:rPr lang="en-US" b="0" dirty="0" err="1" smtClean="0"/>
              <a:t>tạo</a:t>
            </a:r>
            <a:r>
              <a:rPr lang="en-US" b="0" dirty="0" smtClean="0"/>
              <a:t> </a:t>
            </a:r>
            <a:r>
              <a:rPr lang="en-US" b="0" dirty="0" err="1" smtClean="0"/>
              <a:t>mặc</a:t>
            </a:r>
            <a:r>
              <a:rPr lang="en-US" b="0" dirty="0" smtClean="0"/>
              <a:t> </a:t>
            </a:r>
            <a:r>
              <a:rPr lang="en-US" b="0" dirty="0" err="1" smtClean="0"/>
              <a:t>định</a:t>
            </a:r>
            <a:r>
              <a:rPr lang="en-US" b="0" dirty="0" smtClean="0"/>
              <a:t>:</a:t>
            </a:r>
          </a:p>
          <a:p>
            <a:pPr marL="857250" lvl="2" indent="0">
              <a:buNone/>
            </a:pPr>
            <a:r>
              <a:rPr lang="en-US" dirty="0" smtClean="0"/>
              <a:t>public </a:t>
            </a:r>
            <a:r>
              <a:rPr lang="en-US" dirty="0" err="1" smtClean="0"/>
              <a:t>TriangleTest</a:t>
            </a:r>
            <a:r>
              <a:rPr lang="en-US" dirty="0" smtClean="0"/>
              <a:t>(){}</a:t>
            </a:r>
            <a:endParaRPr lang="en-US" b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JUnit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94774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>
                <a:solidFill>
                  <a:srgbClr val="0000FF"/>
                </a:solidFill>
              </a:rPr>
              <a:t>@Before public void </a:t>
            </a:r>
            <a:r>
              <a:rPr lang="en-US" sz="2000" b="0" dirty="0" err="1">
                <a:solidFill>
                  <a:srgbClr val="0000FF"/>
                </a:solidFill>
              </a:rPr>
              <a:t>init</a:t>
            </a:r>
            <a:r>
              <a:rPr lang="en-US" sz="2000" b="0" dirty="0">
                <a:solidFill>
                  <a:srgbClr val="0000FF"/>
                </a:solidFill>
              </a:rPr>
              <a:t>()</a:t>
            </a:r>
            <a:r>
              <a:rPr lang="en-US" sz="2000" b="0" dirty="0"/>
              <a:t/>
            </a:r>
            <a:br>
              <a:rPr lang="en-US" sz="2000" b="0" dirty="0"/>
            </a:br>
            <a:r>
              <a:rPr lang="en-US" sz="2000" b="0" dirty="0" err="1" smtClean="0"/>
              <a:t>Tạo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một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môi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trường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kiểm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thử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bằng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cách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tạo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và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khởi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tạo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các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đối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tượng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và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các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giá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trị</a:t>
            </a:r>
            <a:r>
              <a:rPr lang="en-US" sz="2000" b="0" dirty="0" smtClean="0"/>
              <a:t>. </a:t>
            </a:r>
            <a:endParaRPr lang="en-US" sz="2000" b="0" dirty="0"/>
          </a:p>
          <a:p>
            <a:r>
              <a:rPr lang="en-US" sz="2000" b="0" dirty="0" smtClean="0">
                <a:solidFill>
                  <a:srgbClr val="0000FF"/>
                </a:solidFill>
              </a:rPr>
              <a:t>@</a:t>
            </a:r>
            <a:r>
              <a:rPr lang="en-US" sz="2000" b="0" dirty="0">
                <a:solidFill>
                  <a:srgbClr val="0000FF"/>
                </a:solidFill>
              </a:rPr>
              <a:t>After public void </a:t>
            </a:r>
            <a:r>
              <a:rPr lang="en-US" sz="2000" b="0" dirty="0" err="1">
                <a:solidFill>
                  <a:srgbClr val="0000FF"/>
                </a:solidFill>
              </a:rPr>
              <a:t>cleanUp</a:t>
            </a:r>
            <a:r>
              <a:rPr lang="en-US" sz="2000" b="0" dirty="0">
                <a:solidFill>
                  <a:srgbClr val="0000FF"/>
                </a:solidFill>
              </a:rPr>
              <a:t>()</a:t>
            </a:r>
            <a:r>
              <a:rPr lang="en-US" sz="2000" b="0" dirty="0"/>
              <a:t> </a:t>
            </a:r>
          </a:p>
          <a:p>
            <a:pPr marL="400050" lvl="1" indent="0">
              <a:buNone/>
            </a:pPr>
            <a:r>
              <a:rPr lang="en-US" sz="2000" b="0" dirty="0" err="1" smtClean="0"/>
              <a:t>Giải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phóng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các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tài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nguyên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hệ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thống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sử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dụng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bởi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môi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trường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kiểm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thử</a:t>
            </a:r>
            <a:r>
              <a:rPr lang="en-US" sz="2000" b="0" dirty="0" smtClean="0"/>
              <a:t>. Java </a:t>
            </a:r>
            <a:r>
              <a:rPr lang="en-US" sz="2000" b="0" dirty="0" err="1" smtClean="0"/>
              <a:t>thường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thực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hiện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giải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phóng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tự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động</a:t>
            </a:r>
            <a:r>
              <a:rPr lang="en-US" sz="2000" b="0" dirty="0" smtClean="0"/>
              <a:t>, </a:t>
            </a:r>
            <a:r>
              <a:rPr lang="en-US" sz="2000" b="0" dirty="0" err="1" smtClean="0"/>
              <a:t>nhưng</a:t>
            </a:r>
            <a:r>
              <a:rPr lang="en-US" sz="2000" b="0" dirty="0" smtClean="0"/>
              <a:t> files, </a:t>
            </a:r>
            <a:r>
              <a:rPr lang="en-US" sz="2000" b="0" dirty="0" err="1" smtClean="0"/>
              <a:t>kết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nối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mạng</a:t>
            </a:r>
            <a:r>
              <a:rPr lang="en-US" sz="2000" b="0" dirty="0" smtClean="0"/>
              <a:t>, …, </a:t>
            </a:r>
            <a:r>
              <a:rPr lang="en-US" sz="2000" b="0" dirty="0" err="1" smtClean="0"/>
              <a:t>có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thể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ko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được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giải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phóng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hoàn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toàn</a:t>
            </a:r>
            <a:r>
              <a:rPr lang="en-US" sz="2000" b="0" dirty="0" smtClean="0"/>
              <a:t>.</a:t>
            </a:r>
            <a:endParaRPr lang="en-US" sz="2000" b="0" dirty="0"/>
          </a:p>
          <a:p>
            <a:r>
              <a:rPr lang="en-US" sz="2000" b="0" dirty="0" smtClean="0">
                <a:solidFill>
                  <a:srgbClr val="0000FF"/>
                </a:solidFill>
              </a:rPr>
              <a:t>@</a:t>
            </a:r>
            <a:r>
              <a:rPr lang="en-US" sz="2000" b="0" dirty="0">
                <a:solidFill>
                  <a:srgbClr val="0000FF"/>
                </a:solidFill>
              </a:rPr>
              <a:t>Test public void </a:t>
            </a:r>
            <a:r>
              <a:rPr lang="en-US" sz="2000" b="0" dirty="0" err="1">
                <a:solidFill>
                  <a:srgbClr val="0000FF"/>
                </a:solidFill>
              </a:rPr>
              <a:t>noBadTriangles</a:t>
            </a:r>
            <a:r>
              <a:rPr lang="en-US" sz="2000" b="0" dirty="0">
                <a:solidFill>
                  <a:srgbClr val="0000FF"/>
                </a:solidFill>
              </a:rPr>
              <a:t>(), @Test public void </a:t>
            </a:r>
            <a:r>
              <a:rPr lang="en-US" sz="2000" b="0" dirty="0" err="1">
                <a:solidFill>
                  <a:srgbClr val="0000FF"/>
                </a:solidFill>
              </a:rPr>
              <a:t>scaleneOk</a:t>
            </a:r>
            <a:r>
              <a:rPr lang="en-US" sz="2000" b="0" dirty="0">
                <a:solidFill>
                  <a:srgbClr val="0000FF"/>
                </a:solidFill>
              </a:rPr>
              <a:t>(), etc.</a:t>
            </a:r>
            <a:r>
              <a:rPr lang="en-US" sz="2000" b="0" dirty="0"/>
              <a:t> </a:t>
            </a:r>
            <a:endParaRPr lang="en-US" sz="2000" b="0" dirty="0" smtClean="0"/>
          </a:p>
          <a:p>
            <a:pPr marL="400050" lvl="1" indent="0">
              <a:buNone/>
            </a:pPr>
            <a:r>
              <a:rPr lang="en-US" sz="2000" b="0" dirty="0" err="1" smtClean="0"/>
              <a:t>Các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phương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thức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chứa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các</a:t>
            </a:r>
            <a:r>
              <a:rPr lang="en-US" sz="2000" b="0" dirty="0" smtClean="0"/>
              <a:t> tests </a:t>
            </a:r>
            <a:r>
              <a:rPr lang="en-US" sz="2000" b="0" dirty="0" err="1" smtClean="0"/>
              <a:t>cho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hàm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tạo</a:t>
            </a:r>
            <a:r>
              <a:rPr lang="en-US" sz="2000" b="0" dirty="0" smtClean="0"/>
              <a:t> Triangle </a:t>
            </a:r>
            <a:r>
              <a:rPr lang="en-US" sz="2000" b="0" dirty="0" err="1" smtClean="0"/>
              <a:t>và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phương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thức</a:t>
            </a:r>
            <a:r>
              <a:rPr lang="en-US" sz="2000" b="0" dirty="0" smtClean="0"/>
              <a:t> </a:t>
            </a:r>
            <a:r>
              <a:rPr lang="en-US" sz="2000" b="0" dirty="0" err="1" smtClean="0"/>
              <a:t>isScalene</a:t>
            </a:r>
            <a:r>
              <a:rPr lang="en-US" sz="2000" b="0" dirty="0" smtClean="0"/>
              <a:t>(</a:t>
            </a:r>
            <a:r>
              <a:rPr lang="en-US" sz="2000" b="0" dirty="0"/>
              <a:t>)</a:t>
            </a:r>
            <a:r>
              <a:rPr lang="en-US" sz="2000" b="0" dirty="0" smtClean="0"/>
              <a:t>.</a:t>
            </a:r>
            <a:r>
              <a:rPr lang="en-US" sz="2000" b="0" dirty="0"/>
              <a:t/>
            </a:r>
            <a:br>
              <a:rPr lang="en-US" sz="2000" b="0" dirty="0"/>
            </a:br>
            <a:endParaRPr lang="en-US" sz="2000" b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JUnit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435509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hiên</a:t>
            </a:r>
            <a:r>
              <a:rPr lang="en-US" dirty="0" smtClean="0"/>
              <a:t> Tests: Assert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err="1" smtClean="0"/>
              <a:t>Trong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test:</a:t>
            </a:r>
          </a:p>
          <a:p>
            <a:pPr lvl="1"/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thu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endParaRPr lang="en-US" dirty="0" smtClean="0"/>
          </a:p>
          <a:p>
            <a:pPr lvl="1"/>
            <a:r>
              <a:rPr lang="en-US" b="0" i="1" dirty="0" smtClean="0"/>
              <a:t>Assert (</a:t>
            </a:r>
            <a:r>
              <a:rPr lang="en-US" b="0" i="1" dirty="0" err="1" smtClean="0"/>
              <a:t>xác</a:t>
            </a:r>
            <a:r>
              <a:rPr lang="en-US" b="0" i="1" dirty="0" smtClean="0"/>
              <a:t> </a:t>
            </a:r>
            <a:r>
              <a:rPr lang="en-US" b="0" i="1" dirty="0" err="1" smtClean="0"/>
              <a:t>nhận</a:t>
            </a:r>
            <a:r>
              <a:rPr lang="en-US" b="0" i="1" dirty="0" smtClean="0"/>
              <a:t>)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thuộc</a:t>
            </a:r>
            <a:r>
              <a:rPr lang="en-US" b="0" dirty="0" smtClean="0"/>
              <a:t> </a:t>
            </a:r>
            <a:r>
              <a:rPr lang="en-US" b="0" dirty="0" err="1" smtClean="0"/>
              <a:t>tính</a:t>
            </a:r>
            <a:r>
              <a:rPr lang="en-US" b="0" dirty="0" smtClean="0"/>
              <a:t> </a:t>
            </a:r>
            <a:r>
              <a:rPr lang="en-US" b="0" dirty="0" err="1" smtClean="0"/>
              <a:t>chứa</a:t>
            </a:r>
            <a:r>
              <a:rPr lang="en-US" b="0" dirty="0" smtClean="0"/>
              <a:t> </a:t>
            </a:r>
            <a:r>
              <a:rPr lang="en-US" b="0" dirty="0" err="1" smtClean="0"/>
              <a:t>kết</a:t>
            </a:r>
            <a:r>
              <a:rPr lang="en-US" b="0" dirty="0" smtClean="0"/>
              <a:t> </a:t>
            </a:r>
            <a:r>
              <a:rPr lang="en-US" b="0" dirty="0" err="1" smtClean="0"/>
              <a:t>quả</a:t>
            </a:r>
            <a:r>
              <a:rPr lang="en-US" b="0" dirty="0" smtClean="0"/>
              <a:t> </a:t>
            </a:r>
            <a:r>
              <a:rPr lang="en-US" b="0" dirty="0" err="1" smtClean="0"/>
              <a:t>kiểm</a:t>
            </a:r>
            <a:r>
              <a:rPr lang="en-US" b="0" dirty="0" smtClean="0"/>
              <a:t> </a:t>
            </a:r>
            <a:r>
              <a:rPr lang="en-US" b="0" dirty="0" err="1" smtClean="0"/>
              <a:t>thử</a:t>
            </a:r>
            <a:endParaRPr lang="en-US" b="0" dirty="0" smtClean="0"/>
          </a:p>
          <a:p>
            <a:pPr lvl="1"/>
            <a:r>
              <a:rPr lang="en-US" dirty="0" err="1" smtClean="0"/>
              <a:t>Mỗi</a:t>
            </a:r>
            <a:r>
              <a:rPr lang="en-US" dirty="0" smtClean="0"/>
              <a:t> assert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thách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endParaRPr lang="en-US" dirty="0" smtClean="0"/>
          </a:p>
          <a:p>
            <a:r>
              <a:rPr lang="en-US" b="0" dirty="0" err="1" smtClean="0"/>
              <a:t>Nếu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thuộc</a:t>
            </a:r>
            <a:r>
              <a:rPr lang="en-US" b="0" dirty="0" smtClean="0"/>
              <a:t> </a:t>
            </a:r>
            <a:r>
              <a:rPr lang="en-US" b="0" dirty="0" err="1" smtClean="0"/>
              <a:t>tính</a:t>
            </a:r>
            <a:r>
              <a:rPr lang="en-US" b="0" dirty="0" smtClean="0"/>
              <a:t> </a:t>
            </a:r>
            <a:r>
              <a:rPr lang="en-US" b="0" dirty="0" err="1" smtClean="0"/>
              <a:t>thất</a:t>
            </a:r>
            <a:r>
              <a:rPr lang="en-US" b="0" dirty="0" smtClean="0"/>
              <a:t> </a:t>
            </a:r>
            <a:r>
              <a:rPr lang="en-US" b="0" dirty="0" err="1" smtClean="0"/>
              <a:t>bại</a:t>
            </a:r>
            <a:r>
              <a:rPr lang="en-US" b="0" dirty="0" smtClean="0"/>
              <a:t>, assert </a:t>
            </a:r>
            <a:r>
              <a:rPr lang="en-US" b="0" dirty="0" err="1" smtClean="0"/>
              <a:t>sẽ</a:t>
            </a:r>
            <a:r>
              <a:rPr lang="en-US" b="0" dirty="0" smtClean="0"/>
              <a:t> </a:t>
            </a:r>
            <a:r>
              <a:rPr lang="en-US" b="0" dirty="0" err="1" smtClean="0"/>
              <a:t>thất</a:t>
            </a:r>
            <a:r>
              <a:rPr lang="en-US" b="0" dirty="0" smtClean="0"/>
              <a:t> </a:t>
            </a:r>
            <a:r>
              <a:rPr lang="en-US" b="0" dirty="0" err="1" smtClean="0"/>
              <a:t>bại</a:t>
            </a:r>
            <a:r>
              <a:rPr lang="en-US" b="0" dirty="0" smtClean="0"/>
              <a:t> </a:t>
            </a:r>
            <a:r>
              <a:rPr lang="en-US" b="0" dirty="0" err="1" smtClean="0"/>
              <a:t>và</a:t>
            </a:r>
            <a:r>
              <a:rPr lang="en-US" b="0" dirty="0" smtClean="0"/>
              <a:t> </a:t>
            </a:r>
            <a:r>
              <a:rPr lang="en-US" b="0" dirty="0" err="1" smtClean="0"/>
              <a:t>một</a:t>
            </a:r>
            <a:r>
              <a:rPr lang="en-US" b="0" dirty="0" smtClean="0"/>
              <a:t> </a:t>
            </a:r>
            <a:r>
              <a:rPr lang="en-US" b="0" dirty="0" err="1" smtClean="0"/>
              <a:t>đối</a:t>
            </a:r>
            <a:r>
              <a:rPr lang="en-US" b="0" dirty="0" smtClean="0"/>
              <a:t> </a:t>
            </a:r>
            <a:r>
              <a:rPr lang="en-US" b="0" dirty="0" err="1" smtClean="0"/>
              <a:t>tượng</a:t>
            </a:r>
            <a:r>
              <a:rPr lang="en-US" b="0" dirty="0" smtClean="0"/>
              <a:t> </a:t>
            </a:r>
            <a:r>
              <a:rPr lang="en-US" b="0" dirty="0" err="1" smtClean="0"/>
              <a:t>AssertionFailedError</a:t>
            </a:r>
            <a:r>
              <a:rPr lang="en-US" b="0" dirty="0" smtClean="0"/>
              <a:t> </a:t>
            </a:r>
            <a:r>
              <a:rPr lang="en-US" b="0" dirty="0" err="1" smtClean="0"/>
              <a:t>được</a:t>
            </a:r>
            <a:r>
              <a:rPr lang="en-US" b="0" dirty="0" smtClean="0"/>
              <a:t> </a:t>
            </a:r>
            <a:r>
              <a:rPr lang="en-US" b="0" dirty="0" err="1" smtClean="0"/>
              <a:t>sinh</a:t>
            </a:r>
            <a:r>
              <a:rPr lang="en-US" b="0" dirty="0" smtClean="0"/>
              <a:t> </a:t>
            </a:r>
            <a:r>
              <a:rPr lang="en-US" b="0" dirty="0" err="1" smtClean="0"/>
              <a:t>ra</a:t>
            </a:r>
            <a:endParaRPr lang="en-US" b="0" dirty="0" smtClean="0"/>
          </a:p>
          <a:p>
            <a:pPr lvl="1"/>
            <a:r>
              <a:rPr lang="en-US" dirty="0" err="1" smtClean="0"/>
              <a:t>Junit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r>
              <a:rPr lang="en-US" dirty="0" smtClean="0"/>
              <a:t>,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ra.</a:t>
            </a:r>
            <a:r>
              <a:rPr lang="en-US" dirty="0" smtClean="0"/>
              <a:t> 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56247846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thử</a:t>
            </a:r>
            <a:r>
              <a:rPr lang="en-US" dirty="0" smtClean="0"/>
              <a:t>: Assert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0000FF"/>
                </a:solidFill>
              </a:rPr>
              <a:t>static void </a:t>
            </a:r>
            <a:r>
              <a:rPr lang="en-US" b="0" dirty="0" err="1">
                <a:solidFill>
                  <a:srgbClr val="0000FF"/>
                </a:solidFill>
              </a:rPr>
              <a:t>assertTrue</a:t>
            </a:r>
            <a:r>
              <a:rPr lang="en-US" b="0" dirty="0">
                <a:solidFill>
                  <a:srgbClr val="0000FF"/>
                </a:solidFill>
              </a:rPr>
              <a:t>(</a:t>
            </a:r>
            <a:r>
              <a:rPr lang="en-US" b="0" dirty="0" err="1">
                <a:solidFill>
                  <a:srgbClr val="0000FF"/>
                </a:solidFill>
              </a:rPr>
              <a:t>boolean</a:t>
            </a:r>
            <a:r>
              <a:rPr lang="en-US" b="0" dirty="0">
                <a:solidFill>
                  <a:srgbClr val="0000FF"/>
                </a:solidFill>
              </a:rPr>
              <a:t> test</a:t>
            </a:r>
            <a:r>
              <a:rPr lang="en-US" b="0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b="0" dirty="0" smtClean="0">
                <a:solidFill>
                  <a:srgbClr val="0000FF"/>
                </a:solidFill>
              </a:rPr>
              <a:t>static </a:t>
            </a:r>
            <a:r>
              <a:rPr lang="en-US" b="0" dirty="0">
                <a:solidFill>
                  <a:srgbClr val="0000FF"/>
                </a:solidFill>
              </a:rPr>
              <a:t>void </a:t>
            </a:r>
            <a:r>
              <a:rPr lang="en-US" b="0" dirty="0" err="1">
                <a:solidFill>
                  <a:srgbClr val="0000FF"/>
                </a:solidFill>
              </a:rPr>
              <a:t>assertTrue</a:t>
            </a:r>
            <a:r>
              <a:rPr lang="en-US" b="0" dirty="0">
                <a:solidFill>
                  <a:srgbClr val="0000FF"/>
                </a:solidFill>
              </a:rPr>
              <a:t>(String message, </a:t>
            </a:r>
            <a:r>
              <a:rPr lang="en-US" b="0" dirty="0" err="1">
                <a:solidFill>
                  <a:srgbClr val="0000FF"/>
                </a:solidFill>
              </a:rPr>
              <a:t>boolean</a:t>
            </a:r>
            <a:r>
              <a:rPr lang="en-US" b="0" dirty="0">
                <a:solidFill>
                  <a:srgbClr val="0000FF"/>
                </a:solidFill>
              </a:rPr>
              <a:t> test</a:t>
            </a:r>
            <a:r>
              <a:rPr lang="en-US" b="0" dirty="0" smtClean="0">
                <a:solidFill>
                  <a:srgbClr val="0000FF"/>
                </a:solidFill>
              </a:rPr>
              <a:t>)</a:t>
            </a:r>
          </a:p>
          <a:p>
            <a:pPr marL="400050" lvl="1" indent="0">
              <a:buNone/>
            </a:pPr>
            <a:r>
              <a:rPr lang="en-US" b="0" dirty="0"/>
              <a:t>Throws an </a:t>
            </a:r>
            <a:r>
              <a:rPr lang="en-US" b="0" dirty="0" err="1"/>
              <a:t>AssertionFailedError</a:t>
            </a:r>
            <a:r>
              <a:rPr lang="en-US" b="0" dirty="0"/>
              <a:t> if the test fails. The optional message is included in the Error</a:t>
            </a:r>
            <a:r>
              <a:rPr lang="en-US" b="0" dirty="0" smtClean="0"/>
              <a:t>.</a:t>
            </a:r>
          </a:p>
          <a:p>
            <a:r>
              <a:rPr lang="en-US" b="0" dirty="0" smtClean="0">
                <a:solidFill>
                  <a:srgbClr val="0000FF"/>
                </a:solidFill>
              </a:rPr>
              <a:t>static </a:t>
            </a:r>
            <a:r>
              <a:rPr lang="en-US" b="0" dirty="0">
                <a:solidFill>
                  <a:srgbClr val="0000FF"/>
                </a:solidFill>
              </a:rPr>
              <a:t>void </a:t>
            </a:r>
            <a:r>
              <a:rPr lang="en-US" b="0" dirty="0" err="1">
                <a:solidFill>
                  <a:srgbClr val="0000FF"/>
                </a:solidFill>
              </a:rPr>
              <a:t>assertFalse</a:t>
            </a:r>
            <a:r>
              <a:rPr lang="en-US" b="0" dirty="0">
                <a:solidFill>
                  <a:srgbClr val="0000FF"/>
                </a:solidFill>
              </a:rPr>
              <a:t>(</a:t>
            </a:r>
            <a:r>
              <a:rPr lang="en-US" b="0" dirty="0" err="1">
                <a:solidFill>
                  <a:srgbClr val="0000FF"/>
                </a:solidFill>
              </a:rPr>
              <a:t>boolean</a:t>
            </a:r>
            <a:r>
              <a:rPr lang="en-US" b="0" dirty="0">
                <a:solidFill>
                  <a:srgbClr val="0000FF"/>
                </a:solidFill>
              </a:rPr>
              <a:t> test)</a:t>
            </a:r>
          </a:p>
          <a:p>
            <a:r>
              <a:rPr lang="en-US" b="0" dirty="0">
                <a:solidFill>
                  <a:srgbClr val="0000FF"/>
                </a:solidFill>
              </a:rPr>
              <a:t>static void </a:t>
            </a:r>
            <a:r>
              <a:rPr lang="en-US" b="0" dirty="0" err="1">
                <a:solidFill>
                  <a:srgbClr val="0000FF"/>
                </a:solidFill>
              </a:rPr>
              <a:t>assertFalse</a:t>
            </a:r>
            <a:r>
              <a:rPr lang="en-US" b="0" dirty="0">
                <a:solidFill>
                  <a:srgbClr val="0000FF"/>
                </a:solidFill>
              </a:rPr>
              <a:t>(String message, </a:t>
            </a:r>
            <a:r>
              <a:rPr lang="en-US" b="0" dirty="0" err="1">
                <a:solidFill>
                  <a:srgbClr val="0000FF"/>
                </a:solidFill>
              </a:rPr>
              <a:t>boolean</a:t>
            </a:r>
            <a:r>
              <a:rPr lang="en-US" b="0" dirty="0">
                <a:solidFill>
                  <a:srgbClr val="0000FF"/>
                </a:solidFill>
              </a:rPr>
              <a:t> test) </a:t>
            </a:r>
          </a:p>
          <a:p>
            <a:pPr marL="400050" lvl="1" indent="0">
              <a:buNone/>
            </a:pPr>
            <a:r>
              <a:rPr lang="en-US" b="0" dirty="0" smtClean="0"/>
              <a:t>Throws </a:t>
            </a:r>
            <a:r>
              <a:rPr lang="en-US" b="0" dirty="0"/>
              <a:t>an </a:t>
            </a:r>
            <a:r>
              <a:rPr lang="en-US" b="0" dirty="0" err="1"/>
              <a:t>AssertionFailedError</a:t>
            </a:r>
            <a:r>
              <a:rPr lang="en-US" b="0" dirty="0"/>
              <a:t> if the test succeeds.</a:t>
            </a:r>
          </a:p>
        </p:txBody>
      </p:sp>
    </p:spTree>
    <p:extLst>
      <p:ext uri="{BB962C8B-B14F-4D97-AF65-F5344CB8AC3E}">
        <p14:creationId xmlns:p14="http://schemas.microsoft.com/office/powerpoint/2010/main" val="3963355684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Aside: </a:t>
            </a:r>
            <a:r>
              <a:rPr lang="en-US" dirty="0" err="1" smtClean="0"/>
              <a:t>Throwable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 err="1">
                <a:solidFill>
                  <a:srgbClr val="0000FF"/>
                </a:solidFill>
              </a:rPr>
              <a:t>java.lang.Error</a:t>
            </a:r>
            <a:r>
              <a:rPr lang="en-US" sz="2000" b="0" dirty="0">
                <a:solidFill>
                  <a:srgbClr val="0000FF"/>
                </a:solidFill>
              </a:rPr>
              <a:t>:</a:t>
            </a:r>
            <a:r>
              <a:rPr lang="en-US" sz="2000" b="0" dirty="0"/>
              <a:t> a problem that an application would not normally try to handle — does not need to be declared in throws clause.</a:t>
            </a:r>
          </a:p>
          <a:p>
            <a:pPr marL="400050" lvl="1" indent="0">
              <a:buNone/>
            </a:pPr>
            <a:r>
              <a:rPr lang="en-US" sz="2000" b="0" dirty="0"/>
              <a:t>e.g. command line application given bad parameters by user.</a:t>
            </a:r>
          </a:p>
          <a:p>
            <a:r>
              <a:rPr lang="en-US" sz="2000" b="0" dirty="0" err="1" smtClean="0">
                <a:solidFill>
                  <a:srgbClr val="0000FF"/>
                </a:solidFill>
              </a:rPr>
              <a:t>java.lang.Exception</a:t>
            </a:r>
            <a:r>
              <a:rPr lang="en-US" sz="2000" b="0" dirty="0"/>
              <a:t>: a problem that the application might reasonably </a:t>
            </a:r>
            <a:r>
              <a:rPr lang="en-US" sz="2000" b="0" dirty="0" smtClean="0"/>
              <a:t>cope with </a:t>
            </a:r>
            <a:r>
              <a:rPr lang="en-US" sz="2000" b="0" dirty="0"/>
              <a:t>— needs to be declared in throws clause.</a:t>
            </a:r>
          </a:p>
          <a:p>
            <a:pPr marL="400050" lvl="1" indent="0">
              <a:buNone/>
            </a:pPr>
            <a:r>
              <a:rPr lang="en-US" sz="2000" b="0" dirty="0"/>
              <a:t>e.g. network connection timed out during connect attempt.</a:t>
            </a:r>
          </a:p>
          <a:p>
            <a:r>
              <a:rPr lang="en-US" sz="2000" b="0" dirty="0" err="1" smtClean="0">
                <a:solidFill>
                  <a:srgbClr val="0000FF"/>
                </a:solidFill>
              </a:rPr>
              <a:t>java.lang.RuntimeException</a:t>
            </a:r>
            <a:r>
              <a:rPr lang="en-US" sz="2000" b="0" dirty="0"/>
              <a:t>: application might cope with it, but rarely — does not need to be declared in throws clause.</a:t>
            </a:r>
          </a:p>
          <a:p>
            <a:pPr marL="400050" lvl="1" indent="0">
              <a:buNone/>
            </a:pPr>
            <a:r>
              <a:rPr lang="en-US" sz="2000" b="0" dirty="0"/>
              <a:t>e.g. I/O buffer overflow.</a:t>
            </a:r>
          </a:p>
        </p:txBody>
      </p:sp>
    </p:spTree>
    <p:extLst>
      <p:ext uri="{BB962C8B-B14F-4D97-AF65-F5344CB8AC3E}">
        <p14:creationId xmlns:p14="http://schemas.microsoft.com/office/powerpoint/2010/main" val="2673138731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Triangle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0" dirty="0"/>
              <a:t>For the sake of example, we will create and test a trivial Triangle class:</a:t>
            </a:r>
          </a:p>
          <a:p>
            <a:r>
              <a:rPr lang="en-US" sz="2000" b="0" dirty="0" smtClean="0"/>
              <a:t>The </a:t>
            </a:r>
            <a:r>
              <a:rPr lang="en-US" sz="2000" b="0" dirty="0"/>
              <a:t>constructor creates a Triangle object, where only the lengths of the </a:t>
            </a:r>
            <a:r>
              <a:rPr lang="en-US" sz="2000" b="0" dirty="0" smtClean="0"/>
              <a:t>sides are </a:t>
            </a:r>
            <a:r>
              <a:rPr lang="en-US" sz="2000" b="0" dirty="0"/>
              <a:t>recorded and the private variable p is the longest side.</a:t>
            </a:r>
          </a:p>
          <a:p>
            <a:r>
              <a:rPr lang="en-US" sz="2000" b="0" dirty="0" smtClean="0"/>
              <a:t>The </a:t>
            </a:r>
            <a:r>
              <a:rPr lang="en-US" sz="2000" b="0" i="1" dirty="0" err="1"/>
              <a:t>isScalene</a:t>
            </a:r>
            <a:r>
              <a:rPr lang="en-US" sz="2000" b="0" dirty="0"/>
              <a:t> method returns true if the triangle is scalene.</a:t>
            </a:r>
          </a:p>
          <a:p>
            <a:r>
              <a:rPr lang="en-US" sz="2000" b="0" dirty="0" smtClean="0"/>
              <a:t>The </a:t>
            </a:r>
            <a:r>
              <a:rPr lang="en-US" sz="2000" b="0" i="1" dirty="0" err="1"/>
              <a:t>isEquilateral</a:t>
            </a:r>
            <a:r>
              <a:rPr lang="en-US" sz="2000" b="0" dirty="0"/>
              <a:t> method returns true if the triangle is equilateral.</a:t>
            </a:r>
          </a:p>
          <a:p>
            <a:r>
              <a:rPr lang="en-US" sz="2000" b="0" dirty="0" smtClean="0"/>
              <a:t>We </a:t>
            </a:r>
            <a:r>
              <a:rPr lang="en-US" sz="2000" b="0" dirty="0"/>
              <a:t>can write the test methods before the code. This has advantages in separating coding from testing.</a:t>
            </a:r>
          </a:p>
          <a:p>
            <a:pPr marL="400050" lvl="1" indent="0">
              <a:buNone/>
            </a:pPr>
            <a:r>
              <a:rPr lang="en-US" sz="2000" b="0" dirty="0"/>
              <a:t>But Eclipse helps more if you create the class under test first: Creates test stubs (methods with empty bodies) for all methods and constructors.</a:t>
            </a:r>
          </a:p>
        </p:txBody>
      </p:sp>
    </p:spTree>
    <p:extLst>
      <p:ext uri="{BB962C8B-B14F-4D97-AF65-F5344CB8AC3E}">
        <p14:creationId xmlns:p14="http://schemas.microsoft.com/office/powerpoint/2010/main" val="4150582724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Notes on creating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0000FF"/>
                </a:solidFill>
              </a:rPr>
              <a:t>Size</a:t>
            </a:r>
            <a:r>
              <a:rPr lang="en-US" sz="2000" b="0" dirty="0"/>
              <a:t>: Often the amount of (very routine) test code will exceed the size of the code for small systems.</a:t>
            </a:r>
          </a:p>
          <a:p>
            <a:r>
              <a:rPr lang="en-US" sz="2000" dirty="0" smtClean="0">
                <a:solidFill>
                  <a:srgbClr val="0000FF"/>
                </a:solidFill>
              </a:rPr>
              <a:t>Complexity</a:t>
            </a:r>
            <a:r>
              <a:rPr lang="en-US" sz="2000" b="0" dirty="0"/>
              <a:t>: Testing complex code can be a complex business and the tests can get quite complex.</a:t>
            </a:r>
          </a:p>
          <a:p>
            <a:r>
              <a:rPr lang="en-US" sz="2000" dirty="0" smtClean="0">
                <a:solidFill>
                  <a:srgbClr val="0000FF"/>
                </a:solidFill>
              </a:rPr>
              <a:t>Effort</a:t>
            </a:r>
            <a:r>
              <a:rPr lang="en-US" sz="2000" b="0" dirty="0"/>
              <a:t>: The effort taken in creating test code is repaid in reduced development time, most particularly when we go on to use the test subject in anger (i.e. real code).</a:t>
            </a:r>
          </a:p>
          <a:p>
            <a:r>
              <a:rPr lang="en-US" sz="2000" dirty="0" err="1" smtClean="0">
                <a:solidFill>
                  <a:srgbClr val="0000FF"/>
                </a:solidFill>
              </a:rPr>
              <a:t>Behaviour</a:t>
            </a:r>
            <a:r>
              <a:rPr lang="en-US" sz="2000" b="0" dirty="0"/>
              <a:t>: Creating a test often helps clarify our ideas on how a method should behave (particularly in exceptional circumstances).</a:t>
            </a:r>
          </a:p>
        </p:txBody>
      </p:sp>
    </p:spTree>
    <p:extLst>
      <p:ext uri="{BB962C8B-B14F-4D97-AF65-F5344CB8AC3E}">
        <p14:creationId xmlns:p14="http://schemas.microsoft.com/office/powerpoint/2010/main" val="2113450369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Junit</a:t>
            </a:r>
            <a:r>
              <a:rPr lang="en-US" dirty="0" smtClean="0"/>
              <a:t> 3 test for Triangle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latin typeface="Arial Narrow"/>
                <a:cs typeface="Arial Narrow"/>
              </a:rPr>
              <a:t>import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 err="1">
                <a:latin typeface="Arial Narrow"/>
                <a:cs typeface="Arial Narrow"/>
              </a:rPr>
              <a:t>junit.framework.TestCase</a:t>
            </a:r>
            <a:r>
              <a:rPr lang="en-US" sz="2000" b="0" dirty="0">
                <a:latin typeface="Arial Narrow"/>
                <a:cs typeface="Arial Narrow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latin typeface="Arial Narrow"/>
                <a:cs typeface="Arial Narrow"/>
              </a:rPr>
              <a:t>public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>
                <a:solidFill>
                  <a:srgbClr val="0000FF"/>
                </a:solidFill>
                <a:latin typeface="Arial Narrow"/>
                <a:cs typeface="Arial Narrow"/>
              </a:rPr>
              <a:t>class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 err="1">
                <a:latin typeface="Arial Narrow"/>
                <a:cs typeface="Arial Narrow"/>
              </a:rPr>
              <a:t>TriangleTest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>
                <a:solidFill>
                  <a:srgbClr val="0000FF"/>
                </a:solidFill>
                <a:latin typeface="Arial Narrow"/>
                <a:cs typeface="Arial Narrow"/>
              </a:rPr>
              <a:t>extends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 err="1">
                <a:latin typeface="Arial Narrow"/>
                <a:cs typeface="Arial Narrow"/>
              </a:rPr>
              <a:t>TestCase</a:t>
            </a:r>
            <a:r>
              <a:rPr lang="en-US" sz="2000" b="0" dirty="0">
                <a:latin typeface="Arial Narrow"/>
                <a:cs typeface="Arial Narrow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</a:t>
            </a:r>
            <a:r>
              <a:rPr lang="en-US" sz="2000" b="0" dirty="0" smtClean="0">
                <a:latin typeface="Arial Narrow"/>
                <a:cs typeface="Arial Narrow"/>
              </a:rPr>
              <a:t>   </a:t>
            </a:r>
            <a:r>
              <a:rPr lang="en-US" sz="2000" b="0" dirty="0" smtClean="0">
                <a:solidFill>
                  <a:srgbClr val="0000FF"/>
                </a:solidFill>
                <a:latin typeface="Arial Narrow"/>
                <a:cs typeface="Arial Narrow"/>
              </a:rPr>
              <a:t>private</a:t>
            </a:r>
            <a:r>
              <a:rPr lang="en-US" sz="2000" b="0" dirty="0" smtClean="0">
                <a:latin typeface="Arial Narrow"/>
                <a:cs typeface="Arial Narrow"/>
              </a:rPr>
              <a:t> </a:t>
            </a:r>
            <a:r>
              <a:rPr lang="en-US" sz="2000" b="0" dirty="0">
                <a:latin typeface="Arial Narrow"/>
                <a:cs typeface="Arial Narrow"/>
              </a:rPr>
              <a:t>Triangle t;</a:t>
            </a: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</a:t>
            </a:r>
            <a:r>
              <a:rPr lang="en-US" sz="2000" b="0" dirty="0" smtClean="0">
                <a:latin typeface="Arial Narrow"/>
                <a:cs typeface="Arial Narrow"/>
              </a:rPr>
              <a:t>   /</a:t>
            </a:r>
            <a:r>
              <a:rPr lang="en-US" sz="2000" b="0" dirty="0">
                <a:latin typeface="Arial Narrow"/>
                <a:cs typeface="Arial Narrow"/>
              </a:rPr>
              <a:t>/ Any method named </a:t>
            </a:r>
            <a:r>
              <a:rPr lang="en-US" sz="2000" b="0" dirty="0" err="1">
                <a:latin typeface="Arial Narrow"/>
                <a:cs typeface="Arial Narrow"/>
              </a:rPr>
              <a:t>setUp</a:t>
            </a:r>
            <a:r>
              <a:rPr lang="en-US" sz="2000" b="0" dirty="0">
                <a:latin typeface="Arial Narrow"/>
                <a:cs typeface="Arial Narrow"/>
              </a:rPr>
              <a:t> will be executed before each test.</a:t>
            </a: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</a:t>
            </a:r>
            <a:r>
              <a:rPr lang="en-US" sz="2000" b="0" dirty="0" smtClean="0">
                <a:latin typeface="Arial Narrow"/>
                <a:cs typeface="Arial Narrow"/>
              </a:rPr>
              <a:t>   </a:t>
            </a:r>
            <a:r>
              <a:rPr lang="en-US" sz="2000" b="0" dirty="0" smtClean="0">
                <a:solidFill>
                  <a:srgbClr val="0000FF"/>
                </a:solidFill>
                <a:latin typeface="Arial Narrow"/>
                <a:cs typeface="Arial Narrow"/>
              </a:rPr>
              <a:t>protected</a:t>
            </a:r>
            <a:r>
              <a:rPr lang="en-US" sz="2000" b="0" dirty="0" smtClean="0">
                <a:latin typeface="Arial Narrow"/>
                <a:cs typeface="Arial Narrow"/>
              </a:rPr>
              <a:t> </a:t>
            </a:r>
            <a:r>
              <a:rPr lang="en-US" sz="2000" b="0" dirty="0">
                <a:solidFill>
                  <a:srgbClr val="0000FF"/>
                </a:solidFill>
                <a:latin typeface="Arial Narrow"/>
                <a:cs typeface="Arial Narrow"/>
              </a:rPr>
              <a:t>void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 err="1">
                <a:latin typeface="Arial Narrow"/>
                <a:cs typeface="Arial Narrow"/>
              </a:rPr>
              <a:t>setUp</a:t>
            </a:r>
            <a:r>
              <a:rPr lang="en-US" sz="2000" b="0" dirty="0">
                <a:latin typeface="Arial Narrow"/>
                <a:cs typeface="Arial Narrow"/>
              </a:rPr>
              <a:t>() {</a:t>
            </a: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  </a:t>
            </a:r>
            <a:r>
              <a:rPr lang="en-US" sz="2000" b="0" dirty="0" smtClean="0">
                <a:latin typeface="Arial Narrow"/>
                <a:cs typeface="Arial Narrow"/>
              </a:rPr>
              <a:t>       t </a:t>
            </a:r>
            <a:r>
              <a:rPr lang="en-US" sz="2000" b="0" dirty="0">
                <a:latin typeface="Arial Narrow"/>
                <a:cs typeface="Arial Narrow"/>
              </a:rPr>
              <a:t>= new Triangle(5,4,3);</a:t>
            </a: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</a:t>
            </a:r>
            <a:r>
              <a:rPr lang="en-US" sz="2000" b="0" dirty="0" smtClean="0">
                <a:latin typeface="Arial Narrow"/>
                <a:cs typeface="Arial Narrow"/>
              </a:rPr>
              <a:t>   }</a:t>
            </a:r>
            <a:endParaRPr lang="en-US" sz="2000" b="0" dirty="0">
              <a:latin typeface="Arial Narrow"/>
              <a:cs typeface="Arial Narrow"/>
            </a:endParaRP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</a:t>
            </a:r>
            <a:r>
              <a:rPr lang="en-US" sz="2000" b="0" dirty="0" smtClean="0">
                <a:latin typeface="Arial Narrow"/>
                <a:cs typeface="Arial Narrow"/>
              </a:rPr>
              <a:t>   </a:t>
            </a:r>
            <a:r>
              <a:rPr lang="en-US" sz="2000" b="0" dirty="0" smtClean="0">
                <a:solidFill>
                  <a:srgbClr val="0000FF"/>
                </a:solidFill>
                <a:latin typeface="Arial Narrow"/>
                <a:cs typeface="Arial Narrow"/>
              </a:rPr>
              <a:t>protected</a:t>
            </a:r>
            <a:r>
              <a:rPr lang="en-US" sz="2000" b="0" dirty="0" smtClean="0">
                <a:latin typeface="Arial Narrow"/>
                <a:cs typeface="Arial Narrow"/>
              </a:rPr>
              <a:t> </a:t>
            </a:r>
            <a:r>
              <a:rPr lang="en-US" sz="2000" b="0" dirty="0">
                <a:solidFill>
                  <a:srgbClr val="0000FF"/>
                </a:solidFill>
                <a:latin typeface="Arial Narrow"/>
                <a:cs typeface="Arial Narrow"/>
              </a:rPr>
              <a:t>void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 err="1">
                <a:latin typeface="Arial Narrow"/>
                <a:cs typeface="Arial Narrow"/>
              </a:rPr>
              <a:t>tearDown</a:t>
            </a:r>
            <a:r>
              <a:rPr lang="en-US" sz="2000" b="0" dirty="0">
                <a:latin typeface="Arial Narrow"/>
                <a:cs typeface="Arial Narrow"/>
              </a:rPr>
              <a:t>() {} // </a:t>
            </a:r>
            <a:r>
              <a:rPr lang="en-US" sz="2000" b="0" dirty="0" err="1">
                <a:latin typeface="Arial Narrow"/>
                <a:cs typeface="Arial Narrow"/>
              </a:rPr>
              <a:t>tearDown</a:t>
            </a:r>
            <a:r>
              <a:rPr lang="en-US" sz="2000" b="0" dirty="0">
                <a:latin typeface="Arial Narrow"/>
                <a:cs typeface="Arial Narrow"/>
              </a:rPr>
              <a:t> will be executed afterwards</a:t>
            </a: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</a:t>
            </a:r>
            <a:r>
              <a:rPr lang="en-US" sz="2000" b="0" dirty="0" smtClean="0">
                <a:latin typeface="Arial Narrow"/>
                <a:cs typeface="Arial Narrow"/>
              </a:rPr>
              <a:t>   </a:t>
            </a:r>
            <a:r>
              <a:rPr lang="en-US" sz="2000" b="0" dirty="0" smtClean="0">
                <a:solidFill>
                  <a:srgbClr val="0000FF"/>
                </a:solidFill>
                <a:latin typeface="Arial Narrow"/>
                <a:cs typeface="Arial Narrow"/>
              </a:rPr>
              <a:t>public</a:t>
            </a:r>
            <a:r>
              <a:rPr lang="en-US" sz="2000" b="0" dirty="0" smtClean="0">
                <a:latin typeface="Arial Narrow"/>
                <a:cs typeface="Arial Narrow"/>
              </a:rPr>
              <a:t> </a:t>
            </a:r>
            <a:r>
              <a:rPr lang="en-US" sz="2000" b="0" dirty="0">
                <a:solidFill>
                  <a:srgbClr val="0000FF"/>
                </a:solidFill>
                <a:latin typeface="Arial Narrow"/>
                <a:cs typeface="Arial Narrow"/>
              </a:rPr>
              <a:t>void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 err="1">
                <a:latin typeface="Arial Narrow"/>
                <a:cs typeface="Arial Narrow"/>
              </a:rPr>
              <a:t>testIsScalene</a:t>
            </a:r>
            <a:r>
              <a:rPr lang="en-US" sz="2000" b="0" dirty="0">
                <a:latin typeface="Arial Narrow"/>
                <a:cs typeface="Arial Narrow"/>
              </a:rPr>
              <a:t>() { // All tests are named test[Something]</a:t>
            </a: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  </a:t>
            </a:r>
            <a:r>
              <a:rPr lang="en-US" sz="2000" b="0" dirty="0" smtClean="0">
                <a:latin typeface="Arial Narrow"/>
                <a:cs typeface="Arial Narrow"/>
              </a:rPr>
              <a:t>       </a:t>
            </a:r>
            <a:r>
              <a:rPr lang="en-US" sz="2000" b="0" dirty="0" err="1" smtClean="0">
                <a:latin typeface="Arial Narrow"/>
                <a:cs typeface="Arial Narrow"/>
              </a:rPr>
              <a:t>assertTrue</a:t>
            </a:r>
            <a:r>
              <a:rPr lang="en-US" sz="2000" b="0" dirty="0">
                <a:latin typeface="Arial Narrow"/>
                <a:cs typeface="Arial Narrow"/>
              </a:rPr>
              <a:t>(</a:t>
            </a:r>
            <a:r>
              <a:rPr lang="en-US" sz="2000" b="0" dirty="0" err="1">
                <a:latin typeface="Arial Narrow"/>
                <a:cs typeface="Arial Narrow"/>
              </a:rPr>
              <a:t>t.isScalene</a:t>
            </a:r>
            <a:r>
              <a:rPr lang="en-US" sz="2000" b="0" dirty="0">
                <a:latin typeface="Arial Narrow"/>
                <a:cs typeface="Arial Narrow"/>
              </a:rPr>
              <a:t>());</a:t>
            </a:r>
          </a:p>
          <a:p>
            <a:pPr marL="0" indent="0">
              <a:buNone/>
            </a:pPr>
            <a:r>
              <a:rPr lang="en-US" sz="2000" b="0" dirty="0" smtClean="0">
                <a:latin typeface="Arial Narrow"/>
                <a:cs typeface="Arial Narrow"/>
              </a:rPr>
              <a:t>     }</a:t>
            </a:r>
            <a:endParaRPr lang="en-US" sz="2000" b="0" dirty="0">
              <a:latin typeface="Arial Narrow"/>
              <a:cs typeface="Arial Narrow"/>
            </a:endParaRP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</a:t>
            </a:r>
            <a:r>
              <a:rPr lang="en-US" sz="2000" b="0" dirty="0" smtClean="0">
                <a:latin typeface="Arial Narrow"/>
                <a:cs typeface="Arial Narrow"/>
              </a:rPr>
              <a:t>   </a:t>
            </a:r>
            <a:r>
              <a:rPr lang="en-US" sz="2000" b="0" dirty="0" smtClean="0">
                <a:solidFill>
                  <a:srgbClr val="0000FF"/>
                </a:solidFill>
                <a:latin typeface="Arial Narrow"/>
                <a:cs typeface="Arial Narrow"/>
              </a:rPr>
              <a:t>public</a:t>
            </a:r>
            <a:r>
              <a:rPr lang="en-US" sz="2000" b="0" dirty="0" smtClean="0">
                <a:latin typeface="Arial Narrow"/>
                <a:cs typeface="Arial Narrow"/>
              </a:rPr>
              <a:t> </a:t>
            </a:r>
            <a:r>
              <a:rPr lang="en-US" sz="2000" b="0" dirty="0">
                <a:solidFill>
                  <a:srgbClr val="0000FF"/>
                </a:solidFill>
                <a:latin typeface="Arial Narrow"/>
                <a:cs typeface="Arial Narrow"/>
              </a:rPr>
              <a:t>void</a:t>
            </a:r>
            <a:r>
              <a:rPr lang="en-US" sz="2000" b="0" dirty="0">
                <a:latin typeface="Arial Narrow"/>
                <a:cs typeface="Arial Narrow"/>
              </a:rPr>
              <a:t> </a:t>
            </a:r>
            <a:r>
              <a:rPr lang="en-US" sz="2000" b="0" dirty="0" err="1">
                <a:latin typeface="Arial Narrow"/>
                <a:cs typeface="Arial Narrow"/>
              </a:rPr>
              <a:t>testIsEquilateral</a:t>
            </a:r>
            <a:r>
              <a:rPr lang="en-US" sz="2000" b="0" dirty="0">
                <a:latin typeface="Arial Narrow"/>
                <a:cs typeface="Arial Narrow"/>
              </a:rPr>
              <a:t>() {</a:t>
            </a:r>
          </a:p>
          <a:p>
            <a:pPr marL="0" indent="0">
              <a:buNone/>
            </a:pPr>
            <a:r>
              <a:rPr lang="en-US" sz="2000" b="0" dirty="0">
                <a:latin typeface="Arial Narrow"/>
                <a:cs typeface="Arial Narrow"/>
              </a:rPr>
              <a:t>    </a:t>
            </a:r>
            <a:r>
              <a:rPr lang="en-US" sz="2000" b="0" dirty="0" smtClean="0">
                <a:latin typeface="Arial Narrow"/>
                <a:cs typeface="Arial Narrow"/>
              </a:rPr>
              <a:t>       </a:t>
            </a:r>
            <a:r>
              <a:rPr lang="en-US" sz="2000" b="0" dirty="0" err="1" smtClean="0">
                <a:latin typeface="Arial Narrow"/>
                <a:cs typeface="Arial Narrow"/>
              </a:rPr>
              <a:t>assertFalse</a:t>
            </a:r>
            <a:r>
              <a:rPr lang="en-US" sz="2000" b="0" dirty="0">
                <a:latin typeface="Arial Narrow"/>
                <a:cs typeface="Arial Narrow"/>
              </a:rPr>
              <a:t>(</a:t>
            </a:r>
            <a:r>
              <a:rPr lang="en-US" sz="2000" b="0" dirty="0" err="1">
                <a:latin typeface="Arial Narrow"/>
                <a:cs typeface="Arial Narrow"/>
              </a:rPr>
              <a:t>t.isEquilateral</a:t>
            </a:r>
            <a:r>
              <a:rPr lang="en-US" sz="2000" b="0" dirty="0">
                <a:latin typeface="Arial Narrow"/>
                <a:cs typeface="Arial Narrow"/>
              </a:rPr>
              <a:t>());</a:t>
            </a:r>
          </a:p>
          <a:p>
            <a:pPr marL="0" indent="0">
              <a:buNone/>
            </a:pPr>
            <a:r>
              <a:rPr lang="en-US" sz="2000" b="0" dirty="0" smtClean="0">
                <a:latin typeface="Arial Narrow"/>
                <a:cs typeface="Arial Narrow"/>
              </a:rPr>
              <a:t>     } </a:t>
            </a:r>
          </a:p>
          <a:p>
            <a:pPr marL="0" indent="0">
              <a:buNone/>
            </a:pPr>
            <a:r>
              <a:rPr lang="en-US" sz="2000" b="0" dirty="0" smtClean="0">
                <a:latin typeface="Arial Narrow"/>
                <a:cs typeface="Arial Narrow"/>
              </a:rPr>
              <a:t>}</a:t>
            </a:r>
            <a:endParaRPr lang="en-US" sz="2000" b="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95127348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err="1" smtClean="0"/>
              <a:t>Junit</a:t>
            </a:r>
            <a:r>
              <a:rPr lang="en-US" dirty="0" smtClean="0"/>
              <a:t> 4 test for Triangle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1600"/>
            <a:ext cx="9003204" cy="464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68581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Triangle class itself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Is </a:t>
            </a:r>
            <a:r>
              <a:rPr lang="en-US" b="0" dirty="0" err="1"/>
              <a:t>JUnit</a:t>
            </a:r>
            <a:r>
              <a:rPr lang="en-US" b="0" dirty="0"/>
              <a:t> too much for small programs?</a:t>
            </a:r>
          </a:p>
          <a:p>
            <a:r>
              <a:rPr lang="en-US" b="0" dirty="0" smtClean="0"/>
              <a:t>Not </a:t>
            </a:r>
            <a:r>
              <a:rPr lang="en-US" b="0" dirty="0"/>
              <a:t>if you think it will reduce errors.</a:t>
            </a:r>
          </a:p>
          <a:p>
            <a:r>
              <a:rPr lang="en-US" b="0" dirty="0" smtClean="0"/>
              <a:t>Tests </a:t>
            </a:r>
            <a:r>
              <a:rPr lang="en-US" b="0" dirty="0"/>
              <a:t>on this scale of program often turn up errors or omissions – </a:t>
            </a:r>
            <a:r>
              <a:rPr lang="en-US" b="0" dirty="0" smtClean="0"/>
              <a:t>construct the </a:t>
            </a:r>
            <a:r>
              <a:rPr lang="en-US" b="0" dirty="0"/>
              <a:t>tests working from the specification</a:t>
            </a:r>
          </a:p>
          <a:p>
            <a:r>
              <a:rPr lang="en-US" b="0" dirty="0" smtClean="0"/>
              <a:t>Sometimes </a:t>
            </a:r>
            <a:r>
              <a:rPr lang="en-US" b="0" dirty="0"/>
              <a:t>you can omit tests for some particularly straightforward parts of the system</a:t>
            </a:r>
          </a:p>
        </p:txBody>
      </p:sp>
    </p:spTree>
    <p:extLst>
      <p:ext uri="{BB962C8B-B14F-4D97-AF65-F5344CB8AC3E}">
        <p14:creationId xmlns:p14="http://schemas.microsoft.com/office/powerpoint/2010/main" val="3962722975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Triangle class itself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b="0" dirty="0">
                <a:latin typeface="Arial Narrow"/>
                <a:cs typeface="Arial Narrow"/>
              </a:rPr>
              <a:t>public class Triangle {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private </a:t>
            </a:r>
            <a:r>
              <a:rPr lang="en-US" sz="1400" b="0" dirty="0" err="1">
                <a:latin typeface="Arial Narrow"/>
                <a:cs typeface="Arial Narrow"/>
              </a:rPr>
              <a:t>int</a:t>
            </a:r>
            <a:r>
              <a:rPr lang="en-US" sz="1400" b="0" dirty="0">
                <a:latin typeface="Arial Narrow"/>
                <a:cs typeface="Arial Narrow"/>
              </a:rPr>
              <a:t> p; // Longest edge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p</a:t>
            </a:r>
            <a:r>
              <a:rPr lang="en-US" sz="1400" b="0" dirty="0" smtClean="0">
                <a:latin typeface="Arial Narrow"/>
                <a:cs typeface="Arial Narrow"/>
              </a:rPr>
              <a:t>rivate </a:t>
            </a:r>
            <a:r>
              <a:rPr lang="en-US" sz="1400" b="0" dirty="0" err="1">
                <a:latin typeface="Arial Narrow"/>
                <a:cs typeface="Arial Narrow"/>
              </a:rPr>
              <a:t>int</a:t>
            </a:r>
            <a:r>
              <a:rPr lang="en-US" sz="1400" b="0" dirty="0">
                <a:latin typeface="Arial Narrow"/>
                <a:cs typeface="Arial Narrow"/>
              </a:rPr>
              <a:t> q;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private </a:t>
            </a:r>
            <a:r>
              <a:rPr lang="en-US" sz="1400" b="0" dirty="0" err="1">
                <a:latin typeface="Arial Narrow"/>
                <a:cs typeface="Arial Narrow"/>
              </a:rPr>
              <a:t>int</a:t>
            </a:r>
            <a:r>
              <a:rPr lang="en-US" sz="1400" b="0" dirty="0">
                <a:latin typeface="Arial Narrow"/>
                <a:cs typeface="Arial Narrow"/>
              </a:rPr>
              <a:t> r;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public </a:t>
            </a:r>
            <a:r>
              <a:rPr lang="en-US" sz="1400" b="0" dirty="0">
                <a:latin typeface="Arial Narrow"/>
                <a:cs typeface="Arial Narrow"/>
              </a:rPr>
              <a:t>Triangle(</a:t>
            </a:r>
            <a:r>
              <a:rPr lang="en-US" sz="1400" b="0" dirty="0" err="1">
                <a:latin typeface="Arial Narrow"/>
                <a:cs typeface="Arial Narrow"/>
              </a:rPr>
              <a:t>int</a:t>
            </a:r>
            <a:r>
              <a:rPr lang="en-US" sz="1400" b="0" dirty="0">
                <a:latin typeface="Arial Narrow"/>
                <a:cs typeface="Arial Narrow"/>
              </a:rPr>
              <a:t> s1, </a:t>
            </a:r>
            <a:r>
              <a:rPr lang="en-US" sz="1400" b="0" dirty="0" err="1">
                <a:latin typeface="Arial Narrow"/>
                <a:cs typeface="Arial Narrow"/>
              </a:rPr>
              <a:t>int</a:t>
            </a:r>
            <a:r>
              <a:rPr lang="en-US" sz="1400" b="0" dirty="0">
                <a:latin typeface="Arial Narrow"/>
                <a:cs typeface="Arial Narrow"/>
              </a:rPr>
              <a:t> s2, </a:t>
            </a:r>
            <a:r>
              <a:rPr lang="en-US" sz="1400" b="0" dirty="0" err="1">
                <a:latin typeface="Arial Narrow"/>
                <a:cs typeface="Arial Narrow"/>
              </a:rPr>
              <a:t>int</a:t>
            </a:r>
            <a:r>
              <a:rPr lang="en-US" sz="1400" b="0" dirty="0">
                <a:latin typeface="Arial Narrow"/>
                <a:cs typeface="Arial Narrow"/>
              </a:rPr>
              <a:t> s3) {</a:t>
            </a:r>
          </a:p>
          <a:p>
            <a:pPr marL="0" indent="0">
              <a:buNone/>
            </a:pPr>
            <a:r>
              <a:rPr lang="en-US" sz="1400" b="0" dirty="0">
                <a:latin typeface="Arial Narrow"/>
                <a:cs typeface="Arial Narrow"/>
              </a:rPr>
              <a:t>   </a:t>
            </a:r>
            <a:r>
              <a:rPr lang="en-US" sz="1400" b="0" dirty="0" smtClean="0">
                <a:latin typeface="Arial Narrow"/>
                <a:cs typeface="Arial Narrow"/>
              </a:rPr>
              <a:t>       </a:t>
            </a:r>
            <a:r>
              <a:rPr lang="en-US" sz="1400" b="0" dirty="0" smtClean="0">
                <a:latin typeface="Arial Narrow"/>
                <a:cs typeface="Arial Narrow"/>
              </a:rPr>
              <a:t>i</a:t>
            </a:r>
            <a:r>
              <a:rPr lang="en-US" sz="1400" b="0" dirty="0" smtClean="0">
                <a:latin typeface="Arial Narrow"/>
                <a:cs typeface="Arial Narrow"/>
              </a:rPr>
              <a:t>f </a:t>
            </a:r>
            <a:r>
              <a:rPr lang="en-US" sz="1400" b="0" dirty="0">
                <a:latin typeface="Arial Narrow"/>
                <a:cs typeface="Arial Narrow"/>
              </a:rPr>
              <a:t>(s1&gt;s2) {</a:t>
            </a:r>
          </a:p>
          <a:p>
            <a:pPr marL="0" indent="0">
              <a:buNone/>
            </a:pPr>
            <a:r>
              <a:rPr lang="en-US" sz="1400" b="0" dirty="0">
                <a:latin typeface="Arial Narrow"/>
                <a:cs typeface="Arial Narrow"/>
              </a:rPr>
              <a:t>      </a:t>
            </a:r>
            <a:r>
              <a:rPr lang="en-US" sz="1400" b="0" dirty="0" smtClean="0">
                <a:latin typeface="Arial Narrow"/>
                <a:cs typeface="Arial Narrow"/>
              </a:rPr>
              <a:t>          p </a:t>
            </a:r>
            <a:r>
              <a:rPr lang="en-US" sz="1400" b="0" dirty="0">
                <a:latin typeface="Arial Narrow"/>
                <a:cs typeface="Arial Narrow"/>
              </a:rPr>
              <a:t>= s1; q = s2;</a:t>
            </a:r>
          </a:p>
          <a:p>
            <a:pPr marL="0" indent="0">
              <a:buNone/>
            </a:pPr>
            <a:r>
              <a:rPr lang="en-US" sz="1400" b="0" dirty="0">
                <a:latin typeface="Arial Narrow"/>
                <a:cs typeface="Arial Narrow"/>
              </a:rPr>
              <a:t>   </a:t>
            </a:r>
            <a:r>
              <a:rPr lang="en-US" sz="1400" b="0" dirty="0" smtClean="0">
                <a:latin typeface="Arial Narrow"/>
                <a:cs typeface="Arial Narrow"/>
              </a:rPr>
              <a:t>       } </a:t>
            </a:r>
            <a:r>
              <a:rPr lang="en-US" sz="1400" b="0" dirty="0">
                <a:latin typeface="Arial Narrow"/>
                <a:cs typeface="Arial Narrow"/>
              </a:rPr>
              <a:t>else {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            p </a:t>
            </a:r>
            <a:r>
              <a:rPr lang="en-US" sz="1400" b="0" dirty="0">
                <a:latin typeface="Arial Narrow"/>
                <a:cs typeface="Arial Narrow"/>
              </a:rPr>
              <a:t>= s2; q = s1; }</a:t>
            </a:r>
          </a:p>
          <a:p>
            <a:pPr marL="0" indent="0">
              <a:buNone/>
            </a:pPr>
            <a:r>
              <a:rPr lang="en-US" sz="1400" b="0" dirty="0">
                <a:latin typeface="Arial Narrow"/>
                <a:cs typeface="Arial Narrow"/>
              </a:rPr>
              <a:t>   </a:t>
            </a:r>
            <a:r>
              <a:rPr lang="en-US" sz="1400" b="0" dirty="0" smtClean="0">
                <a:latin typeface="Arial Narrow"/>
                <a:cs typeface="Arial Narrow"/>
              </a:rPr>
              <a:t>       if </a:t>
            </a:r>
            <a:r>
              <a:rPr lang="en-US" sz="1400" b="0" dirty="0">
                <a:latin typeface="Arial Narrow"/>
                <a:cs typeface="Arial Narrow"/>
              </a:rPr>
              <a:t>(s3&gt;p) {</a:t>
            </a:r>
          </a:p>
          <a:p>
            <a:pPr marL="0" indent="0">
              <a:buNone/>
            </a:pPr>
            <a:r>
              <a:rPr lang="en-US" sz="1400" b="0" dirty="0">
                <a:latin typeface="Arial Narrow"/>
                <a:cs typeface="Arial Narrow"/>
              </a:rPr>
              <a:t>      </a:t>
            </a:r>
            <a:r>
              <a:rPr lang="en-US" sz="1400" b="0" dirty="0" smtClean="0">
                <a:latin typeface="Arial Narrow"/>
                <a:cs typeface="Arial Narrow"/>
              </a:rPr>
              <a:t>          r </a:t>
            </a:r>
            <a:r>
              <a:rPr lang="en-US" sz="1400" b="0" dirty="0">
                <a:latin typeface="Arial Narrow"/>
                <a:cs typeface="Arial Narrow"/>
              </a:rPr>
              <a:t>= p; p = s3;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      } </a:t>
            </a:r>
            <a:r>
              <a:rPr lang="en-US" sz="1400" b="0" dirty="0">
                <a:latin typeface="Arial Narrow"/>
                <a:cs typeface="Arial Narrow"/>
              </a:rPr>
              <a:t>else {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            r </a:t>
            </a:r>
            <a:r>
              <a:rPr lang="en-US" sz="1400" b="0" dirty="0">
                <a:latin typeface="Arial Narrow"/>
                <a:cs typeface="Arial Narrow"/>
              </a:rPr>
              <a:t>= s3;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      }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}</a:t>
            </a:r>
            <a:endParaRPr lang="en-US" sz="1400" b="0" dirty="0">
              <a:latin typeface="Arial Narrow"/>
              <a:cs typeface="Arial Narrow"/>
            </a:endParaRP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public </a:t>
            </a:r>
            <a:r>
              <a:rPr lang="en-US" sz="1400" b="0" dirty="0" err="1">
                <a:latin typeface="Arial Narrow"/>
                <a:cs typeface="Arial Narrow"/>
              </a:rPr>
              <a:t>boolean</a:t>
            </a:r>
            <a:r>
              <a:rPr lang="en-US" sz="1400" b="0" dirty="0">
                <a:latin typeface="Arial Narrow"/>
                <a:cs typeface="Arial Narrow"/>
              </a:rPr>
              <a:t> </a:t>
            </a:r>
            <a:r>
              <a:rPr lang="en-US" sz="1400" b="0" dirty="0" err="1">
                <a:latin typeface="Arial Narrow"/>
                <a:cs typeface="Arial Narrow"/>
              </a:rPr>
              <a:t>isScalene</a:t>
            </a:r>
            <a:r>
              <a:rPr lang="en-US" sz="1400" b="0" dirty="0">
                <a:latin typeface="Arial Narrow"/>
                <a:cs typeface="Arial Narrow"/>
              </a:rPr>
              <a:t>() {</a:t>
            </a:r>
          </a:p>
          <a:p>
            <a:pPr marL="0" indent="0">
              <a:buNone/>
            </a:pPr>
            <a:r>
              <a:rPr lang="en-US" sz="1400" b="0" dirty="0">
                <a:latin typeface="Arial Narrow"/>
                <a:cs typeface="Arial Narrow"/>
              </a:rPr>
              <a:t>   </a:t>
            </a:r>
            <a:r>
              <a:rPr lang="en-US" sz="1400" b="0" dirty="0" smtClean="0">
                <a:latin typeface="Arial Narrow"/>
                <a:cs typeface="Arial Narrow"/>
              </a:rPr>
              <a:t>         return </a:t>
            </a:r>
            <a:r>
              <a:rPr lang="en-US" sz="1400" b="0" dirty="0">
                <a:latin typeface="Arial Narrow"/>
                <a:cs typeface="Arial Narrow"/>
              </a:rPr>
              <a:t>((r&gt;0) &amp;&amp; (q&gt;0) &amp;&amp; (p&gt;0) &amp;</a:t>
            </a:r>
            <a:r>
              <a:rPr lang="en-US" sz="1400" b="0" dirty="0" smtClean="0">
                <a:latin typeface="Arial Narrow"/>
                <a:cs typeface="Arial Narrow"/>
              </a:rPr>
              <a:t>&amp; (</a:t>
            </a:r>
            <a:r>
              <a:rPr lang="en-US" sz="1400" b="0" dirty="0">
                <a:latin typeface="Arial Narrow"/>
                <a:cs typeface="Arial Narrow"/>
              </a:rPr>
              <a:t>p&lt;(</a:t>
            </a:r>
            <a:r>
              <a:rPr lang="en-US" sz="1400" b="0" dirty="0" err="1">
                <a:latin typeface="Arial Narrow"/>
                <a:cs typeface="Arial Narrow"/>
              </a:rPr>
              <a:t>q+r</a:t>
            </a:r>
            <a:r>
              <a:rPr lang="en-US" sz="1400" b="0" dirty="0">
                <a:latin typeface="Arial Narrow"/>
                <a:cs typeface="Arial Narrow"/>
              </a:rPr>
              <a:t>))&amp;&amp; ((q&gt;r) || (r&gt;q)));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}</a:t>
            </a:r>
            <a:endParaRPr lang="en-US" sz="1400" b="0" dirty="0">
              <a:latin typeface="Arial Narrow"/>
              <a:cs typeface="Arial Narrow"/>
            </a:endParaRP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public </a:t>
            </a:r>
            <a:r>
              <a:rPr lang="en-US" sz="1400" b="0" dirty="0" err="1">
                <a:latin typeface="Arial Narrow"/>
                <a:cs typeface="Arial Narrow"/>
              </a:rPr>
              <a:t>boolean</a:t>
            </a:r>
            <a:r>
              <a:rPr lang="en-US" sz="1400" b="0" dirty="0">
                <a:latin typeface="Arial Narrow"/>
                <a:cs typeface="Arial Narrow"/>
              </a:rPr>
              <a:t> </a:t>
            </a:r>
            <a:r>
              <a:rPr lang="en-US" sz="1400" b="0" dirty="0" err="1">
                <a:latin typeface="Arial Narrow"/>
                <a:cs typeface="Arial Narrow"/>
              </a:rPr>
              <a:t>isEquilateral</a:t>
            </a:r>
            <a:r>
              <a:rPr lang="en-US" sz="1400" b="0" dirty="0">
                <a:latin typeface="Arial Narrow"/>
                <a:cs typeface="Arial Narrow"/>
              </a:rPr>
              <a:t>() {</a:t>
            </a:r>
          </a:p>
          <a:p>
            <a:pPr marL="0" indent="0">
              <a:buNone/>
            </a:pPr>
            <a:r>
              <a:rPr lang="en-US" sz="1400" b="0" dirty="0">
                <a:latin typeface="Arial Narrow"/>
                <a:cs typeface="Arial Narrow"/>
              </a:rPr>
              <a:t>   </a:t>
            </a:r>
            <a:r>
              <a:rPr lang="en-US" sz="1400" b="0" dirty="0" smtClean="0">
                <a:latin typeface="Arial Narrow"/>
                <a:cs typeface="Arial Narrow"/>
              </a:rPr>
              <a:t>        return </a:t>
            </a:r>
            <a:r>
              <a:rPr lang="en-US" sz="1400" b="0" dirty="0">
                <a:latin typeface="Arial Narrow"/>
                <a:cs typeface="Arial Narrow"/>
              </a:rPr>
              <a:t>p == q &amp;&amp; q == r;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    }</a:t>
            </a:r>
          </a:p>
          <a:p>
            <a:pPr marL="0" indent="0">
              <a:buNone/>
            </a:pPr>
            <a:r>
              <a:rPr lang="en-US" sz="1400" b="0" dirty="0" smtClean="0">
                <a:latin typeface="Arial Narrow"/>
                <a:cs typeface="Arial Narrow"/>
              </a:rPr>
              <a:t>}</a:t>
            </a:r>
            <a:endParaRPr lang="en-US" sz="1400" b="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238226019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Assert methods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875" y="1076325"/>
            <a:ext cx="8733714" cy="5248275"/>
          </a:xfrm>
        </p:spPr>
        <p:txBody>
          <a:bodyPr/>
          <a:lstStyle/>
          <a:p>
            <a:r>
              <a:rPr lang="en-US" sz="2000" b="0" dirty="0" err="1">
                <a:solidFill>
                  <a:srgbClr val="0000FF"/>
                </a:solidFill>
              </a:rPr>
              <a:t>assertEquals</a:t>
            </a:r>
            <a:r>
              <a:rPr lang="en-US" sz="2000" b="0" dirty="0">
                <a:solidFill>
                  <a:srgbClr val="0000FF"/>
                </a:solidFill>
              </a:rPr>
              <a:t>(expected, actual)</a:t>
            </a:r>
          </a:p>
          <a:p>
            <a:pPr marL="400050" lvl="1" indent="0">
              <a:buNone/>
            </a:pPr>
            <a:r>
              <a:rPr lang="en-US" sz="2000" b="0" dirty="0" err="1">
                <a:solidFill>
                  <a:srgbClr val="0000FF"/>
                </a:solidFill>
              </a:rPr>
              <a:t>assertEquals</a:t>
            </a:r>
            <a:r>
              <a:rPr lang="en-US" sz="2000" b="0" dirty="0">
                <a:solidFill>
                  <a:srgbClr val="0000FF"/>
                </a:solidFill>
              </a:rPr>
              <a:t>(String message, expected, actual)</a:t>
            </a:r>
          </a:p>
          <a:p>
            <a:pPr marL="400050" lvl="1" indent="0">
              <a:buNone/>
            </a:pPr>
            <a:r>
              <a:rPr lang="en-US" sz="2000" b="0" dirty="0"/>
              <a:t>This method is heavily overloaded: expected and actual must be both objects or both of the same primitive type. For objects, uses your equals method, if you have defined it properly, as public </a:t>
            </a:r>
            <a:r>
              <a:rPr lang="en-US" sz="2000" b="0" dirty="0" err="1"/>
              <a:t>boolean</a:t>
            </a:r>
            <a:r>
              <a:rPr lang="en-US" sz="2000" b="0" dirty="0"/>
              <a:t> equals(Object o) — otherwise it uses ==</a:t>
            </a:r>
          </a:p>
          <a:p>
            <a:r>
              <a:rPr lang="en-US" sz="2000" b="0" dirty="0" err="1" smtClean="0">
                <a:solidFill>
                  <a:srgbClr val="0000FF"/>
                </a:solidFill>
              </a:rPr>
              <a:t>assertSame</a:t>
            </a:r>
            <a:r>
              <a:rPr lang="en-US" sz="2000" b="0" dirty="0">
                <a:solidFill>
                  <a:srgbClr val="0000FF"/>
                </a:solidFill>
              </a:rPr>
              <a:t>(Object expected, Object actual)</a:t>
            </a:r>
            <a:r>
              <a:rPr lang="en-US" sz="2000" b="0" dirty="0"/>
              <a:t> </a:t>
            </a:r>
            <a:endParaRPr lang="en-US" sz="2000" b="0" dirty="0" smtClean="0"/>
          </a:p>
          <a:p>
            <a:pPr marL="400050" lvl="1" indent="0">
              <a:buNone/>
            </a:pPr>
            <a:r>
              <a:rPr lang="en-US" sz="2000" b="0" dirty="0" err="1" smtClean="0">
                <a:solidFill>
                  <a:srgbClr val="0000FF"/>
                </a:solidFill>
              </a:rPr>
              <a:t>assertSame</a:t>
            </a:r>
            <a:r>
              <a:rPr lang="en-US" sz="2000" b="0" dirty="0">
                <a:solidFill>
                  <a:srgbClr val="0000FF"/>
                </a:solidFill>
              </a:rPr>
              <a:t>(String message, Object expected, Object actual)</a:t>
            </a:r>
            <a:r>
              <a:rPr lang="en-US" sz="2000" b="0" dirty="0"/>
              <a:t> </a:t>
            </a:r>
            <a:endParaRPr lang="en-US" sz="2000" b="0" dirty="0" smtClean="0"/>
          </a:p>
          <a:p>
            <a:pPr marL="400050" lvl="1" indent="0">
              <a:buNone/>
            </a:pPr>
            <a:r>
              <a:rPr lang="en-US" sz="2000" b="0" dirty="0" smtClean="0"/>
              <a:t>Asserts </a:t>
            </a:r>
            <a:r>
              <a:rPr lang="en-US" sz="2000" b="0" dirty="0"/>
              <a:t>that two objects refer to the same object (using ==)</a:t>
            </a:r>
          </a:p>
          <a:p>
            <a:r>
              <a:rPr lang="en-US" sz="2000" b="0" dirty="0" err="1" smtClean="0">
                <a:solidFill>
                  <a:srgbClr val="0000FF"/>
                </a:solidFill>
              </a:rPr>
              <a:t>assertNotSame</a:t>
            </a:r>
            <a:r>
              <a:rPr lang="en-US" sz="2000" b="0" dirty="0">
                <a:solidFill>
                  <a:srgbClr val="0000FF"/>
                </a:solidFill>
              </a:rPr>
              <a:t>(</a:t>
            </a:r>
            <a:r>
              <a:rPr lang="en-US" sz="2000" b="0" dirty="0" err="1">
                <a:solidFill>
                  <a:srgbClr val="0000FF"/>
                </a:solidFill>
              </a:rPr>
              <a:t>Objectexpected</a:t>
            </a:r>
            <a:r>
              <a:rPr lang="en-US" sz="2000" b="0" dirty="0">
                <a:solidFill>
                  <a:srgbClr val="0000FF"/>
                </a:solidFill>
              </a:rPr>
              <a:t>, </a:t>
            </a:r>
            <a:r>
              <a:rPr lang="en-US" sz="2000" b="0" dirty="0" err="1">
                <a:solidFill>
                  <a:srgbClr val="0000FF"/>
                </a:solidFill>
              </a:rPr>
              <a:t>Objectactual</a:t>
            </a:r>
            <a:r>
              <a:rPr lang="en-US" sz="2000" b="0" dirty="0">
                <a:solidFill>
                  <a:srgbClr val="0000FF"/>
                </a:solidFill>
              </a:rPr>
              <a:t>)</a:t>
            </a:r>
            <a:r>
              <a:rPr lang="en-US" sz="2000" b="0" dirty="0"/>
              <a:t> </a:t>
            </a:r>
            <a:endParaRPr lang="en-US" sz="2000" b="0" dirty="0" smtClean="0"/>
          </a:p>
          <a:p>
            <a:pPr marL="400050" lvl="1" indent="0">
              <a:buNone/>
            </a:pPr>
            <a:r>
              <a:rPr lang="en-US" sz="2000" b="0" dirty="0" err="1" smtClean="0">
                <a:solidFill>
                  <a:srgbClr val="0000FF"/>
                </a:solidFill>
              </a:rPr>
              <a:t>assertNotSame</a:t>
            </a:r>
            <a:r>
              <a:rPr lang="en-US" sz="2000" b="0" dirty="0">
                <a:solidFill>
                  <a:srgbClr val="0000FF"/>
                </a:solidFill>
              </a:rPr>
              <a:t>(String message, Object expected, Object actual)</a:t>
            </a:r>
            <a:r>
              <a:rPr lang="en-US" sz="2000" b="0" dirty="0"/>
              <a:t> </a:t>
            </a:r>
            <a:endParaRPr lang="en-US" sz="2000" b="0" dirty="0" smtClean="0"/>
          </a:p>
          <a:p>
            <a:pPr marL="400050" lvl="1" indent="0">
              <a:buNone/>
            </a:pPr>
            <a:r>
              <a:rPr lang="en-US" sz="2000" b="0" dirty="0" smtClean="0"/>
              <a:t>Asserts </a:t>
            </a:r>
            <a:r>
              <a:rPr lang="en-US" sz="2000" b="0" dirty="0"/>
              <a:t>that two objects do not refer to the same object</a:t>
            </a:r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947494936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Assert methods III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 err="1">
                <a:solidFill>
                  <a:srgbClr val="0000FF"/>
                </a:solidFill>
              </a:rPr>
              <a:t>assertNull</a:t>
            </a:r>
            <a:r>
              <a:rPr lang="en-US" sz="2000" b="0" dirty="0">
                <a:solidFill>
                  <a:srgbClr val="0000FF"/>
                </a:solidFill>
              </a:rPr>
              <a:t>(Object object) </a:t>
            </a:r>
            <a:endParaRPr lang="en-US" sz="2000" b="0" dirty="0" smtClean="0">
              <a:solidFill>
                <a:srgbClr val="0000FF"/>
              </a:solidFill>
            </a:endParaRPr>
          </a:p>
          <a:p>
            <a:pPr marL="400050" lvl="1" indent="0">
              <a:buNone/>
            </a:pPr>
            <a:r>
              <a:rPr lang="en-US" sz="2000" b="0" dirty="0" err="1" smtClean="0">
                <a:solidFill>
                  <a:srgbClr val="0000FF"/>
                </a:solidFill>
              </a:rPr>
              <a:t>assertNull</a:t>
            </a:r>
            <a:r>
              <a:rPr lang="en-US" sz="2000" b="0" dirty="0">
                <a:solidFill>
                  <a:srgbClr val="0000FF"/>
                </a:solidFill>
              </a:rPr>
              <a:t>(String message, Object object) </a:t>
            </a:r>
            <a:endParaRPr lang="en-US" sz="2000" b="0" dirty="0" smtClean="0">
              <a:solidFill>
                <a:srgbClr val="0000FF"/>
              </a:solidFill>
            </a:endParaRPr>
          </a:p>
          <a:p>
            <a:pPr marL="400050" lvl="1" indent="0">
              <a:buNone/>
            </a:pPr>
            <a:r>
              <a:rPr lang="en-US" sz="2000" b="0" dirty="0" smtClean="0"/>
              <a:t>Asserts </a:t>
            </a:r>
            <a:r>
              <a:rPr lang="en-US" sz="2000" b="0" dirty="0"/>
              <a:t>that the object is null</a:t>
            </a:r>
          </a:p>
          <a:p>
            <a:r>
              <a:rPr lang="en-US" sz="2000" b="0" dirty="0" err="1" smtClean="0">
                <a:solidFill>
                  <a:srgbClr val="0000FF"/>
                </a:solidFill>
              </a:rPr>
              <a:t>assertNotNull</a:t>
            </a:r>
            <a:r>
              <a:rPr lang="en-US" sz="2000" b="0" dirty="0">
                <a:solidFill>
                  <a:srgbClr val="0000FF"/>
                </a:solidFill>
              </a:rPr>
              <a:t>(Object object) </a:t>
            </a:r>
            <a:endParaRPr lang="en-US" sz="2000" b="0" dirty="0" smtClean="0">
              <a:solidFill>
                <a:srgbClr val="0000FF"/>
              </a:solidFill>
            </a:endParaRPr>
          </a:p>
          <a:p>
            <a:pPr marL="400050" lvl="1" indent="0">
              <a:buNone/>
            </a:pPr>
            <a:r>
              <a:rPr lang="en-US" sz="2000" b="0" dirty="0" err="1" smtClean="0">
                <a:solidFill>
                  <a:srgbClr val="0000FF"/>
                </a:solidFill>
              </a:rPr>
              <a:t>assertNotNull</a:t>
            </a:r>
            <a:r>
              <a:rPr lang="en-US" sz="2000" b="0" dirty="0">
                <a:solidFill>
                  <a:srgbClr val="0000FF"/>
                </a:solidFill>
              </a:rPr>
              <a:t>(String message, </a:t>
            </a:r>
            <a:r>
              <a:rPr lang="en-US" sz="2000" b="0" dirty="0" err="1">
                <a:solidFill>
                  <a:srgbClr val="0000FF"/>
                </a:solidFill>
              </a:rPr>
              <a:t>Objectobject</a:t>
            </a:r>
            <a:r>
              <a:rPr lang="en-US" sz="2000" b="0" dirty="0">
                <a:solidFill>
                  <a:srgbClr val="0000FF"/>
                </a:solidFill>
              </a:rPr>
              <a:t>) </a:t>
            </a:r>
            <a:endParaRPr lang="en-US" sz="2000" b="0" dirty="0" smtClean="0">
              <a:solidFill>
                <a:srgbClr val="0000FF"/>
              </a:solidFill>
            </a:endParaRPr>
          </a:p>
          <a:p>
            <a:pPr marL="400050" lvl="1" indent="0">
              <a:buNone/>
            </a:pPr>
            <a:r>
              <a:rPr lang="en-US" sz="2000" b="0" dirty="0" smtClean="0"/>
              <a:t>Asserts </a:t>
            </a:r>
            <a:r>
              <a:rPr lang="en-US" sz="2000" b="0" dirty="0"/>
              <a:t>that the object is null</a:t>
            </a:r>
          </a:p>
          <a:p>
            <a:r>
              <a:rPr lang="en-US" sz="2000" b="0" dirty="0" smtClean="0">
                <a:solidFill>
                  <a:srgbClr val="0000FF"/>
                </a:solidFill>
              </a:rPr>
              <a:t>fail</a:t>
            </a:r>
            <a:r>
              <a:rPr lang="en-US" sz="2000" b="0" dirty="0">
                <a:solidFill>
                  <a:srgbClr val="0000FF"/>
                </a:solidFill>
              </a:rPr>
              <a:t>(</a:t>
            </a:r>
            <a:r>
              <a:rPr lang="en-US" sz="2000" b="0" dirty="0" smtClean="0">
                <a:solidFill>
                  <a:srgbClr val="0000FF"/>
                </a:solidFill>
              </a:rPr>
              <a:t>)</a:t>
            </a:r>
          </a:p>
          <a:p>
            <a:pPr marL="400050" lvl="1" indent="0">
              <a:buNone/>
            </a:pPr>
            <a:r>
              <a:rPr lang="en-US" sz="2000" b="0" dirty="0" smtClean="0">
                <a:solidFill>
                  <a:srgbClr val="0000FF"/>
                </a:solidFill>
              </a:rPr>
              <a:t>fail</a:t>
            </a:r>
            <a:r>
              <a:rPr lang="en-US" sz="2000" b="0" dirty="0">
                <a:solidFill>
                  <a:srgbClr val="0000FF"/>
                </a:solidFill>
              </a:rPr>
              <a:t>(String message</a:t>
            </a:r>
            <a:r>
              <a:rPr lang="en-US" sz="2000" b="0" dirty="0" smtClean="0">
                <a:solidFill>
                  <a:srgbClr val="0000FF"/>
                </a:solidFill>
              </a:rPr>
              <a:t>)</a:t>
            </a:r>
          </a:p>
          <a:p>
            <a:pPr marL="400050" lvl="1" indent="0">
              <a:buNone/>
            </a:pPr>
            <a:r>
              <a:rPr lang="en-US" sz="2000" b="0" dirty="0" smtClean="0"/>
              <a:t>Causes </a:t>
            </a:r>
            <a:r>
              <a:rPr lang="en-US" sz="2000" b="0" dirty="0"/>
              <a:t>the test to fail and throw an </a:t>
            </a:r>
            <a:r>
              <a:rPr lang="en-US" sz="2000" b="0" dirty="0" err="1"/>
              <a:t>AssertionFailedError</a:t>
            </a:r>
            <a:r>
              <a:rPr lang="en-US" sz="2000" b="0" dirty="0"/>
              <a:t> — Useful as a result of a complex test, when the other assert methods are not quite what you want</a:t>
            </a:r>
          </a:p>
        </p:txBody>
      </p:sp>
    </p:spTree>
    <p:extLst>
      <p:ext uri="{BB962C8B-B14F-4D97-AF65-F5344CB8AC3E}">
        <p14:creationId xmlns:p14="http://schemas.microsoft.com/office/powerpoint/2010/main" val="4164329574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assert statement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/>
              <a:t>Earlier versions of </a:t>
            </a:r>
            <a:r>
              <a:rPr lang="en-US" sz="2000" b="0" dirty="0" err="1"/>
              <a:t>JUnit</a:t>
            </a:r>
            <a:r>
              <a:rPr lang="en-US" sz="2000" b="0" dirty="0"/>
              <a:t> had an assert method instead of an </a:t>
            </a:r>
            <a:r>
              <a:rPr lang="en-US" sz="2000" b="0" dirty="0" err="1"/>
              <a:t>assertTrue</a:t>
            </a:r>
            <a:r>
              <a:rPr lang="en-US" sz="2000" b="0" dirty="0"/>
              <a:t> method — The name had to be changed when Java 1.4 introduced the assert statement</a:t>
            </a:r>
          </a:p>
          <a:p>
            <a:r>
              <a:rPr lang="en-US" sz="2000" b="0" dirty="0" smtClean="0"/>
              <a:t>There </a:t>
            </a:r>
            <a:r>
              <a:rPr lang="en-US" sz="2000" b="0" dirty="0"/>
              <a:t>are two forms of the assert statement: </a:t>
            </a:r>
            <a:endParaRPr lang="en-US" sz="2000" b="0" dirty="0" smtClean="0"/>
          </a:p>
          <a:p>
            <a:pPr lvl="1"/>
            <a:r>
              <a:rPr lang="en-US" sz="2000" b="0" dirty="0" smtClean="0"/>
              <a:t>assert </a:t>
            </a:r>
            <a:r>
              <a:rPr lang="en-US" sz="2000" b="0" i="1" dirty="0" err="1" smtClean="0"/>
              <a:t>boolean</a:t>
            </a:r>
            <a:r>
              <a:rPr lang="en-US" sz="2000" i="1" dirty="0" err="1" smtClean="0"/>
              <a:t>_</a:t>
            </a:r>
            <a:r>
              <a:rPr lang="en-US" sz="2000" b="0" i="1" dirty="0" err="1" smtClean="0"/>
              <a:t>condition</a:t>
            </a:r>
            <a:r>
              <a:rPr lang="en-US" sz="2000" b="0" dirty="0" smtClean="0"/>
              <a:t>;</a:t>
            </a:r>
          </a:p>
          <a:p>
            <a:pPr lvl="1"/>
            <a:r>
              <a:rPr lang="en-US" sz="2000" b="0" dirty="0" smtClean="0"/>
              <a:t>assert </a:t>
            </a:r>
            <a:r>
              <a:rPr lang="en-US" sz="2000" b="0" i="1" dirty="0" err="1" smtClean="0"/>
              <a:t>boolean</a:t>
            </a:r>
            <a:r>
              <a:rPr lang="en-US" sz="2000" i="1" dirty="0" err="1" smtClean="0"/>
              <a:t>_</a:t>
            </a:r>
            <a:r>
              <a:rPr lang="en-US" sz="2000" b="0" i="1" dirty="0" err="1" smtClean="0"/>
              <a:t>condition</a:t>
            </a:r>
            <a:r>
              <a:rPr lang="en-US" sz="2000" b="0" dirty="0" smtClean="0"/>
              <a:t>: </a:t>
            </a:r>
            <a:r>
              <a:rPr lang="en-US" sz="2000" b="0" i="1" dirty="0" err="1" smtClean="0"/>
              <a:t>error_message</a:t>
            </a:r>
            <a:r>
              <a:rPr lang="en-US" sz="2000" b="0" dirty="0" smtClean="0"/>
              <a:t>;</a:t>
            </a:r>
            <a:endParaRPr lang="en-US" sz="2000" b="0" dirty="0"/>
          </a:p>
          <a:p>
            <a:pPr marL="400050" lvl="1" indent="0">
              <a:buNone/>
            </a:pPr>
            <a:r>
              <a:rPr lang="en-US" sz="2000" b="0" dirty="0"/>
              <a:t>Both forms throw an </a:t>
            </a:r>
            <a:r>
              <a:rPr lang="en-US" sz="2000" b="0" dirty="0" err="1"/>
              <a:t>AssertionFailedError</a:t>
            </a:r>
            <a:r>
              <a:rPr lang="en-US" sz="2000" b="0" dirty="0"/>
              <a:t> if the </a:t>
            </a:r>
            <a:r>
              <a:rPr lang="en-US" sz="2000" b="0" dirty="0" err="1"/>
              <a:t>boolean</a:t>
            </a:r>
            <a:r>
              <a:rPr lang="en-US" sz="2000" b="0" dirty="0"/>
              <a:t> condition </a:t>
            </a:r>
            <a:r>
              <a:rPr lang="en-US" sz="2000" b="0" dirty="0" smtClean="0"/>
              <a:t>is false</a:t>
            </a:r>
            <a:r>
              <a:rPr lang="en-US" sz="2000" b="0" dirty="0"/>
              <a:t>. The second form, with an explicit error message, is seldom necessary.</a:t>
            </a:r>
          </a:p>
        </p:txBody>
      </p:sp>
    </p:spTree>
    <p:extLst>
      <p:ext uri="{BB962C8B-B14F-4D97-AF65-F5344CB8AC3E}">
        <p14:creationId xmlns:p14="http://schemas.microsoft.com/office/powerpoint/2010/main" val="3718348116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assert statement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0" dirty="0"/>
              <a:t>When to use an assert statement: </a:t>
            </a:r>
            <a:r>
              <a:rPr lang="en-US" sz="2000" b="0" dirty="0" smtClean="0"/>
              <a:t> </a:t>
            </a:r>
            <a:endParaRPr lang="en-US" sz="2000" b="0" dirty="0"/>
          </a:p>
          <a:p>
            <a:r>
              <a:rPr lang="en-US" sz="2000" b="0" dirty="0"/>
              <a:t>Use it to document a condition that you </a:t>
            </a:r>
            <a:r>
              <a:rPr lang="en-US" sz="2000" b="0" dirty="0" smtClean="0"/>
              <a:t>‘</a:t>
            </a:r>
            <a:r>
              <a:rPr lang="en-US" sz="2000" b="0" i="1" dirty="0" smtClean="0"/>
              <a:t>know</a:t>
            </a:r>
            <a:r>
              <a:rPr lang="en-US" sz="2000" b="0" dirty="0"/>
              <a:t>’ to be true </a:t>
            </a:r>
          </a:p>
          <a:p>
            <a:r>
              <a:rPr lang="en-US" sz="2000" b="0" dirty="0"/>
              <a:t>Use assert false; in code that you ‘</a:t>
            </a:r>
            <a:r>
              <a:rPr lang="en-US" sz="2000" b="0" i="1" dirty="0"/>
              <a:t>know</a:t>
            </a:r>
            <a:r>
              <a:rPr lang="en-US" sz="2000" b="0" dirty="0"/>
              <a:t>’ cannot be reached (such as a </a:t>
            </a:r>
            <a:r>
              <a:rPr lang="en-US" sz="2000" b="0" dirty="0" smtClean="0"/>
              <a:t>default </a:t>
            </a:r>
            <a:r>
              <a:rPr lang="en-US" sz="2000" b="0" dirty="0"/>
              <a:t>case in a switch statement) </a:t>
            </a:r>
          </a:p>
          <a:p>
            <a:r>
              <a:rPr lang="en-US" sz="2000" b="0" dirty="0"/>
              <a:t>Do not use assert to check whether parameters have legal values, or other places where throwing an Exception is more appropriate </a:t>
            </a:r>
          </a:p>
          <a:p>
            <a:r>
              <a:rPr lang="en-US" sz="2000" dirty="0" smtClean="0"/>
              <a:t>Can </a:t>
            </a:r>
            <a:r>
              <a:rPr lang="en-US" sz="2000" dirty="0"/>
              <a:t>be dangerous</a:t>
            </a:r>
            <a:r>
              <a:rPr lang="en-US" sz="2000" b="0" dirty="0"/>
              <a:t>: customers are not impressed by a library bombing out with an assertion failure. </a:t>
            </a:r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2363975113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Junit</a:t>
            </a:r>
            <a:r>
              <a:rPr lang="en-US" dirty="0" smtClean="0"/>
              <a:t> in Eclipse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6" y="1186671"/>
            <a:ext cx="9213664" cy="533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85638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Test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43" y="1000449"/>
            <a:ext cx="8282543" cy="585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15849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Template for New Test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74" y="1004246"/>
            <a:ext cx="8136545" cy="593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25014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</a:t>
            </a:r>
            <a:r>
              <a:rPr lang="en-US" dirty="0" err="1" smtClean="0"/>
              <a:t>JUnit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45" y="1021437"/>
            <a:ext cx="8090194" cy="594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12418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90" y="1271502"/>
            <a:ext cx="8381744" cy="478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052555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 with </a:t>
            </a:r>
            <a:r>
              <a:rPr lang="en-US" dirty="0" err="1" smtClean="0"/>
              <a:t>Junit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0" dirty="0" err="1"/>
              <a:t>JUnit</a:t>
            </a:r>
            <a:r>
              <a:rPr lang="en-US" sz="2000" b="0" dirty="0"/>
              <a:t> has a model of calling methods and checking results against the expected result. </a:t>
            </a:r>
            <a:r>
              <a:rPr lang="en-US" sz="2000" dirty="0"/>
              <a:t>Issues</a:t>
            </a:r>
            <a:r>
              <a:rPr lang="en-US" sz="2000" b="0" dirty="0"/>
              <a:t> are:</a:t>
            </a:r>
          </a:p>
          <a:p>
            <a:r>
              <a:rPr lang="en-US" sz="2000" b="0" dirty="0" smtClean="0"/>
              <a:t>State</a:t>
            </a:r>
            <a:r>
              <a:rPr lang="en-US" sz="2000" b="0" dirty="0"/>
              <a:t>: objects that have significant internal state (e.g. collections with some additional structure) are harder to test because it may take many method calls to get an object into a state you want to test. </a:t>
            </a:r>
            <a:r>
              <a:rPr lang="en-US" sz="2000" dirty="0"/>
              <a:t>Solutions</a:t>
            </a:r>
            <a:r>
              <a:rPr lang="en-US" sz="2000" b="0" dirty="0"/>
              <a:t>:</a:t>
            </a:r>
          </a:p>
          <a:p>
            <a:pPr lvl="1"/>
            <a:r>
              <a:rPr lang="en-US" sz="2000" b="0" dirty="0" smtClean="0"/>
              <a:t>Write </a:t>
            </a:r>
            <a:r>
              <a:rPr lang="en-US" sz="2000" b="0" dirty="0"/>
              <a:t>long tests that call some methods many times.</a:t>
            </a:r>
          </a:p>
          <a:p>
            <a:pPr lvl="1"/>
            <a:r>
              <a:rPr lang="en-US" sz="2000" b="0" dirty="0" smtClean="0"/>
              <a:t>Add </a:t>
            </a:r>
            <a:r>
              <a:rPr lang="en-US" sz="2000" b="0" dirty="0"/>
              <a:t>additional methods in the interface to allow observation of state (</a:t>
            </a:r>
            <a:r>
              <a:rPr lang="en-US" sz="2000" b="0" dirty="0" smtClean="0"/>
              <a:t>or make </a:t>
            </a:r>
            <a:r>
              <a:rPr lang="en-US" sz="2000" b="0" dirty="0"/>
              <a:t>private variables public?)</a:t>
            </a:r>
          </a:p>
          <a:p>
            <a:pPr lvl="1"/>
            <a:r>
              <a:rPr lang="en-US" sz="2000" b="0" dirty="0" smtClean="0"/>
              <a:t>Add </a:t>
            </a:r>
            <a:r>
              <a:rPr lang="en-US" sz="2000" b="0" dirty="0"/>
              <a:t>additional methods in the interface that allow the internal state to </a:t>
            </a:r>
            <a:r>
              <a:rPr lang="en-US" sz="2000" b="0" dirty="0" smtClean="0"/>
              <a:t>be set </a:t>
            </a:r>
            <a:r>
              <a:rPr lang="en-US" sz="2000" b="0" dirty="0"/>
              <a:t>to a particular value</a:t>
            </a:r>
          </a:p>
          <a:p>
            <a:pPr lvl="1"/>
            <a:r>
              <a:rPr lang="en-US" sz="2000" b="0" dirty="0" smtClean="0"/>
              <a:t>“</a:t>
            </a:r>
            <a:r>
              <a:rPr lang="en-US" sz="2000" b="0" dirty="0" err="1"/>
              <a:t>Heisenbugs</a:t>
            </a:r>
            <a:r>
              <a:rPr lang="en-US" sz="2000" b="0" dirty="0"/>
              <a:t>” can be an issue in these cases (changing the </a:t>
            </a:r>
            <a:r>
              <a:rPr lang="en-US" sz="2000" b="0" dirty="0" smtClean="0"/>
              <a:t>observations changes </a:t>
            </a:r>
            <a:r>
              <a:rPr lang="en-US" sz="2000" b="0" dirty="0"/>
              <a:t>what is observed).</a:t>
            </a:r>
          </a:p>
        </p:txBody>
      </p:sp>
    </p:spTree>
    <p:extLst>
      <p:ext uri="{BB962C8B-B14F-4D97-AF65-F5344CB8AC3E}">
        <p14:creationId xmlns:p14="http://schemas.microsoft.com/office/powerpoint/2010/main" val="1970437289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 with </a:t>
            </a:r>
            <a:r>
              <a:rPr lang="en-US" dirty="0" err="1" smtClean="0"/>
              <a:t>Junit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Other effects, e.g. output can be hard to capture correctly.</a:t>
            </a:r>
          </a:p>
          <a:p>
            <a:r>
              <a:rPr lang="en-US" b="0" dirty="0" err="1" smtClean="0"/>
              <a:t>JUnit</a:t>
            </a:r>
            <a:r>
              <a:rPr lang="en-US" b="0" dirty="0" smtClean="0"/>
              <a:t> </a:t>
            </a:r>
            <a:r>
              <a:rPr lang="en-US" b="0" dirty="0"/>
              <a:t>tests of GUIs are not particularly helpful (recording gestures might </a:t>
            </a:r>
            <a:r>
              <a:rPr lang="en-US" b="0" dirty="0" smtClean="0"/>
              <a:t>be helpful </a:t>
            </a:r>
            <a:r>
              <a:rPr lang="en-US" b="0" dirty="0"/>
              <a:t>here?)</a:t>
            </a:r>
          </a:p>
        </p:txBody>
      </p:sp>
    </p:spTree>
    <p:extLst>
      <p:ext uri="{BB962C8B-B14F-4D97-AF65-F5344CB8AC3E}">
        <p14:creationId xmlns:p14="http://schemas.microsoft.com/office/powerpoint/2010/main" val="4015879411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/>
              <a:t>Using </a:t>
            </a:r>
            <a:r>
              <a:rPr lang="en-US" sz="2000" b="0" dirty="0" err="1"/>
              <a:t>JUnit</a:t>
            </a:r>
            <a:r>
              <a:rPr lang="en-US" sz="2000" b="0" dirty="0"/>
              <a:t> encourages a ‘testable’ style, where the result of a calling a method is easy to check against the specification:</a:t>
            </a:r>
          </a:p>
          <a:p>
            <a:pPr lvl="1"/>
            <a:r>
              <a:rPr lang="en-US" sz="2000" b="0" dirty="0" smtClean="0"/>
              <a:t>Controlled </a:t>
            </a:r>
            <a:r>
              <a:rPr lang="en-US" sz="2000" b="0" dirty="0"/>
              <a:t>use of state</a:t>
            </a:r>
          </a:p>
          <a:p>
            <a:pPr lvl="1"/>
            <a:r>
              <a:rPr lang="en-US" sz="2000" b="0" dirty="0" smtClean="0"/>
              <a:t>Additional </a:t>
            </a:r>
            <a:r>
              <a:rPr lang="en-US" sz="2000" b="0" dirty="0"/>
              <a:t>observers of the state (testing interface)</a:t>
            </a:r>
          </a:p>
          <a:p>
            <a:pPr lvl="1"/>
            <a:r>
              <a:rPr lang="en-US" sz="2000" b="0" dirty="0" smtClean="0"/>
              <a:t>Additional </a:t>
            </a:r>
            <a:r>
              <a:rPr lang="en-US" sz="2000" b="0" dirty="0"/>
              <a:t>components in results that ease checking</a:t>
            </a:r>
          </a:p>
          <a:p>
            <a:r>
              <a:rPr lang="en-US" sz="2000" b="0" dirty="0" smtClean="0"/>
              <a:t>It </a:t>
            </a:r>
            <a:r>
              <a:rPr lang="en-US" sz="2000" b="0" dirty="0"/>
              <a:t>is well integrated into a range of IDEs (e.g. Eclipse)</a:t>
            </a:r>
          </a:p>
          <a:p>
            <a:r>
              <a:rPr lang="en-US" sz="2000" b="0" dirty="0" smtClean="0"/>
              <a:t>Tests </a:t>
            </a:r>
            <a:r>
              <a:rPr lang="en-US" sz="2000" b="0" dirty="0"/>
              <a:t>are easy to define and apply in these environments.</a:t>
            </a:r>
          </a:p>
          <a:p>
            <a:r>
              <a:rPr lang="en-US" sz="2000" b="0" dirty="0" err="1" smtClean="0"/>
              <a:t>JUnit</a:t>
            </a:r>
            <a:r>
              <a:rPr lang="en-US" sz="2000" b="0" dirty="0" smtClean="0"/>
              <a:t> </a:t>
            </a:r>
            <a:r>
              <a:rPr lang="en-US" sz="2000" b="0" dirty="0"/>
              <a:t>encourages frequent testing during development — e.g. XP (</a:t>
            </a:r>
            <a:r>
              <a:rPr lang="en-US" sz="2000" b="0" dirty="0" err="1" smtClean="0"/>
              <a:t>eXtreme</a:t>
            </a:r>
            <a:r>
              <a:rPr lang="en-US" sz="2000" b="0" dirty="0"/>
              <a:t> </a:t>
            </a:r>
            <a:r>
              <a:rPr lang="en-US" sz="2000" b="0" dirty="0" smtClean="0"/>
              <a:t>Programming</a:t>
            </a:r>
            <a:r>
              <a:rPr lang="en-US" sz="2000" b="0" dirty="0"/>
              <a:t>) ‘test as specification’</a:t>
            </a:r>
          </a:p>
          <a:p>
            <a:r>
              <a:rPr lang="en-US" sz="2000" b="0" dirty="0" err="1" smtClean="0"/>
              <a:t>JUnit</a:t>
            </a:r>
            <a:r>
              <a:rPr lang="en-US" sz="2000" b="0" dirty="0" smtClean="0"/>
              <a:t> </a:t>
            </a:r>
            <a:r>
              <a:rPr lang="en-US" sz="2000" b="0" dirty="0"/>
              <a:t>tends to shape code to be easily testable.</a:t>
            </a:r>
          </a:p>
          <a:p>
            <a:r>
              <a:rPr lang="en-US" sz="2000" b="0" dirty="0" err="1" smtClean="0"/>
              <a:t>JUnit</a:t>
            </a:r>
            <a:r>
              <a:rPr lang="en-US" sz="2000" b="0" dirty="0" smtClean="0"/>
              <a:t> </a:t>
            </a:r>
            <a:r>
              <a:rPr lang="en-US" sz="2000" b="0" dirty="0"/>
              <a:t>supports a range of extensions that support structured testing (</a:t>
            </a:r>
            <a:r>
              <a:rPr lang="en-US" sz="2000" b="0" dirty="0" smtClean="0"/>
              <a:t>e.g. coverage </a:t>
            </a:r>
            <a:r>
              <a:rPr lang="en-US" sz="2000" b="0" dirty="0"/>
              <a:t>analysis) – we will see some of these extensions later.</a:t>
            </a:r>
          </a:p>
        </p:txBody>
      </p:sp>
    </p:spTree>
    <p:extLst>
      <p:ext uri="{BB962C8B-B14F-4D97-AF65-F5344CB8AC3E}">
        <p14:creationId xmlns:p14="http://schemas.microsoft.com/office/powerpoint/2010/main" val="2878369866"/>
      </p:ext>
    </p:extLst>
  </p:cSld>
  <p:clrMapOvr>
    <a:masterClrMapping/>
  </p:clrMapOvr>
  <p:transition xmlns:p14="http://schemas.microsoft.com/office/powerpoint/2010/main" spd="slow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Framework for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dirty="0"/>
              <a:t>Framework for Integrated Test (FIT), by Ward Cunningham (inventor of wiki) </a:t>
            </a:r>
            <a:endParaRPr lang="en-US" sz="2000" b="0" dirty="0"/>
          </a:p>
          <a:p>
            <a:r>
              <a:rPr lang="en-US" sz="2000" b="0" dirty="0" smtClean="0"/>
              <a:t>Allows </a:t>
            </a:r>
            <a:r>
              <a:rPr lang="en-US" sz="2000" b="0" dirty="0"/>
              <a:t>closed loop between customers and developers:</a:t>
            </a:r>
          </a:p>
          <a:p>
            <a:pPr lvl="1"/>
            <a:r>
              <a:rPr lang="en-US" sz="2000" b="0" dirty="0" smtClean="0"/>
              <a:t>Takes </a:t>
            </a:r>
            <a:r>
              <a:rPr lang="en-US" sz="2000" b="0" dirty="0"/>
              <a:t>HTML tables of expected </a:t>
            </a:r>
            <a:r>
              <a:rPr lang="en-US" sz="2000" b="0" dirty="0" err="1"/>
              <a:t>behaviour</a:t>
            </a:r>
            <a:r>
              <a:rPr lang="en-US" sz="2000" b="0" dirty="0"/>
              <a:t> from customers or spec.</a:t>
            </a:r>
          </a:p>
          <a:p>
            <a:pPr lvl="1"/>
            <a:r>
              <a:rPr lang="en-US" sz="2000" b="0" dirty="0" smtClean="0"/>
              <a:t>Turns </a:t>
            </a:r>
            <a:r>
              <a:rPr lang="en-US" sz="2000" b="0" dirty="0"/>
              <a:t>those tables into test data: inputs, activities and assertions </a:t>
            </a:r>
            <a:r>
              <a:rPr lang="en-US" sz="2000" b="0" dirty="0" smtClean="0"/>
              <a:t>regarding expected </a:t>
            </a:r>
            <a:r>
              <a:rPr lang="en-US" sz="2000" b="0" dirty="0"/>
              <a:t>results.</a:t>
            </a:r>
          </a:p>
          <a:p>
            <a:pPr lvl="1"/>
            <a:r>
              <a:rPr lang="en-US" sz="2000" b="0" dirty="0" smtClean="0"/>
              <a:t>Runs </a:t>
            </a:r>
            <a:r>
              <a:rPr lang="en-US" sz="2000" b="0" dirty="0"/>
              <a:t>the tests and produces tabular summaries of the test runs.</a:t>
            </a:r>
          </a:p>
          <a:p>
            <a:r>
              <a:rPr lang="en-US" sz="2000" b="0" dirty="0" smtClean="0"/>
              <a:t>Only </a:t>
            </a:r>
            <a:r>
              <a:rPr lang="en-US" sz="2000" b="0" dirty="0"/>
              <a:t>a few years old, but lots of people seem to like it — various practitioners seem to think it is revolutionary.</a:t>
            </a:r>
          </a:p>
        </p:txBody>
      </p:sp>
    </p:spTree>
    <p:extLst>
      <p:ext uri="{BB962C8B-B14F-4D97-AF65-F5344CB8AC3E}">
        <p14:creationId xmlns:p14="http://schemas.microsoft.com/office/powerpoint/2010/main" val="342785239"/>
      </p:ext>
    </p:extLst>
  </p:cSld>
  <p:clrMapOvr>
    <a:masterClrMapping/>
  </p:clrMapOvr>
  <p:transition xmlns:p14="http://schemas.microsoft.com/office/powerpoint/2010/main" spd="slow">
    <p:random/>
  </p:transition>
</p:sld>
</file>

<file path=ppt/theme/theme1.xml><?xml version="1.0" encoding="utf-8"?>
<a:theme xmlns:a="http://schemas.openxmlformats.org/drawingml/2006/main" name="sqa-theme">
  <a:themeElements>
    <a:clrScheme name="cdb2004146l 2">
      <a:dk1>
        <a:srgbClr val="5F5F5F"/>
      </a:dk1>
      <a:lt1>
        <a:srgbClr val="FFFFFF"/>
      </a:lt1>
      <a:dk2>
        <a:srgbClr val="8D8D8D"/>
      </a:dk2>
      <a:lt2>
        <a:srgbClr val="C0C0C0"/>
      </a:lt2>
      <a:accent1>
        <a:srgbClr val="8EC072"/>
      </a:accent1>
      <a:accent2>
        <a:srgbClr val="5DB8CD"/>
      </a:accent2>
      <a:accent3>
        <a:srgbClr val="FFFFFF"/>
      </a:accent3>
      <a:accent4>
        <a:srgbClr val="505050"/>
      </a:accent4>
      <a:accent5>
        <a:srgbClr val="C6DCBC"/>
      </a:accent5>
      <a:accent6>
        <a:srgbClr val="53A6BA"/>
      </a:accent6>
      <a:hlink>
        <a:srgbClr val="D68B40"/>
      </a:hlink>
      <a:folHlink>
        <a:srgbClr val="D5D179"/>
      </a:folHlink>
    </a:clrScheme>
    <a:fontScheme name="cdb2004146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db2004146l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46l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46l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sqa-theme.thmx</Template>
  <TotalTime>79</TotalTime>
  <Words>1982</Words>
  <Application>Microsoft Macintosh PowerPoint</Application>
  <PresentationFormat>On-screen Show (4:3)</PresentationFormat>
  <Paragraphs>183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sqa-theme</vt:lpstr>
      <vt:lpstr>JUnit</vt:lpstr>
      <vt:lpstr>JUnit</vt:lpstr>
      <vt:lpstr>Các thuật ngữ về JUnit</vt:lpstr>
      <vt:lpstr>Các thuật ngữ về JUnit</vt:lpstr>
      <vt:lpstr>Cấu trúc của một lớp kiểm thử JUnit</vt:lpstr>
      <vt:lpstr>Cấu trúc của một lớp kiểm thử JUnit</vt:lpstr>
      <vt:lpstr>Thực hiên Tests: Assert</vt:lpstr>
      <vt:lpstr>Thực hiện kiểm thử: Assert</vt:lpstr>
      <vt:lpstr>Aside: Throwable</vt:lpstr>
      <vt:lpstr>Triangle class</vt:lpstr>
      <vt:lpstr>Notes on creating tests</vt:lpstr>
      <vt:lpstr>A Junit 3 test for Triangle</vt:lpstr>
      <vt:lpstr>A Junit 4 test for Triangle</vt:lpstr>
      <vt:lpstr>The Triangle class itself</vt:lpstr>
      <vt:lpstr>The Triangle class itself</vt:lpstr>
      <vt:lpstr>Assert methods II</vt:lpstr>
      <vt:lpstr>Assert methods III</vt:lpstr>
      <vt:lpstr>The assert statement in Java</vt:lpstr>
      <vt:lpstr>The assert statement in Java</vt:lpstr>
      <vt:lpstr>Junit in Eclipse</vt:lpstr>
      <vt:lpstr>Creating a Test</vt:lpstr>
      <vt:lpstr>Template for New Test</vt:lpstr>
      <vt:lpstr>Running JUnit</vt:lpstr>
      <vt:lpstr>Kết quả</vt:lpstr>
      <vt:lpstr>Issues with Junit</vt:lpstr>
      <vt:lpstr>Issues with Junit</vt:lpstr>
      <vt:lpstr>Positives</vt:lpstr>
      <vt:lpstr>Another Framework for Testing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Hung Nguyen</dc:creator>
  <cp:lastModifiedBy>Hung Nguyen</cp:lastModifiedBy>
  <cp:revision>142</cp:revision>
  <dcterms:created xsi:type="dcterms:W3CDTF">2014-12-23T12:38:03Z</dcterms:created>
  <dcterms:modified xsi:type="dcterms:W3CDTF">2014-12-27T11:24:15Z</dcterms:modified>
</cp:coreProperties>
</file>