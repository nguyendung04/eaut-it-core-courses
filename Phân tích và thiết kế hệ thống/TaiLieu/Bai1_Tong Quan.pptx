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  <p:sldMasterId id="2147483718" r:id="rId2"/>
    <p:sldMasterId id="2147483730" r:id="rId3"/>
  </p:sldMasterIdLst>
  <p:notesMasterIdLst>
    <p:notesMasterId r:id="rId58"/>
  </p:notesMasterIdLst>
  <p:handoutMasterIdLst>
    <p:handoutMasterId r:id="rId59"/>
  </p:handoutMasterIdLst>
  <p:sldIdLst>
    <p:sldId id="257" r:id="rId4"/>
    <p:sldId id="266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22" r:id="rId39"/>
    <p:sldId id="333" r:id="rId40"/>
    <p:sldId id="305" r:id="rId41"/>
    <p:sldId id="306" r:id="rId42"/>
    <p:sldId id="319" r:id="rId43"/>
    <p:sldId id="307" r:id="rId44"/>
    <p:sldId id="308" r:id="rId45"/>
    <p:sldId id="320" r:id="rId46"/>
    <p:sldId id="309" r:id="rId47"/>
    <p:sldId id="321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336699"/>
    <a:srgbClr val="006666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79" autoAdjust="0"/>
    <p:restoredTop sz="94660"/>
  </p:normalViewPr>
  <p:slideViewPr>
    <p:cSldViewPr snapToGrid="0">
      <p:cViewPr varScale="1">
        <p:scale>
          <a:sx n="70" d="100"/>
          <a:sy n="70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C5AFCC-8C78-4132-8135-2E4F9C451ED5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EB6214-9C91-411D-8CD3-0497682DECD9}">
      <dgm:prSet phldrT="[Text]" custT="1"/>
      <dgm:spPr/>
      <dgm:t>
        <a:bodyPr/>
        <a:lstStyle/>
        <a:p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1.1</a:t>
          </a:r>
        </a:p>
      </dgm:t>
    </dgm:pt>
    <dgm:pt modelId="{CA9D6AA2-50B5-4AD7-B00C-9CCEE93CCC4F}" type="parTrans" cxnId="{D58FBE44-E1F7-430B-ABFB-EE1B1D8A86BB}">
      <dgm:prSet/>
      <dgm:spPr/>
      <dgm:t>
        <a:bodyPr/>
        <a:lstStyle/>
        <a:p>
          <a:endParaRPr lang="en-US" b="1"/>
        </a:p>
      </dgm:t>
    </dgm:pt>
    <dgm:pt modelId="{79591DBC-73F5-4580-B5B4-E5CB6606D800}" type="sibTrans" cxnId="{D58FBE44-E1F7-430B-ABFB-EE1B1D8A86BB}">
      <dgm:prSet/>
      <dgm:spPr/>
      <dgm:t>
        <a:bodyPr/>
        <a:lstStyle/>
        <a:p>
          <a:endParaRPr lang="en-US" b="1"/>
        </a:p>
      </dgm:t>
    </dgm:pt>
    <dgm:pt modelId="{15D2F587-C7B4-47A2-B268-1A027CFFF0DD}">
      <dgm:prSet phldrT="[Text]" custT="1"/>
      <dgm:spPr/>
      <dgm:t>
        <a:bodyPr/>
        <a:lstStyle/>
        <a:p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Khái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niệm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chung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442B3D-BE54-41EB-B471-DD9D2094077D}" type="parTrans" cxnId="{B8331BD2-ABF1-497E-85AE-3DCBFEA01566}">
      <dgm:prSet/>
      <dgm:spPr/>
      <dgm:t>
        <a:bodyPr/>
        <a:lstStyle/>
        <a:p>
          <a:endParaRPr lang="en-US" b="1"/>
        </a:p>
      </dgm:t>
    </dgm:pt>
    <dgm:pt modelId="{663C0C45-8C61-4A82-970B-CE58E140A50B}" type="sibTrans" cxnId="{B8331BD2-ABF1-497E-85AE-3DCBFEA01566}">
      <dgm:prSet/>
      <dgm:spPr/>
      <dgm:t>
        <a:bodyPr/>
        <a:lstStyle/>
        <a:p>
          <a:endParaRPr lang="en-US" b="1"/>
        </a:p>
      </dgm:t>
    </dgm:pt>
    <dgm:pt modelId="{A9B17C7B-422F-4575-8CFA-AA0F87E3313E}">
      <dgm:prSet phldrT="[Text]" custT="1"/>
      <dgm:spPr/>
      <dgm:t>
        <a:bodyPr/>
        <a:lstStyle/>
        <a:p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1.2</a:t>
          </a:r>
        </a:p>
      </dgm:t>
    </dgm:pt>
    <dgm:pt modelId="{2F9D5DD7-06F9-44EC-81D5-2F5A3AF8A290}" type="parTrans" cxnId="{8B33EA98-4553-4534-9E85-841F416FF283}">
      <dgm:prSet/>
      <dgm:spPr/>
      <dgm:t>
        <a:bodyPr/>
        <a:lstStyle/>
        <a:p>
          <a:endParaRPr lang="en-US" b="1"/>
        </a:p>
      </dgm:t>
    </dgm:pt>
    <dgm:pt modelId="{BB6C8782-0A02-4A6F-98C2-664152FFF048}" type="sibTrans" cxnId="{8B33EA98-4553-4534-9E85-841F416FF283}">
      <dgm:prSet/>
      <dgm:spPr/>
      <dgm:t>
        <a:bodyPr/>
        <a:lstStyle/>
        <a:p>
          <a:endParaRPr lang="en-US" b="1"/>
        </a:p>
      </dgm:t>
    </dgm:pt>
    <dgm:pt modelId="{B64D7CE2-DF93-40A7-AF03-E805DE87DB53}">
      <dgm:prSet phldrT="[Text]" custT="1"/>
      <dgm:spPr/>
      <dgm:t>
        <a:bodyPr/>
        <a:lstStyle/>
        <a:p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Vòng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đời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8540B7-AC79-4C41-B798-27B27DDB8D64}" type="parTrans" cxnId="{0F8B3347-77D9-43A5-8751-B756B7B57BF0}">
      <dgm:prSet/>
      <dgm:spPr/>
      <dgm:t>
        <a:bodyPr/>
        <a:lstStyle/>
        <a:p>
          <a:endParaRPr lang="en-US" b="1"/>
        </a:p>
      </dgm:t>
    </dgm:pt>
    <dgm:pt modelId="{8504FD3D-9A69-4DC5-B4BD-32AC341C4F26}" type="sibTrans" cxnId="{0F8B3347-77D9-43A5-8751-B756B7B57BF0}">
      <dgm:prSet/>
      <dgm:spPr/>
      <dgm:t>
        <a:bodyPr/>
        <a:lstStyle/>
        <a:p>
          <a:endParaRPr lang="en-US" b="1"/>
        </a:p>
      </dgm:t>
    </dgm:pt>
    <dgm:pt modelId="{11E84007-40A3-4079-9501-FA0450C33FBA}">
      <dgm:prSet phldrT="[Text]" custT="1"/>
      <dgm:spPr/>
      <dgm:t>
        <a:bodyPr/>
        <a:lstStyle/>
        <a:p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1.3</a:t>
          </a:r>
        </a:p>
      </dgm:t>
    </dgm:pt>
    <dgm:pt modelId="{3648AE8E-B4D4-4B40-8F76-A7156DEC843F}" type="parTrans" cxnId="{65ED4939-7984-47DC-B8AB-D8C706AD9B9A}">
      <dgm:prSet/>
      <dgm:spPr/>
      <dgm:t>
        <a:bodyPr/>
        <a:lstStyle/>
        <a:p>
          <a:endParaRPr lang="en-US" b="1"/>
        </a:p>
      </dgm:t>
    </dgm:pt>
    <dgm:pt modelId="{58952B2B-DB33-4FB1-AF1B-02D36186A038}" type="sibTrans" cxnId="{65ED4939-7984-47DC-B8AB-D8C706AD9B9A}">
      <dgm:prSet/>
      <dgm:spPr/>
      <dgm:t>
        <a:bodyPr/>
        <a:lstStyle/>
        <a:p>
          <a:endParaRPr lang="en-US" b="1"/>
        </a:p>
      </dgm:t>
    </dgm:pt>
    <dgm:pt modelId="{10FD7E78-200E-4A7C-A6FA-5101AED30D58}">
      <dgm:prSet phldrT="[Text]" custT="1"/>
      <dgm:spPr/>
      <dgm:t>
        <a:bodyPr/>
        <a:lstStyle/>
        <a:p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Quy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D0EA54-D1C4-4B81-A343-A0B7ED4E2BD0}" type="parTrans" cxnId="{01F0F44D-A560-4CD4-BD80-DF0375E37C25}">
      <dgm:prSet/>
      <dgm:spPr/>
      <dgm:t>
        <a:bodyPr/>
        <a:lstStyle/>
        <a:p>
          <a:endParaRPr lang="en-US" b="1"/>
        </a:p>
      </dgm:t>
    </dgm:pt>
    <dgm:pt modelId="{5EAEBE26-A175-4183-95B9-333FF20525D4}" type="sibTrans" cxnId="{01F0F44D-A560-4CD4-BD80-DF0375E37C25}">
      <dgm:prSet/>
      <dgm:spPr/>
      <dgm:t>
        <a:bodyPr/>
        <a:lstStyle/>
        <a:p>
          <a:endParaRPr lang="en-US" b="1"/>
        </a:p>
      </dgm:t>
    </dgm:pt>
    <dgm:pt modelId="{7EE864B9-4EED-4AE5-8BB9-BA476216094D}">
      <dgm:prSet custT="1"/>
      <dgm:spPr/>
      <dgm:t>
        <a:bodyPr/>
        <a:lstStyle/>
        <a:p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1.4</a:t>
          </a:r>
        </a:p>
      </dgm:t>
    </dgm:pt>
    <dgm:pt modelId="{B1F0C5F7-14E3-4C1D-B0CF-D411143AD94D}" type="parTrans" cxnId="{7C080C4B-2976-4693-8585-F0D8E5C38A5C}">
      <dgm:prSet/>
      <dgm:spPr/>
      <dgm:t>
        <a:bodyPr/>
        <a:lstStyle/>
        <a:p>
          <a:endParaRPr lang="en-US" b="1"/>
        </a:p>
      </dgm:t>
    </dgm:pt>
    <dgm:pt modelId="{0648446D-9ADB-49D9-953B-AECE27CB109F}" type="sibTrans" cxnId="{7C080C4B-2976-4693-8585-F0D8E5C38A5C}">
      <dgm:prSet/>
      <dgm:spPr/>
      <dgm:t>
        <a:bodyPr/>
        <a:lstStyle/>
        <a:p>
          <a:endParaRPr lang="en-US" b="1"/>
        </a:p>
      </dgm:t>
    </dgm:pt>
    <dgm:pt modelId="{8C3B757F-BE51-444F-9358-4D18A19EA8BD}">
      <dgm:prSet custT="1"/>
      <dgm:spPr/>
      <dgm:t>
        <a:bodyPr/>
        <a:lstStyle/>
        <a:p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1.5</a:t>
          </a:r>
        </a:p>
      </dgm:t>
    </dgm:pt>
    <dgm:pt modelId="{20082FC7-8602-4303-B6FB-462DF9AC6680}" type="parTrans" cxnId="{9F046A67-C390-41EA-850E-7B4F2CD4E4AB}">
      <dgm:prSet/>
      <dgm:spPr/>
      <dgm:t>
        <a:bodyPr/>
        <a:lstStyle/>
        <a:p>
          <a:endParaRPr lang="en-US" b="1"/>
        </a:p>
      </dgm:t>
    </dgm:pt>
    <dgm:pt modelId="{0B326088-E714-4D93-8897-ECC28AE0174E}" type="sibTrans" cxnId="{9F046A67-C390-41EA-850E-7B4F2CD4E4AB}">
      <dgm:prSet/>
      <dgm:spPr/>
      <dgm:t>
        <a:bodyPr/>
        <a:lstStyle/>
        <a:p>
          <a:endParaRPr lang="en-US" b="1"/>
        </a:p>
      </dgm:t>
    </dgm:pt>
    <dgm:pt modelId="{10241152-FFF1-4E5F-A3F4-1E8A7C09CAD2}">
      <dgm:prSet custT="1"/>
      <dgm:spPr/>
      <dgm:t>
        <a:bodyPr/>
        <a:lstStyle/>
        <a:p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C2F50B-8921-4F7C-B5DD-9C2F1E2C9C67}" type="parTrans" cxnId="{6EAC2D4B-F603-4192-AD79-334F467AA63C}">
      <dgm:prSet/>
      <dgm:spPr/>
      <dgm:t>
        <a:bodyPr/>
        <a:lstStyle/>
        <a:p>
          <a:endParaRPr lang="en-US" b="1"/>
        </a:p>
      </dgm:t>
    </dgm:pt>
    <dgm:pt modelId="{8DA09609-4BEF-4A7F-9DC4-982AEB5D783F}" type="sibTrans" cxnId="{6EAC2D4B-F603-4192-AD79-334F467AA63C}">
      <dgm:prSet/>
      <dgm:spPr/>
      <dgm:t>
        <a:bodyPr/>
        <a:lstStyle/>
        <a:p>
          <a:endParaRPr lang="en-US" b="1"/>
        </a:p>
      </dgm:t>
    </dgm:pt>
    <dgm:pt modelId="{FEDCBB33-7AB8-45C8-9E65-EC04F1213AA7}">
      <dgm:prSet custT="1"/>
      <dgm:spPr/>
      <dgm:t>
        <a:bodyPr/>
        <a:lstStyle/>
        <a:p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hướng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đối</a:t>
          </a:r>
          <a:r>
            <a:rPr lang="en-US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endParaRPr lang="en-US" sz="3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6E9D75-0DEB-4152-B72C-B5319CEE962A}" type="parTrans" cxnId="{AA60A639-1F4C-4007-A7F6-CA00DD3DA8D5}">
      <dgm:prSet/>
      <dgm:spPr/>
      <dgm:t>
        <a:bodyPr/>
        <a:lstStyle/>
        <a:p>
          <a:endParaRPr lang="en-US" b="1"/>
        </a:p>
      </dgm:t>
    </dgm:pt>
    <dgm:pt modelId="{71C4F37B-AF09-4509-87DF-FF66A2CFA5C7}" type="sibTrans" cxnId="{AA60A639-1F4C-4007-A7F6-CA00DD3DA8D5}">
      <dgm:prSet/>
      <dgm:spPr/>
      <dgm:t>
        <a:bodyPr/>
        <a:lstStyle/>
        <a:p>
          <a:endParaRPr lang="en-US" b="1"/>
        </a:p>
      </dgm:t>
    </dgm:pt>
    <dgm:pt modelId="{69F0EE4A-BD2C-43A3-BC89-92AD92445673}" type="pres">
      <dgm:prSet presAssocID="{EEC5AFCC-8C78-4132-8135-2E4F9C451ED5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6BDB04-6A7D-42E9-9AF0-8F1A8ED8CBFC}" type="pres">
      <dgm:prSet presAssocID="{68EB6214-9C91-411D-8CD3-0497682DECD9}" presName="composite" presStyleCnt="0"/>
      <dgm:spPr/>
    </dgm:pt>
    <dgm:pt modelId="{942E559F-690E-4338-9263-12AEB3228906}" type="pres">
      <dgm:prSet presAssocID="{68EB6214-9C91-411D-8CD3-0497682DECD9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040996-AC08-4615-AF68-DE86F3E74B1D}" type="pres">
      <dgm:prSet presAssocID="{68EB6214-9C91-411D-8CD3-0497682DECD9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4B1CEF-D27B-41EC-A4BC-B40B27BE1DBB}" type="pres">
      <dgm:prSet presAssocID="{79591DBC-73F5-4580-B5B4-E5CB6606D800}" presName="sp" presStyleCnt="0"/>
      <dgm:spPr/>
    </dgm:pt>
    <dgm:pt modelId="{E7574EA7-28BC-428D-A99E-55DC243F355F}" type="pres">
      <dgm:prSet presAssocID="{A9B17C7B-422F-4575-8CFA-AA0F87E3313E}" presName="composite" presStyleCnt="0"/>
      <dgm:spPr/>
    </dgm:pt>
    <dgm:pt modelId="{462F88B5-067A-40FF-B402-EBDC4C53BAB7}" type="pres">
      <dgm:prSet presAssocID="{A9B17C7B-422F-4575-8CFA-AA0F87E3313E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AF9710-0F32-4C23-BC97-680EC4C09346}" type="pres">
      <dgm:prSet presAssocID="{A9B17C7B-422F-4575-8CFA-AA0F87E3313E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7ADBE3-C865-442E-8703-0770D9B86A80}" type="pres">
      <dgm:prSet presAssocID="{BB6C8782-0A02-4A6F-98C2-664152FFF048}" presName="sp" presStyleCnt="0"/>
      <dgm:spPr/>
    </dgm:pt>
    <dgm:pt modelId="{5C618C02-C50A-4369-BB4E-78357E3B169C}" type="pres">
      <dgm:prSet presAssocID="{11E84007-40A3-4079-9501-FA0450C33FBA}" presName="composite" presStyleCnt="0"/>
      <dgm:spPr/>
    </dgm:pt>
    <dgm:pt modelId="{7055A7A1-8BA2-4281-8649-EE5C05D3F427}" type="pres">
      <dgm:prSet presAssocID="{11E84007-40A3-4079-9501-FA0450C33FBA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E06869-C199-4CFC-8A3C-FB5F109A80CA}" type="pres">
      <dgm:prSet presAssocID="{11E84007-40A3-4079-9501-FA0450C33FBA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603DD3-96FD-45CE-861A-66673295B6EC}" type="pres">
      <dgm:prSet presAssocID="{58952B2B-DB33-4FB1-AF1B-02D36186A038}" presName="sp" presStyleCnt="0"/>
      <dgm:spPr/>
    </dgm:pt>
    <dgm:pt modelId="{16D19A10-AE21-40B2-B699-3D34A488D232}" type="pres">
      <dgm:prSet presAssocID="{7EE864B9-4EED-4AE5-8BB9-BA476216094D}" presName="composite" presStyleCnt="0"/>
      <dgm:spPr/>
    </dgm:pt>
    <dgm:pt modelId="{3639C6BC-A7F2-4BA2-BF1B-454FA48917EF}" type="pres">
      <dgm:prSet presAssocID="{7EE864B9-4EED-4AE5-8BB9-BA476216094D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6F9610-8238-4BAC-A20B-0DE626E3D3C2}" type="pres">
      <dgm:prSet presAssocID="{7EE864B9-4EED-4AE5-8BB9-BA476216094D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20B481-6EE4-4F08-A177-914DE535BF04}" type="pres">
      <dgm:prSet presAssocID="{0648446D-9ADB-49D9-953B-AECE27CB109F}" presName="sp" presStyleCnt="0"/>
      <dgm:spPr/>
    </dgm:pt>
    <dgm:pt modelId="{2075374F-E07B-4DD9-BBFE-CBD7DC5E9786}" type="pres">
      <dgm:prSet presAssocID="{8C3B757F-BE51-444F-9358-4D18A19EA8BD}" presName="composite" presStyleCnt="0"/>
      <dgm:spPr/>
    </dgm:pt>
    <dgm:pt modelId="{53F5685D-BDC9-43B2-8AC4-4C8B7C438282}" type="pres">
      <dgm:prSet presAssocID="{8C3B757F-BE51-444F-9358-4D18A19EA8BD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195854-D603-4C90-8989-231666EACA8F}" type="pres">
      <dgm:prSet presAssocID="{8C3B757F-BE51-444F-9358-4D18A19EA8BD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A46AB7-325C-4108-8EC3-97D9D7C782DF}" type="presOf" srcId="{FEDCBB33-7AB8-45C8-9E65-EC04F1213AA7}" destId="{DF195854-D603-4C90-8989-231666EACA8F}" srcOrd="0" destOrd="0" presId="urn:microsoft.com/office/officeart/2005/8/layout/chevron2"/>
    <dgm:cxn modelId="{4A7FFC1E-6D55-47A1-ADCD-2AD132D2552B}" type="presOf" srcId="{10241152-FFF1-4E5F-A3F4-1E8A7C09CAD2}" destId="{876F9610-8238-4BAC-A20B-0DE626E3D3C2}" srcOrd="0" destOrd="0" presId="urn:microsoft.com/office/officeart/2005/8/layout/chevron2"/>
    <dgm:cxn modelId="{08A6219F-378B-480A-B7AC-9A711312BF09}" type="presOf" srcId="{68EB6214-9C91-411D-8CD3-0497682DECD9}" destId="{942E559F-690E-4338-9263-12AEB3228906}" srcOrd="0" destOrd="0" presId="urn:microsoft.com/office/officeart/2005/8/layout/chevron2"/>
    <dgm:cxn modelId="{B8331BD2-ABF1-497E-85AE-3DCBFEA01566}" srcId="{68EB6214-9C91-411D-8CD3-0497682DECD9}" destId="{15D2F587-C7B4-47A2-B268-1A027CFFF0DD}" srcOrd="0" destOrd="0" parTransId="{B2442B3D-BE54-41EB-B471-DD9D2094077D}" sibTransId="{663C0C45-8C61-4A82-970B-CE58E140A50B}"/>
    <dgm:cxn modelId="{65ED4939-7984-47DC-B8AB-D8C706AD9B9A}" srcId="{EEC5AFCC-8C78-4132-8135-2E4F9C451ED5}" destId="{11E84007-40A3-4079-9501-FA0450C33FBA}" srcOrd="2" destOrd="0" parTransId="{3648AE8E-B4D4-4B40-8F76-A7156DEC843F}" sibTransId="{58952B2B-DB33-4FB1-AF1B-02D36186A038}"/>
    <dgm:cxn modelId="{6EAC2D4B-F603-4192-AD79-334F467AA63C}" srcId="{7EE864B9-4EED-4AE5-8BB9-BA476216094D}" destId="{10241152-FFF1-4E5F-A3F4-1E8A7C09CAD2}" srcOrd="0" destOrd="0" parTransId="{B5C2F50B-8921-4F7C-B5DD-9C2F1E2C9C67}" sibTransId="{8DA09609-4BEF-4A7F-9DC4-982AEB5D783F}"/>
    <dgm:cxn modelId="{9F046A67-C390-41EA-850E-7B4F2CD4E4AB}" srcId="{EEC5AFCC-8C78-4132-8135-2E4F9C451ED5}" destId="{8C3B757F-BE51-444F-9358-4D18A19EA8BD}" srcOrd="4" destOrd="0" parTransId="{20082FC7-8602-4303-B6FB-462DF9AC6680}" sibTransId="{0B326088-E714-4D93-8897-ECC28AE0174E}"/>
    <dgm:cxn modelId="{AFB74D10-CD2C-4061-ADAF-A993E046CBEF}" type="presOf" srcId="{15D2F587-C7B4-47A2-B268-1A027CFFF0DD}" destId="{EB040996-AC08-4615-AF68-DE86F3E74B1D}" srcOrd="0" destOrd="0" presId="urn:microsoft.com/office/officeart/2005/8/layout/chevron2"/>
    <dgm:cxn modelId="{EA526B88-8569-4421-ACE8-FD713FD76EFC}" type="presOf" srcId="{B64D7CE2-DF93-40A7-AF03-E805DE87DB53}" destId="{E8AF9710-0F32-4C23-BC97-680EC4C09346}" srcOrd="0" destOrd="0" presId="urn:microsoft.com/office/officeart/2005/8/layout/chevron2"/>
    <dgm:cxn modelId="{03C0D4A6-10C8-4A39-8A17-441ED06121A8}" type="presOf" srcId="{EEC5AFCC-8C78-4132-8135-2E4F9C451ED5}" destId="{69F0EE4A-BD2C-43A3-BC89-92AD92445673}" srcOrd="0" destOrd="0" presId="urn:microsoft.com/office/officeart/2005/8/layout/chevron2"/>
    <dgm:cxn modelId="{D58FBE44-E1F7-430B-ABFB-EE1B1D8A86BB}" srcId="{EEC5AFCC-8C78-4132-8135-2E4F9C451ED5}" destId="{68EB6214-9C91-411D-8CD3-0497682DECD9}" srcOrd="0" destOrd="0" parTransId="{CA9D6AA2-50B5-4AD7-B00C-9CCEE93CCC4F}" sibTransId="{79591DBC-73F5-4580-B5B4-E5CB6606D800}"/>
    <dgm:cxn modelId="{0F8B3347-77D9-43A5-8751-B756B7B57BF0}" srcId="{A9B17C7B-422F-4575-8CFA-AA0F87E3313E}" destId="{B64D7CE2-DF93-40A7-AF03-E805DE87DB53}" srcOrd="0" destOrd="0" parTransId="{418540B7-AC79-4C41-B798-27B27DDB8D64}" sibTransId="{8504FD3D-9A69-4DC5-B4BD-32AC341C4F26}"/>
    <dgm:cxn modelId="{8B33EA98-4553-4534-9E85-841F416FF283}" srcId="{EEC5AFCC-8C78-4132-8135-2E4F9C451ED5}" destId="{A9B17C7B-422F-4575-8CFA-AA0F87E3313E}" srcOrd="1" destOrd="0" parTransId="{2F9D5DD7-06F9-44EC-81D5-2F5A3AF8A290}" sibTransId="{BB6C8782-0A02-4A6F-98C2-664152FFF048}"/>
    <dgm:cxn modelId="{01F0F44D-A560-4CD4-BD80-DF0375E37C25}" srcId="{11E84007-40A3-4079-9501-FA0450C33FBA}" destId="{10FD7E78-200E-4A7C-A6FA-5101AED30D58}" srcOrd="0" destOrd="0" parTransId="{ABD0EA54-D1C4-4B81-A343-A0B7ED4E2BD0}" sibTransId="{5EAEBE26-A175-4183-95B9-333FF20525D4}"/>
    <dgm:cxn modelId="{E75C38F2-2B76-45F6-9A86-3A4C2C487960}" type="presOf" srcId="{11E84007-40A3-4079-9501-FA0450C33FBA}" destId="{7055A7A1-8BA2-4281-8649-EE5C05D3F427}" srcOrd="0" destOrd="0" presId="urn:microsoft.com/office/officeart/2005/8/layout/chevron2"/>
    <dgm:cxn modelId="{6C9D354B-122C-4080-9FA8-A421DAA53637}" type="presOf" srcId="{8C3B757F-BE51-444F-9358-4D18A19EA8BD}" destId="{53F5685D-BDC9-43B2-8AC4-4C8B7C438282}" srcOrd="0" destOrd="0" presId="urn:microsoft.com/office/officeart/2005/8/layout/chevron2"/>
    <dgm:cxn modelId="{7C080C4B-2976-4693-8585-F0D8E5C38A5C}" srcId="{EEC5AFCC-8C78-4132-8135-2E4F9C451ED5}" destId="{7EE864B9-4EED-4AE5-8BB9-BA476216094D}" srcOrd="3" destOrd="0" parTransId="{B1F0C5F7-14E3-4C1D-B0CF-D411143AD94D}" sibTransId="{0648446D-9ADB-49D9-953B-AECE27CB109F}"/>
    <dgm:cxn modelId="{76654093-6F09-4DB1-B35E-013924010058}" type="presOf" srcId="{7EE864B9-4EED-4AE5-8BB9-BA476216094D}" destId="{3639C6BC-A7F2-4BA2-BF1B-454FA48917EF}" srcOrd="0" destOrd="0" presId="urn:microsoft.com/office/officeart/2005/8/layout/chevron2"/>
    <dgm:cxn modelId="{D0222DEE-579C-4E30-8C3C-EBD9FC0142BA}" type="presOf" srcId="{10FD7E78-200E-4A7C-A6FA-5101AED30D58}" destId="{C9E06869-C199-4CFC-8A3C-FB5F109A80CA}" srcOrd="0" destOrd="0" presId="urn:microsoft.com/office/officeart/2005/8/layout/chevron2"/>
    <dgm:cxn modelId="{AA60A639-1F4C-4007-A7F6-CA00DD3DA8D5}" srcId="{8C3B757F-BE51-444F-9358-4D18A19EA8BD}" destId="{FEDCBB33-7AB8-45C8-9E65-EC04F1213AA7}" srcOrd="0" destOrd="0" parTransId="{CF6E9D75-0DEB-4152-B72C-B5319CEE962A}" sibTransId="{71C4F37B-AF09-4509-87DF-FF66A2CFA5C7}"/>
    <dgm:cxn modelId="{63EB403F-93FE-4D50-9F89-41D92DF788D4}" type="presOf" srcId="{A9B17C7B-422F-4575-8CFA-AA0F87E3313E}" destId="{462F88B5-067A-40FF-B402-EBDC4C53BAB7}" srcOrd="0" destOrd="0" presId="urn:microsoft.com/office/officeart/2005/8/layout/chevron2"/>
    <dgm:cxn modelId="{2787D589-0EEC-46D4-B67B-DDBCC36C2B3A}" type="presParOf" srcId="{69F0EE4A-BD2C-43A3-BC89-92AD92445673}" destId="{C96BDB04-6A7D-42E9-9AF0-8F1A8ED8CBFC}" srcOrd="0" destOrd="0" presId="urn:microsoft.com/office/officeart/2005/8/layout/chevron2"/>
    <dgm:cxn modelId="{816410A5-6AE5-447B-9225-6E9D4461DD96}" type="presParOf" srcId="{C96BDB04-6A7D-42E9-9AF0-8F1A8ED8CBFC}" destId="{942E559F-690E-4338-9263-12AEB3228906}" srcOrd="0" destOrd="0" presId="urn:microsoft.com/office/officeart/2005/8/layout/chevron2"/>
    <dgm:cxn modelId="{0743A401-0366-4E3C-9DD3-2B4AECE90784}" type="presParOf" srcId="{C96BDB04-6A7D-42E9-9AF0-8F1A8ED8CBFC}" destId="{EB040996-AC08-4615-AF68-DE86F3E74B1D}" srcOrd="1" destOrd="0" presId="urn:microsoft.com/office/officeart/2005/8/layout/chevron2"/>
    <dgm:cxn modelId="{3C9A6E37-ED2F-4FA2-8822-251EEFBB5FBE}" type="presParOf" srcId="{69F0EE4A-BD2C-43A3-BC89-92AD92445673}" destId="{FE4B1CEF-D27B-41EC-A4BC-B40B27BE1DBB}" srcOrd="1" destOrd="0" presId="urn:microsoft.com/office/officeart/2005/8/layout/chevron2"/>
    <dgm:cxn modelId="{1531A0E9-E003-4DDD-9E50-77C07F2B774C}" type="presParOf" srcId="{69F0EE4A-BD2C-43A3-BC89-92AD92445673}" destId="{E7574EA7-28BC-428D-A99E-55DC243F355F}" srcOrd="2" destOrd="0" presId="urn:microsoft.com/office/officeart/2005/8/layout/chevron2"/>
    <dgm:cxn modelId="{D00C9C18-C057-4099-98DC-B9E52A6B60DB}" type="presParOf" srcId="{E7574EA7-28BC-428D-A99E-55DC243F355F}" destId="{462F88B5-067A-40FF-B402-EBDC4C53BAB7}" srcOrd="0" destOrd="0" presId="urn:microsoft.com/office/officeart/2005/8/layout/chevron2"/>
    <dgm:cxn modelId="{327CCE72-4D08-45AB-B201-B00C72976C5F}" type="presParOf" srcId="{E7574EA7-28BC-428D-A99E-55DC243F355F}" destId="{E8AF9710-0F32-4C23-BC97-680EC4C09346}" srcOrd="1" destOrd="0" presId="urn:microsoft.com/office/officeart/2005/8/layout/chevron2"/>
    <dgm:cxn modelId="{702C3DFD-9171-4A79-9C6C-3FDE77767A76}" type="presParOf" srcId="{69F0EE4A-BD2C-43A3-BC89-92AD92445673}" destId="{177ADBE3-C865-442E-8703-0770D9B86A80}" srcOrd="3" destOrd="0" presId="urn:microsoft.com/office/officeart/2005/8/layout/chevron2"/>
    <dgm:cxn modelId="{AAD3B0E7-E617-4F64-B2DD-259C17711933}" type="presParOf" srcId="{69F0EE4A-BD2C-43A3-BC89-92AD92445673}" destId="{5C618C02-C50A-4369-BB4E-78357E3B169C}" srcOrd="4" destOrd="0" presId="urn:microsoft.com/office/officeart/2005/8/layout/chevron2"/>
    <dgm:cxn modelId="{FECA0FD2-79DB-49C4-B72D-8B918C4C1BCC}" type="presParOf" srcId="{5C618C02-C50A-4369-BB4E-78357E3B169C}" destId="{7055A7A1-8BA2-4281-8649-EE5C05D3F427}" srcOrd="0" destOrd="0" presId="urn:microsoft.com/office/officeart/2005/8/layout/chevron2"/>
    <dgm:cxn modelId="{73158E0F-E718-465E-B3A9-142F806F4077}" type="presParOf" srcId="{5C618C02-C50A-4369-BB4E-78357E3B169C}" destId="{C9E06869-C199-4CFC-8A3C-FB5F109A80CA}" srcOrd="1" destOrd="0" presId="urn:microsoft.com/office/officeart/2005/8/layout/chevron2"/>
    <dgm:cxn modelId="{682D5B75-6A13-4C9E-8EA7-783AAB423D9D}" type="presParOf" srcId="{69F0EE4A-BD2C-43A3-BC89-92AD92445673}" destId="{9D603DD3-96FD-45CE-861A-66673295B6EC}" srcOrd="5" destOrd="0" presId="urn:microsoft.com/office/officeart/2005/8/layout/chevron2"/>
    <dgm:cxn modelId="{CDECB62E-6F62-4FCE-9B60-4D8F0330D3A8}" type="presParOf" srcId="{69F0EE4A-BD2C-43A3-BC89-92AD92445673}" destId="{16D19A10-AE21-40B2-B699-3D34A488D232}" srcOrd="6" destOrd="0" presId="urn:microsoft.com/office/officeart/2005/8/layout/chevron2"/>
    <dgm:cxn modelId="{68E2F57C-43CA-4497-A019-F7119973E1C5}" type="presParOf" srcId="{16D19A10-AE21-40B2-B699-3D34A488D232}" destId="{3639C6BC-A7F2-4BA2-BF1B-454FA48917EF}" srcOrd="0" destOrd="0" presId="urn:microsoft.com/office/officeart/2005/8/layout/chevron2"/>
    <dgm:cxn modelId="{BBC385EC-CF35-41F0-B0B7-0D1E7CFDEA93}" type="presParOf" srcId="{16D19A10-AE21-40B2-B699-3D34A488D232}" destId="{876F9610-8238-4BAC-A20B-0DE626E3D3C2}" srcOrd="1" destOrd="0" presId="urn:microsoft.com/office/officeart/2005/8/layout/chevron2"/>
    <dgm:cxn modelId="{599A5C40-F355-4050-AF72-7BE8321A250E}" type="presParOf" srcId="{69F0EE4A-BD2C-43A3-BC89-92AD92445673}" destId="{0420B481-6EE4-4F08-A177-914DE535BF04}" srcOrd="7" destOrd="0" presId="urn:microsoft.com/office/officeart/2005/8/layout/chevron2"/>
    <dgm:cxn modelId="{F9B5CCCE-9266-4A51-B668-DA4661AFC0E3}" type="presParOf" srcId="{69F0EE4A-BD2C-43A3-BC89-92AD92445673}" destId="{2075374F-E07B-4DD9-BBFE-CBD7DC5E9786}" srcOrd="8" destOrd="0" presId="urn:microsoft.com/office/officeart/2005/8/layout/chevron2"/>
    <dgm:cxn modelId="{5857715D-5F29-4812-9DE6-3A435045E76C}" type="presParOf" srcId="{2075374F-E07B-4DD9-BBFE-CBD7DC5E9786}" destId="{53F5685D-BDC9-43B2-8AC4-4C8B7C438282}" srcOrd="0" destOrd="0" presId="urn:microsoft.com/office/officeart/2005/8/layout/chevron2"/>
    <dgm:cxn modelId="{F8179760-0468-48EC-B179-8EDCFFD76A55}" type="presParOf" srcId="{2075374F-E07B-4DD9-BBFE-CBD7DC5E9786}" destId="{DF195854-D603-4C90-8989-231666EACA8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E559F-690E-4338-9263-12AEB3228906}">
      <dsp:nvSpPr>
        <dsp:cNvPr id="0" name=""/>
        <dsp:cNvSpPr/>
      </dsp:nvSpPr>
      <dsp:spPr>
        <a:xfrm rot="5400000">
          <a:off x="-146093" y="149544"/>
          <a:ext cx="973954" cy="6817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1.1</a:t>
          </a:r>
        </a:p>
      </dsp:txBody>
      <dsp:txXfrm rot="-5400000">
        <a:off x="0" y="344335"/>
        <a:ext cx="681768" cy="292186"/>
      </dsp:txXfrm>
    </dsp:sp>
    <dsp:sp modelId="{EB040996-AC08-4615-AF68-DE86F3E74B1D}">
      <dsp:nvSpPr>
        <dsp:cNvPr id="0" name=""/>
        <dsp:cNvSpPr/>
      </dsp:nvSpPr>
      <dsp:spPr>
        <a:xfrm rot="5400000">
          <a:off x="3973882" y="-3288662"/>
          <a:ext cx="633403" cy="7217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Khái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niệm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chung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81768" y="34372"/>
        <a:ext cx="7186712" cy="571563"/>
      </dsp:txXfrm>
    </dsp:sp>
    <dsp:sp modelId="{462F88B5-067A-40FF-B402-EBDC4C53BAB7}">
      <dsp:nvSpPr>
        <dsp:cNvPr id="0" name=""/>
        <dsp:cNvSpPr/>
      </dsp:nvSpPr>
      <dsp:spPr>
        <a:xfrm rot="5400000">
          <a:off x="-146093" y="1004997"/>
          <a:ext cx="973954" cy="6817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1.2</a:t>
          </a:r>
        </a:p>
      </dsp:txBody>
      <dsp:txXfrm rot="-5400000">
        <a:off x="0" y="1199788"/>
        <a:ext cx="681768" cy="292186"/>
      </dsp:txXfrm>
    </dsp:sp>
    <dsp:sp modelId="{E8AF9710-0F32-4C23-BC97-680EC4C09346}">
      <dsp:nvSpPr>
        <dsp:cNvPr id="0" name=""/>
        <dsp:cNvSpPr/>
      </dsp:nvSpPr>
      <dsp:spPr>
        <a:xfrm rot="5400000">
          <a:off x="3974049" y="-2433377"/>
          <a:ext cx="633070" cy="7217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Vòng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đời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81768" y="889808"/>
        <a:ext cx="7186728" cy="571262"/>
      </dsp:txXfrm>
    </dsp:sp>
    <dsp:sp modelId="{7055A7A1-8BA2-4281-8649-EE5C05D3F427}">
      <dsp:nvSpPr>
        <dsp:cNvPr id="0" name=""/>
        <dsp:cNvSpPr/>
      </dsp:nvSpPr>
      <dsp:spPr>
        <a:xfrm rot="5400000">
          <a:off x="-146093" y="1860449"/>
          <a:ext cx="973954" cy="6817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1.3</a:t>
          </a:r>
        </a:p>
      </dsp:txBody>
      <dsp:txXfrm rot="-5400000">
        <a:off x="0" y="2055240"/>
        <a:ext cx="681768" cy="292186"/>
      </dsp:txXfrm>
    </dsp:sp>
    <dsp:sp modelId="{C9E06869-C199-4CFC-8A3C-FB5F109A80CA}">
      <dsp:nvSpPr>
        <dsp:cNvPr id="0" name=""/>
        <dsp:cNvSpPr/>
      </dsp:nvSpPr>
      <dsp:spPr>
        <a:xfrm rot="5400000">
          <a:off x="3974049" y="-1577924"/>
          <a:ext cx="633070" cy="7217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Quy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81768" y="1745261"/>
        <a:ext cx="7186728" cy="571262"/>
      </dsp:txXfrm>
    </dsp:sp>
    <dsp:sp modelId="{3639C6BC-A7F2-4BA2-BF1B-454FA48917EF}">
      <dsp:nvSpPr>
        <dsp:cNvPr id="0" name=""/>
        <dsp:cNvSpPr/>
      </dsp:nvSpPr>
      <dsp:spPr>
        <a:xfrm rot="5400000">
          <a:off x="-146093" y="2715901"/>
          <a:ext cx="973954" cy="6817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1.4</a:t>
          </a:r>
        </a:p>
      </dsp:txBody>
      <dsp:txXfrm rot="-5400000">
        <a:off x="0" y="2910692"/>
        <a:ext cx="681768" cy="292186"/>
      </dsp:txXfrm>
    </dsp:sp>
    <dsp:sp modelId="{876F9610-8238-4BAC-A20B-0DE626E3D3C2}">
      <dsp:nvSpPr>
        <dsp:cNvPr id="0" name=""/>
        <dsp:cNvSpPr/>
      </dsp:nvSpPr>
      <dsp:spPr>
        <a:xfrm rot="5400000">
          <a:off x="3974049" y="-722472"/>
          <a:ext cx="633070" cy="7217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thống</a:t>
          </a:r>
          <a:endParaRPr lang="en-US" sz="3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81768" y="2600713"/>
        <a:ext cx="7186728" cy="571262"/>
      </dsp:txXfrm>
    </dsp:sp>
    <dsp:sp modelId="{53F5685D-BDC9-43B2-8AC4-4C8B7C438282}">
      <dsp:nvSpPr>
        <dsp:cNvPr id="0" name=""/>
        <dsp:cNvSpPr/>
      </dsp:nvSpPr>
      <dsp:spPr>
        <a:xfrm rot="5400000">
          <a:off x="-146093" y="3571353"/>
          <a:ext cx="973954" cy="6817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1.5</a:t>
          </a:r>
        </a:p>
      </dsp:txBody>
      <dsp:txXfrm rot="-5400000">
        <a:off x="0" y="3766144"/>
        <a:ext cx="681768" cy="292186"/>
      </dsp:txXfrm>
    </dsp:sp>
    <dsp:sp modelId="{DF195854-D603-4C90-8989-231666EACA8F}">
      <dsp:nvSpPr>
        <dsp:cNvPr id="0" name=""/>
        <dsp:cNvSpPr/>
      </dsp:nvSpPr>
      <dsp:spPr>
        <a:xfrm rot="5400000">
          <a:off x="3974049" y="132979"/>
          <a:ext cx="633070" cy="7217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thiết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hướng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đối</a:t>
          </a: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endParaRPr lang="en-US" sz="3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81768" y="3456164"/>
        <a:ext cx="7186728" cy="571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7F06D-B7DD-47AF-B97D-E75B78BBCACB}" type="datetimeFigureOut">
              <a:rPr lang="en-US" smtClean="0"/>
              <a:t>08-May-24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2B679-2090-4DDA-9535-1FB9CB66C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207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1CCA2-458D-4E9B-94B3-8E61AB262D1B}" type="datetimeFigureOut">
              <a:rPr lang="en-US" smtClean="0"/>
              <a:t>08-May-24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0C27C-0D3F-4DDC-B0C0-66F483703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576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80C27C-0D3F-4DDC-B0C0-66F4837037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80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404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1544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317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38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3862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1916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084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9689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6713" y="6543675"/>
            <a:ext cx="2228850" cy="263525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</a:lstStyle>
          <a:p>
            <a:fld id="{E9B6E23A-4619-4779-8025-A39D56682C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93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7972" y="167768"/>
            <a:ext cx="7330054" cy="467995"/>
          </a:xfrm>
          <a:prstGeom prst="rect">
            <a:avLst/>
          </a:prstGeom>
        </p:spPr>
        <p:txBody>
          <a:bodyPr lIns="0" tIns="0" rIns="0" bIns="0"/>
          <a:lstStyle>
            <a:lvl1pPr>
              <a:defRPr sz="29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77921" y="1833372"/>
            <a:ext cx="4055269" cy="460248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08-May-24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0722" y="6490848"/>
            <a:ext cx="337079" cy="2260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00" b="1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91074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7972" y="167768"/>
            <a:ext cx="7330054" cy="467995"/>
          </a:xfrm>
          <a:prstGeom prst="rect">
            <a:avLst/>
          </a:prstGeom>
        </p:spPr>
        <p:txBody>
          <a:bodyPr lIns="0" tIns="0" rIns="0" bIns="0"/>
          <a:lstStyle>
            <a:lvl1pPr>
              <a:defRPr sz="29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08-May-24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450722" y="6490848"/>
            <a:ext cx="337079" cy="2260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00" b="1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010678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0"/>
            <a:ext cx="9905999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7972" y="167768"/>
            <a:ext cx="7330054" cy="467995"/>
          </a:xfrm>
          <a:prstGeom prst="rect">
            <a:avLst/>
          </a:prstGeom>
        </p:spPr>
        <p:txBody>
          <a:bodyPr lIns="0" tIns="0" rIns="0" bIns="0"/>
          <a:lstStyle>
            <a:lvl1pPr>
              <a:defRPr sz="29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08-May-24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450722" y="6490848"/>
            <a:ext cx="337079" cy="2260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00" b="1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90496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08-May-24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450722" y="6490848"/>
            <a:ext cx="337079" cy="2260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00" b="1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069955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817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BBD354C6-7883-4A94-8661-063F8DD3DE15}" type="datetimeFigureOut">
              <a:rPr lang="en-US" smtClean="0"/>
              <a:t>08-May-24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DBD9626-4F6B-402C-B29B-F542160FC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302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6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E22246-EDD3-1F38-3156-5A918AAAF97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4762"/>
            <a:ext cx="99060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8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32" r:id="rId2"/>
    <p:sldLayoutId id="2147483733" r:id="rId3"/>
    <p:sldLayoutId id="2147483734" r:id="rId4"/>
    <p:sldLayoutId id="2147483735" r:id="rId5"/>
    <p:sldLayoutId id="2147483736" r:id="rId6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7" y="0"/>
            <a:ext cx="9878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5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82611" y="1343723"/>
            <a:ext cx="569246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MÔN HỌC: PHÂN TÍCH THIẾT KẾ HỆ THỐNG THÔNG TIN</a:t>
            </a:r>
          </a:p>
          <a:p>
            <a:pPr algn="ctr">
              <a:spcAft>
                <a:spcPts val="600"/>
              </a:spcAft>
            </a:pPr>
            <a:endParaRPr lang="en-US" sz="1100" b="1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1:</a:t>
            </a:r>
          </a:p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VỀ PTTKHTTT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200" dirty="0">
              <a:solidFill>
                <a:srgbClr val="FF6600"/>
              </a:solidFill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b="1" dirty="0" smtClean="0">
                <a:cs typeface="Times New Roman" panose="02020603050405020304" pitchFamily="18" charset="0"/>
              </a:rPr>
              <a:t>GV: </a:t>
            </a:r>
            <a:r>
              <a:rPr lang="en-US" b="1" dirty="0" err="1" smtClean="0">
                <a:cs typeface="Times New Roman" panose="02020603050405020304" pitchFamily="18" charset="0"/>
              </a:rPr>
              <a:t>Nguyễn</a:t>
            </a:r>
            <a:r>
              <a:rPr lang="en-US" b="1" dirty="0" smtClean="0"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cs typeface="Times New Roman" panose="02020603050405020304" pitchFamily="18" charset="0"/>
              </a:rPr>
              <a:t>Thị</a:t>
            </a:r>
            <a:r>
              <a:rPr lang="en-US" b="1" dirty="0" smtClean="0"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cs typeface="Times New Roman" panose="02020603050405020304" pitchFamily="18" charset="0"/>
              </a:rPr>
              <a:t>Nga</a:t>
            </a:r>
            <a:endParaRPr lang="en-US" b="1" dirty="0" smtClean="0"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sz="2000" b="1" dirty="0" smtClean="0">
                <a:cs typeface="Times New Roman" panose="02020603050405020304" pitchFamily="18" charset="0"/>
              </a:rPr>
              <a:t>Mobile: 0946.046.662</a:t>
            </a:r>
            <a:br>
              <a:rPr lang="en-US" sz="2000" b="1" dirty="0" smtClean="0">
                <a:cs typeface="Times New Roman" panose="02020603050405020304" pitchFamily="18" charset="0"/>
              </a:rPr>
            </a:br>
            <a:r>
              <a:rPr lang="en-US" sz="2000" b="1" dirty="0" smtClean="0">
                <a:cs typeface="Times New Roman" panose="02020603050405020304" pitchFamily="18" charset="0"/>
              </a:rPr>
              <a:t>Email: ngant2@gmail.com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1911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Slide </a:t>
            </a:r>
            <a:fld id="{A3E6F32C-0A66-4C52-935C-E0A321BB8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67684" y="169333"/>
            <a:ext cx="8163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	</a:t>
            </a:r>
            <a:r>
              <a:rPr 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QUÁT NỘI DUNG BÀI HỌC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624212803"/>
              </p:ext>
            </p:extLst>
          </p:nvPr>
        </p:nvGraphicFramePr>
        <p:xfrm>
          <a:off x="1650999" y="1227666"/>
          <a:ext cx="7899401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40624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0453" y="100025"/>
            <a:ext cx="59429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chemeClr val="bg1"/>
                </a:solidFill>
                <a:latin typeface="Times New Roman"/>
                <a:cs typeface="Times New Roman"/>
              </a:rPr>
              <a:t>XÉT VÍ DỤ: Quan </a:t>
            </a:r>
            <a:r>
              <a:rPr sz="3200" spc="-5" dirty="0">
                <a:solidFill>
                  <a:schemeClr val="bg1"/>
                </a:solidFill>
                <a:latin typeface="Times New Roman"/>
                <a:cs typeface="Times New Roman"/>
              </a:rPr>
              <a:t>sát </a:t>
            </a:r>
            <a:r>
              <a:rPr sz="3200" dirty="0">
                <a:solidFill>
                  <a:schemeClr val="bg1"/>
                </a:solidFill>
                <a:latin typeface="Times New Roman"/>
                <a:cs typeface="Times New Roman"/>
              </a:rPr>
              <a:t>1 chiếc ô</a:t>
            </a:r>
            <a:r>
              <a:rPr sz="3200" spc="-1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chemeClr val="bg1"/>
                </a:solidFill>
                <a:latin typeface="Times New Roman"/>
                <a:cs typeface="Times New Roman"/>
              </a:rPr>
              <a:t>tô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0" y="1127761"/>
            <a:ext cx="8376284" cy="2517775"/>
            <a:chOff x="381000" y="1127760"/>
            <a:chExt cx="8376284" cy="2517775"/>
          </a:xfrm>
        </p:grpSpPr>
        <p:sp>
          <p:nvSpPr>
            <p:cNvPr id="4" name="object 4"/>
            <p:cNvSpPr/>
            <p:nvPr/>
          </p:nvSpPr>
          <p:spPr>
            <a:xfrm>
              <a:off x="381000" y="2209800"/>
              <a:ext cx="4003548" cy="10424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34484" y="1127760"/>
              <a:ext cx="4122419" cy="25176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68476" y="1618615"/>
            <a:ext cx="37166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i="1" dirty="0">
                <a:solidFill>
                  <a:srgbClr val="000066"/>
                </a:solidFill>
                <a:latin typeface="Times New Roman"/>
                <a:cs typeface="Times New Roman"/>
              </a:rPr>
              <a:t>Cách </a:t>
            </a:r>
            <a:r>
              <a:rPr sz="2400" b="1" i="1" spc="-5" dirty="0">
                <a:solidFill>
                  <a:srgbClr val="000066"/>
                </a:solidFill>
                <a:latin typeface="Times New Roman"/>
                <a:cs typeface="Times New Roman"/>
              </a:rPr>
              <a:t>nhìn </a:t>
            </a:r>
            <a:r>
              <a:rPr sz="2400" b="1" i="1" dirty="0">
                <a:solidFill>
                  <a:srgbClr val="000066"/>
                </a:solidFill>
                <a:latin typeface="Times New Roman"/>
                <a:cs typeface="Times New Roman"/>
              </a:rPr>
              <a:t>của </a:t>
            </a:r>
            <a:r>
              <a:rPr sz="2400" b="1" i="1" spc="-5" dirty="0">
                <a:solidFill>
                  <a:srgbClr val="000066"/>
                </a:solidFill>
                <a:latin typeface="Times New Roman"/>
                <a:cs typeface="Times New Roman"/>
              </a:rPr>
              <a:t>người</a:t>
            </a:r>
            <a:r>
              <a:rPr sz="2400" b="1" i="1" spc="-85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66"/>
                </a:solidFill>
                <a:latin typeface="Times New Roman"/>
                <a:cs typeface="Times New Roman"/>
              </a:rPr>
              <a:t>thường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1494840" y="3624454"/>
            <a:ext cx="7786370" cy="249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78780" marR="40640" indent="-1062355">
              <a:spcBef>
                <a:spcPts val="100"/>
              </a:spcBef>
            </a:pPr>
            <a:r>
              <a:rPr sz="2400" b="1" i="1" dirty="0">
                <a:solidFill>
                  <a:srgbClr val="000066"/>
                </a:solidFill>
                <a:latin typeface="Times New Roman"/>
                <a:cs typeface="Times New Roman"/>
              </a:rPr>
              <a:t>Cách </a:t>
            </a:r>
            <a:r>
              <a:rPr sz="2400" b="1" i="1" spc="-5" dirty="0">
                <a:solidFill>
                  <a:srgbClr val="000066"/>
                </a:solidFill>
                <a:latin typeface="Times New Roman"/>
                <a:cs typeface="Times New Roman"/>
              </a:rPr>
              <a:t>nhìn </a:t>
            </a:r>
            <a:r>
              <a:rPr sz="2400" b="1" i="1" dirty="0">
                <a:solidFill>
                  <a:srgbClr val="000066"/>
                </a:solidFill>
                <a:latin typeface="Times New Roman"/>
                <a:cs typeface="Times New Roman"/>
              </a:rPr>
              <a:t>của chuyên</a:t>
            </a:r>
            <a:r>
              <a:rPr sz="2400" b="1" i="1" spc="-90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66"/>
                </a:solidFill>
                <a:latin typeface="Times New Roman"/>
                <a:cs typeface="Times New Roman"/>
              </a:rPr>
              <a:t>gia  </a:t>
            </a:r>
            <a:r>
              <a:rPr sz="2400" b="1" i="1" spc="-5" dirty="0">
                <a:solidFill>
                  <a:srgbClr val="000066"/>
                </a:solidFill>
                <a:latin typeface="Times New Roman"/>
                <a:cs typeface="Times New Roman"/>
              </a:rPr>
              <a:t>phân</a:t>
            </a:r>
            <a:r>
              <a:rPr sz="2400" b="1" i="1" dirty="0">
                <a:solidFill>
                  <a:srgbClr val="000066"/>
                </a:solidFill>
                <a:latin typeface="Times New Roman"/>
                <a:cs typeface="Times New Roman"/>
              </a:rPr>
              <a:t> tích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200"/>
              </a:lnSpc>
              <a:spcBef>
                <a:spcPts val="2120"/>
              </a:spcBef>
            </a:pPr>
            <a:r>
              <a:rPr sz="2400" dirty="0">
                <a:solidFill>
                  <a:srgbClr val="000066"/>
                </a:solidFill>
                <a:latin typeface="Wingdings"/>
                <a:cs typeface="Wingdings"/>
              </a:rPr>
              <a:t>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 Sự trợ giúp của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chuyên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gia đóng vai trò rất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quan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trọng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trong 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những giai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đoạn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đầu của quá trình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phát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triển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phần </a:t>
            </a:r>
            <a:r>
              <a:rPr sz="2400" spc="-10" dirty="0">
                <a:solidFill>
                  <a:srgbClr val="000066"/>
                </a:solidFill>
                <a:latin typeface="Times New Roman"/>
                <a:cs typeface="Times New Roman"/>
              </a:rPr>
              <a:t>mềm,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là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môt 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trong những lý do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khiến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cho phương pháp hướng đối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tượng </a:t>
            </a:r>
            <a:r>
              <a:rPr sz="2400" spc="590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được nhiều người hưởng</a:t>
            </a:r>
            <a:r>
              <a:rPr sz="2400" spc="-15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ứng.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691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48185"/>
            <a:ext cx="8059420" cy="474027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 algn="just">
              <a:spcBef>
                <a:spcPts val="1255"/>
              </a:spcBef>
            </a:pPr>
            <a:r>
              <a:rPr sz="3200" b="1" dirty="0">
                <a:solidFill>
                  <a:srgbClr val="000033"/>
                </a:solidFill>
                <a:latin typeface="Times New Roman"/>
                <a:cs typeface="Times New Roman"/>
              </a:rPr>
              <a:t>1.1.1. Hệ</a:t>
            </a:r>
            <a:r>
              <a:rPr sz="3200" b="1" spc="-5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3200" dirty="0">
              <a:latin typeface="Times New Roman"/>
              <a:cs typeface="Times New Roman"/>
            </a:endParaRPr>
          </a:p>
          <a:p>
            <a:pPr marL="477520" indent="-464820" algn="just">
              <a:spcBef>
                <a:spcPts val="1555"/>
              </a:spcBef>
              <a:buClr>
                <a:srgbClr val="35BAE4"/>
              </a:buClr>
              <a:buSzPct val="114285"/>
              <a:buFont typeface="Wingdings"/>
              <a:buChar char=""/>
              <a:tabLst>
                <a:tab pos="477520" algn="l"/>
              </a:tabLst>
            </a:pPr>
            <a:r>
              <a:rPr sz="28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Định</a:t>
            </a:r>
            <a:r>
              <a:rPr sz="2800" i="1" dirty="0">
                <a:solidFill>
                  <a:srgbClr val="000033"/>
                </a:solidFill>
                <a:latin typeface="Times New Roman"/>
                <a:cs typeface="Times New Roman"/>
              </a:rPr>
              <a:t> nghĩa</a:t>
            </a:r>
            <a:endParaRPr sz="2800" dirty="0"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30000"/>
              </a:lnSpc>
              <a:spcBef>
                <a:spcPts val="15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là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những phần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tử </a:t>
            </a:r>
            <a:r>
              <a:rPr sz="2800" spc="-10" dirty="0">
                <a:solidFill>
                  <a:srgbClr val="000033"/>
                </a:solidFill>
                <a:latin typeface="Times New Roman"/>
                <a:cs typeface="Times New Roman"/>
              </a:rPr>
              <a:t>có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ràng buộc, tương tác  lẫn nhau </a:t>
            </a:r>
            <a:r>
              <a:rPr sz="2800" spc="-10" dirty="0">
                <a:solidFill>
                  <a:srgbClr val="000033"/>
                </a:solidFill>
                <a:latin typeface="Times New Roman"/>
                <a:cs typeface="Times New Roman"/>
              </a:rPr>
              <a:t>cùng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đạt được </a:t>
            </a:r>
            <a:r>
              <a:rPr sz="28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mục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đích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nhất định, hay </a:t>
            </a:r>
            <a:r>
              <a:rPr sz="2800" spc="-10" dirty="0">
                <a:solidFill>
                  <a:srgbClr val="000033"/>
                </a:solidFill>
                <a:latin typeface="Times New Roman"/>
                <a:cs typeface="Times New Roman"/>
              </a:rPr>
              <a:t>gây 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ra những tác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động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nhất</a:t>
            </a:r>
            <a:r>
              <a:rPr sz="2800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định.</a:t>
            </a:r>
            <a:endParaRPr sz="2800" dirty="0">
              <a:latin typeface="Times New Roman"/>
              <a:cs typeface="Times New Roman"/>
            </a:endParaRPr>
          </a:p>
          <a:p>
            <a:pPr marL="370840" indent="-358140" algn="just">
              <a:spcBef>
                <a:spcPts val="151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800" i="1" dirty="0">
                <a:solidFill>
                  <a:srgbClr val="00072A"/>
                </a:solidFill>
                <a:latin typeface="Times New Roman"/>
                <a:cs typeface="Times New Roman"/>
              </a:rPr>
              <a:t>Thành phần </a:t>
            </a:r>
            <a:r>
              <a:rPr sz="2800" i="1" spc="-5" dirty="0">
                <a:solidFill>
                  <a:srgbClr val="00072A"/>
                </a:solidFill>
                <a:latin typeface="Times New Roman"/>
                <a:cs typeface="Times New Roman"/>
              </a:rPr>
              <a:t>của </a:t>
            </a:r>
            <a:r>
              <a:rPr sz="2800" i="1" dirty="0">
                <a:solidFill>
                  <a:srgbClr val="00072A"/>
                </a:solidFill>
                <a:latin typeface="Times New Roman"/>
                <a:cs typeface="Times New Roman"/>
              </a:rPr>
              <a:t>hệ thống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bao</a:t>
            </a:r>
            <a:r>
              <a:rPr sz="2800" spc="-4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gồm:</a:t>
            </a:r>
            <a:endParaRPr sz="2800" dirty="0">
              <a:latin typeface="Times New Roman"/>
              <a:cs typeface="Times New Roman"/>
            </a:endParaRPr>
          </a:p>
          <a:p>
            <a:pPr marL="789305" lvl="1" indent="-297180" algn="just">
              <a:spcBef>
                <a:spcPts val="1570"/>
              </a:spcBef>
              <a:buClr>
                <a:srgbClr val="0066FF"/>
              </a:buClr>
              <a:buFont typeface="Arial"/>
              <a:buChar char="•"/>
              <a:tabLst>
                <a:tab pos="789940" algn="l"/>
              </a:tabLst>
            </a:pPr>
            <a:r>
              <a:rPr sz="2500" spc="-5" dirty="0">
                <a:solidFill>
                  <a:srgbClr val="00072A"/>
                </a:solidFill>
                <a:latin typeface="Times New Roman"/>
                <a:cs typeface="Times New Roman"/>
              </a:rPr>
              <a:t>Các phần tử của hệ</a:t>
            </a:r>
            <a:r>
              <a:rPr sz="2500" spc="4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072A"/>
                </a:solidFill>
                <a:latin typeface="Times New Roman"/>
                <a:cs typeface="Times New Roman"/>
              </a:rPr>
              <a:t>thống;</a:t>
            </a:r>
            <a:endParaRPr sz="2500" dirty="0">
              <a:latin typeface="Times New Roman"/>
              <a:cs typeface="Times New Roman"/>
            </a:endParaRPr>
          </a:p>
          <a:p>
            <a:pPr marL="789305" lvl="1" indent="-297180" algn="just">
              <a:spcBef>
                <a:spcPts val="1505"/>
              </a:spcBef>
              <a:buClr>
                <a:srgbClr val="0066FF"/>
              </a:buClr>
              <a:buFont typeface="Arial"/>
              <a:buChar char="•"/>
              <a:tabLst>
                <a:tab pos="789940" algn="l"/>
              </a:tabLst>
            </a:pPr>
            <a:r>
              <a:rPr sz="2500" spc="-5" dirty="0">
                <a:solidFill>
                  <a:srgbClr val="00072A"/>
                </a:solidFill>
                <a:latin typeface="Times New Roman"/>
                <a:cs typeface="Times New Roman"/>
              </a:rPr>
              <a:t>Các quan hệ giữa </a:t>
            </a:r>
            <a:r>
              <a:rPr sz="2500" spc="-10" dirty="0">
                <a:solidFill>
                  <a:srgbClr val="00072A"/>
                </a:solidFill>
                <a:latin typeface="Times New Roman"/>
                <a:cs typeface="Times New Roman"/>
              </a:rPr>
              <a:t>các </a:t>
            </a:r>
            <a:r>
              <a:rPr sz="2500" spc="-5" dirty="0">
                <a:solidFill>
                  <a:srgbClr val="00072A"/>
                </a:solidFill>
                <a:latin typeface="Times New Roman"/>
                <a:cs typeface="Times New Roman"/>
              </a:rPr>
              <a:t>phần</a:t>
            </a:r>
            <a:r>
              <a:rPr sz="2500" spc="9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072A"/>
                </a:solidFill>
                <a:latin typeface="Times New Roman"/>
                <a:cs typeface="Times New Roman"/>
              </a:rPr>
              <a:t>tử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52642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3" y="935600"/>
            <a:ext cx="8060055" cy="480187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 algn="just">
              <a:spcBef>
                <a:spcPts val="1355"/>
              </a:spcBef>
            </a:pPr>
            <a:r>
              <a:rPr sz="3200" b="1" dirty="0">
                <a:solidFill>
                  <a:srgbClr val="000033"/>
                </a:solidFill>
                <a:latin typeface="Times New Roman"/>
                <a:cs typeface="Times New Roman"/>
              </a:rPr>
              <a:t>1.1.1. Hệ</a:t>
            </a:r>
            <a:r>
              <a:rPr sz="3200" b="1" spc="-5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3200"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30000"/>
              </a:lnSpc>
              <a:spcBef>
                <a:spcPts val="80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800" i="1" dirty="0">
                <a:solidFill>
                  <a:srgbClr val="00072A"/>
                </a:solidFill>
                <a:latin typeface="Times New Roman"/>
                <a:cs typeface="Times New Roman"/>
              </a:rPr>
              <a:t>Sự hoạt </a:t>
            </a:r>
            <a:r>
              <a:rPr sz="2800" i="1" spc="-5" dirty="0">
                <a:solidFill>
                  <a:srgbClr val="00072A"/>
                </a:solidFill>
                <a:latin typeface="Times New Roman"/>
                <a:cs typeface="Times New Roman"/>
              </a:rPr>
              <a:t>động của </a:t>
            </a:r>
            <a:r>
              <a:rPr sz="2800" i="1" spc="-10" dirty="0">
                <a:solidFill>
                  <a:srgbClr val="00072A"/>
                </a:solidFill>
                <a:latin typeface="Times New Roman"/>
                <a:cs typeface="Times New Roman"/>
              </a:rPr>
              <a:t>hệ </a:t>
            </a:r>
            <a:r>
              <a:rPr sz="2800" i="1" dirty="0">
                <a:solidFill>
                  <a:srgbClr val="00072A"/>
                </a:solidFill>
                <a:latin typeface="Times New Roman"/>
                <a:cs typeface="Times New Roman"/>
              </a:rPr>
              <a:t>thống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: </a:t>
            </a:r>
            <a:r>
              <a:rPr sz="2800" spc="-10" dirty="0">
                <a:solidFill>
                  <a:srgbClr val="00072A"/>
                </a:solidFill>
                <a:latin typeface="Times New Roman"/>
                <a:cs typeface="Times New Roman"/>
              </a:rPr>
              <a:t>là các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phần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tử của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hệ  thống,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trong </a:t>
            </a:r>
            <a:r>
              <a:rPr sz="2800" spc="-10" dirty="0">
                <a:solidFill>
                  <a:srgbClr val="00072A"/>
                </a:solidFill>
                <a:latin typeface="Times New Roman"/>
                <a:cs typeface="Times New Roman"/>
              </a:rPr>
              <a:t>các mối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ràng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buộc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đã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định,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cùng cộng  tác với nhau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để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thực hiện </a:t>
            </a:r>
            <a:r>
              <a:rPr sz="28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mục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đích chung của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hệ  thống.</a:t>
            </a:r>
            <a:endParaRPr sz="2800">
              <a:latin typeface="Times New Roman"/>
              <a:cs typeface="Times New Roman"/>
            </a:endParaRPr>
          </a:p>
          <a:p>
            <a:pPr marL="370205" marR="6350" indent="-358140" algn="just">
              <a:lnSpc>
                <a:spcPts val="5040"/>
              </a:lnSpc>
              <a:spcBef>
                <a:spcPts val="280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800" i="1" spc="-5" dirty="0">
                <a:solidFill>
                  <a:srgbClr val="00072A"/>
                </a:solidFill>
                <a:latin typeface="Times New Roman"/>
                <a:cs typeface="Times New Roman"/>
              </a:rPr>
              <a:t>Mục đích của </a:t>
            </a:r>
            <a:r>
              <a:rPr sz="2800" i="1" dirty="0">
                <a:solidFill>
                  <a:srgbClr val="00072A"/>
                </a:solidFill>
                <a:latin typeface="Times New Roman"/>
                <a:cs typeface="Times New Roman"/>
              </a:rPr>
              <a:t>hệ thống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: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thường thể </a:t>
            </a:r>
            <a:r>
              <a:rPr sz="2800" spc="-10" dirty="0">
                <a:solidFill>
                  <a:srgbClr val="00072A"/>
                </a:solidFill>
                <a:latin typeface="Times New Roman"/>
                <a:cs typeface="Times New Roman"/>
              </a:rPr>
              <a:t>hiện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ở chỗ </a:t>
            </a:r>
            <a:r>
              <a:rPr sz="2800" spc="-15" dirty="0">
                <a:solidFill>
                  <a:srgbClr val="00072A"/>
                </a:solidFill>
                <a:latin typeface="Times New Roman"/>
                <a:cs typeface="Times New Roman"/>
              </a:rPr>
              <a:t>hệ 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thống</a:t>
            </a:r>
            <a:r>
              <a:rPr sz="2800" spc="24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72A"/>
                </a:solidFill>
                <a:latin typeface="Times New Roman"/>
                <a:cs typeface="Times New Roman"/>
              </a:rPr>
              <a:t>nhận</a:t>
            </a:r>
            <a:r>
              <a:rPr sz="2800" spc="24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những</a:t>
            </a:r>
            <a:r>
              <a:rPr sz="2800" spc="25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72A"/>
                </a:solidFill>
                <a:latin typeface="Times New Roman"/>
                <a:cs typeface="Times New Roman"/>
              </a:rPr>
              <a:t>cái</a:t>
            </a:r>
            <a:r>
              <a:rPr sz="2800" spc="23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vào</a:t>
            </a:r>
            <a:r>
              <a:rPr sz="2800" spc="24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để</a:t>
            </a:r>
            <a:r>
              <a:rPr sz="2800" spc="229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tạo</a:t>
            </a:r>
            <a:r>
              <a:rPr sz="2800" spc="24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thành</a:t>
            </a:r>
            <a:r>
              <a:rPr sz="2800" spc="24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những</a:t>
            </a:r>
            <a:r>
              <a:rPr sz="2800" spc="24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72A"/>
                </a:solidFill>
                <a:latin typeface="Times New Roman"/>
                <a:cs typeface="Times New Roman"/>
              </a:rPr>
              <a:t>cái</a:t>
            </a:r>
            <a:r>
              <a:rPr sz="2800" spc="229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ra</a:t>
            </a:r>
            <a:endParaRPr sz="2800">
              <a:latin typeface="Times New Roman"/>
              <a:cs typeface="Times New Roman"/>
            </a:endParaRPr>
          </a:p>
          <a:p>
            <a:pPr marL="370205" algn="just">
              <a:spcBef>
                <a:spcPts val="1235"/>
              </a:spcBef>
            </a:pPr>
            <a:r>
              <a:rPr sz="2800" spc="-5" dirty="0">
                <a:solidFill>
                  <a:srgbClr val="00072A"/>
                </a:solidFill>
                <a:latin typeface="Times New Roman"/>
                <a:cs typeface="Times New Roman"/>
              </a:rPr>
              <a:t>nhất</a:t>
            </a:r>
            <a:r>
              <a:rPr sz="2800" spc="-2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72A"/>
                </a:solidFill>
                <a:latin typeface="Times New Roman"/>
                <a:cs typeface="Times New Roman"/>
              </a:rPr>
              <a:t>định.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5</a:t>
            </a:fld>
            <a:endParaRPr spc="-5" dirty="0"/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900" b="1" i="0" kern="1200">
                <a:solidFill>
                  <a:srgbClr val="C000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lang="en-US" spc="-5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lang="en-US" spc="5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pc="-125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58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36222"/>
            <a:ext cx="8058150" cy="194691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spcBef>
                <a:spcPts val="178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1.1.1. Hệ</a:t>
            </a:r>
            <a:r>
              <a:rPr sz="2800" b="1" spc="-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  <a:p>
            <a:pPr marL="370205" marR="5080" indent="-358140">
              <a:lnSpc>
                <a:spcPct val="150000"/>
              </a:lnSpc>
              <a:spcBef>
                <a:spcPts val="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8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Ví </a:t>
            </a:r>
            <a:r>
              <a:rPr sz="2800" i="1" dirty="0">
                <a:solidFill>
                  <a:srgbClr val="000033"/>
                </a:solidFill>
                <a:latin typeface="Times New Roman"/>
                <a:cs typeface="Times New Roman"/>
              </a:rPr>
              <a:t>dụ: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800" spc="-10" dirty="0">
                <a:solidFill>
                  <a:srgbClr val="000033"/>
                </a:solidFill>
                <a:latin typeface="Times New Roman"/>
                <a:cs typeface="Times New Roman"/>
              </a:rPr>
              <a:t>mặt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trời,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hệ thống </a:t>
            </a:r>
            <a:r>
              <a:rPr sz="2800" spc="-10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trường đại học,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hệ  thống </a:t>
            </a:r>
            <a:r>
              <a:rPr sz="2800" spc="-10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ngành </a:t>
            </a:r>
            <a:r>
              <a:rPr sz="2800" spc="-5" dirty="0">
                <a:solidFill>
                  <a:srgbClr val="000033"/>
                </a:solidFill>
                <a:latin typeface="Times New Roman"/>
                <a:cs typeface="Times New Roman"/>
              </a:rPr>
              <a:t>sản</a:t>
            </a:r>
            <a:r>
              <a:rPr sz="2800" spc="-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33"/>
                </a:solidFill>
                <a:latin typeface="Times New Roman"/>
                <a:cs typeface="Times New Roman"/>
              </a:rPr>
              <a:t>xuất…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14273" y="3198876"/>
            <a:ext cx="7544561" cy="29420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6</a:t>
            </a:fld>
            <a:endParaRPr spc="-5" dirty="0"/>
          </a:p>
        </p:txBody>
      </p:sp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78313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3" y="922159"/>
            <a:ext cx="8060055" cy="508825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 algn="just">
              <a:spcBef>
                <a:spcPts val="18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1.1.2. Hệ thống thông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800">
              <a:latin typeface="Times New Roman"/>
              <a:cs typeface="Times New Roman"/>
            </a:endParaRPr>
          </a:p>
          <a:p>
            <a:pPr marL="370205" marR="6985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Hệ thống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thông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tin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(HTTT)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là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một nhóm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thành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tố tác  động lẫn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nhau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để tạo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ra thông</a:t>
            </a:r>
            <a:r>
              <a:rPr sz="2400" b="1" i="1" spc="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400" dirty="0">
              <a:latin typeface="Times New Roman"/>
              <a:cs typeface="Times New Roman"/>
            </a:endParaRPr>
          </a:p>
          <a:p>
            <a:pPr marL="789305" marR="8255" lvl="1" indent="-297180" algn="just">
              <a:lnSpc>
                <a:spcPct val="150000"/>
              </a:lnSpc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HTTT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bao gồm cả con người, các phần cứng, phần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mềm,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các quy trình và dữ</a:t>
            </a:r>
            <a:r>
              <a:rPr sz="2400" spc="-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liệu.</a:t>
            </a:r>
            <a:endParaRPr sz="2400" dirty="0">
              <a:latin typeface="Times New Roman"/>
              <a:cs typeface="Times New Roman"/>
            </a:endParaRPr>
          </a:p>
          <a:p>
            <a:pPr marL="789305" marR="6350" lvl="1" indent="-297180" algn="just">
              <a:lnSpc>
                <a:spcPct val="150000"/>
              </a:lnSpc>
              <a:spcBef>
                <a:spcPts val="5"/>
              </a:spcBef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HTTT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thực hiện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công việc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gồm: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thu thập, truyền, lưu  trữ, xử lý và hiển thị thông</a:t>
            </a:r>
            <a:r>
              <a:rPr sz="2400" spc="-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tin.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956944" algn="just">
              <a:lnSpc>
                <a:spcPct val="101699"/>
              </a:lnSpc>
              <a:spcBef>
                <a:spcPts val="875"/>
              </a:spcBef>
            </a:pPr>
            <a:r>
              <a:rPr sz="2000" i="1" dirty="0">
                <a:solidFill>
                  <a:srgbClr val="000033"/>
                </a:solidFill>
                <a:latin typeface="Times New Roman"/>
                <a:cs typeface="Times New Roman"/>
              </a:rPr>
              <a:t>Như vậy HTTT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là một </a:t>
            </a:r>
            <a:r>
              <a:rPr sz="20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trường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hợp riêng </a:t>
            </a:r>
            <a:r>
              <a:rPr sz="20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của </a:t>
            </a:r>
            <a:r>
              <a:rPr sz="2000" i="1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trong đó </a:t>
            </a:r>
            <a:r>
              <a:rPr sz="2000" i="1" dirty="0">
                <a:solidFill>
                  <a:srgbClr val="000033"/>
                </a:solidFill>
                <a:latin typeface="Times New Roman"/>
                <a:cs typeface="Times New Roman"/>
              </a:rPr>
              <a:t>mục 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đích </a:t>
            </a:r>
            <a:r>
              <a:rPr sz="20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trung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tâm là tạo </a:t>
            </a:r>
            <a:r>
              <a:rPr sz="20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ra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thông tin, các thành </a:t>
            </a:r>
            <a:r>
              <a:rPr sz="20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tố và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000" i="1" dirty="0">
                <a:solidFill>
                  <a:srgbClr val="000033"/>
                </a:solidFill>
                <a:latin typeface="Times New Roman"/>
                <a:cs typeface="Times New Roman"/>
              </a:rPr>
              <a:t>tác động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tập </a:t>
            </a:r>
            <a:r>
              <a:rPr sz="20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trung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vào  </a:t>
            </a:r>
            <a:r>
              <a:rPr sz="2000" i="1" dirty="0">
                <a:solidFill>
                  <a:srgbClr val="000033"/>
                </a:solidFill>
                <a:latin typeface="Times New Roman"/>
                <a:cs typeface="Times New Roman"/>
              </a:rPr>
              <a:t>mục đích </a:t>
            </a:r>
            <a:r>
              <a:rPr sz="20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riêng</a:t>
            </a:r>
            <a:r>
              <a:rPr sz="2000" i="1" spc="-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33"/>
                </a:solidFill>
                <a:latin typeface="Times New Roman"/>
                <a:cs typeface="Times New Roman"/>
              </a:rPr>
              <a:t>này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7</a:t>
            </a:fld>
            <a:endParaRPr spc="-5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173459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7287" y="4953000"/>
            <a:ext cx="5285232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913" y="922158"/>
            <a:ext cx="7977505" cy="3437254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spcBef>
                <a:spcPts val="18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1.1.2. Hệ thống thông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800">
              <a:latin typeface="Times New Roman"/>
              <a:cs typeface="Times New Roman"/>
            </a:endParaRPr>
          </a:p>
          <a:p>
            <a:pPr marL="370840" indent="-358140">
              <a:spcBef>
                <a:spcPts val="154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Hệ thống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thông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tin có 3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thành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phần</a:t>
            </a:r>
            <a:r>
              <a:rPr sz="2400" b="1" i="1" spc="-2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chính</a:t>
            </a: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147445" lvl="1" indent="-178435">
              <a:spcBef>
                <a:spcPts val="1440"/>
              </a:spcBef>
              <a:buChar char="-"/>
              <a:tabLst>
                <a:tab pos="114808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Đầu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vào (Inputs)</a:t>
            </a:r>
            <a:endParaRPr sz="2400">
              <a:latin typeface="Times New Roman"/>
              <a:cs typeface="Times New Roman"/>
            </a:endParaRPr>
          </a:p>
          <a:p>
            <a:pPr marL="1147445" lvl="1" indent="-178435">
              <a:spcBef>
                <a:spcPts val="1440"/>
              </a:spcBef>
              <a:buChar char="-"/>
              <a:tabLst>
                <a:tab pos="114808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Cơ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chế xử lý (Processing</a:t>
            </a:r>
            <a:r>
              <a:rPr sz="2400" spc="-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Mechamism)</a:t>
            </a:r>
            <a:endParaRPr sz="2400">
              <a:latin typeface="Times New Roman"/>
              <a:cs typeface="Times New Roman"/>
            </a:endParaRPr>
          </a:p>
          <a:p>
            <a:pPr marL="1147445" lvl="1" indent="-178435">
              <a:spcBef>
                <a:spcPts val="1440"/>
              </a:spcBef>
              <a:buChar char="-"/>
              <a:tabLst>
                <a:tab pos="114808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Đầu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ra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(Outputs)</a:t>
            </a:r>
            <a:endParaRPr sz="2400">
              <a:latin typeface="Times New Roman"/>
              <a:cs typeface="Times New Roman"/>
            </a:endParaRPr>
          </a:p>
          <a:p>
            <a:pPr marL="12700">
              <a:spcBef>
                <a:spcPts val="1445"/>
              </a:spcBef>
            </a:pPr>
            <a:r>
              <a:rPr sz="22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Trong </a:t>
            </a:r>
            <a:r>
              <a:rPr sz="2200" i="1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2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tin </a:t>
            </a:r>
            <a:r>
              <a:rPr sz="2200" i="1" dirty="0">
                <a:solidFill>
                  <a:srgbClr val="000033"/>
                </a:solidFill>
                <a:latin typeface="Times New Roman"/>
                <a:cs typeface="Times New Roman"/>
              </a:rPr>
              <a:t>học </a:t>
            </a:r>
            <a:r>
              <a:rPr sz="22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có thêm thành </a:t>
            </a:r>
            <a:r>
              <a:rPr sz="2200" i="1" dirty="0">
                <a:solidFill>
                  <a:srgbClr val="000033"/>
                </a:solidFill>
                <a:latin typeface="Times New Roman"/>
                <a:cs typeface="Times New Roman"/>
              </a:rPr>
              <a:t>phần </a:t>
            </a:r>
            <a:r>
              <a:rPr sz="22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thứ 4 là </a:t>
            </a:r>
            <a:r>
              <a:rPr sz="2200" i="1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2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200" i="1" dirty="0">
                <a:solidFill>
                  <a:srgbClr val="000033"/>
                </a:solidFill>
                <a:latin typeface="Times New Roman"/>
                <a:cs typeface="Times New Roman"/>
              </a:rPr>
              <a:t>phản</a:t>
            </a:r>
            <a:r>
              <a:rPr sz="2200" i="1" spc="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0033"/>
                </a:solidFill>
                <a:latin typeface="Times New Roman"/>
                <a:cs typeface="Times New Roman"/>
              </a:rPr>
              <a:t>hồi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8</a:t>
            </a:fld>
            <a:endParaRPr spc="-5" dirty="0"/>
          </a:p>
        </p:txBody>
      </p:sp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213719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3" y="922159"/>
            <a:ext cx="4995545" cy="12426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spcBef>
                <a:spcPts val="18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1.1.2. Hệ thống thông tin</a:t>
            </a:r>
            <a:endParaRPr sz="2800">
              <a:latin typeface="Times New Roman"/>
              <a:cs typeface="Times New Roman"/>
            </a:endParaRPr>
          </a:p>
          <a:p>
            <a:pPr marL="370840" indent="-358140">
              <a:spcBef>
                <a:spcPts val="154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Các lĩnh vực của Hệ thống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thông</a:t>
            </a:r>
            <a:r>
              <a:rPr sz="2400" b="1" i="1" spc="-10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70313" y="2380424"/>
            <a:ext cx="1861185" cy="893444"/>
            <a:chOff x="3389312" y="2380424"/>
            <a:chExt cx="1861185" cy="893444"/>
          </a:xfrm>
        </p:grpSpPr>
        <p:sp>
          <p:nvSpPr>
            <p:cNvPr id="4" name="object 4"/>
            <p:cNvSpPr/>
            <p:nvPr/>
          </p:nvSpPr>
          <p:spPr>
            <a:xfrm>
              <a:off x="3402329" y="2393441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1690370" y="0"/>
                  </a:moveTo>
                  <a:lnTo>
                    <a:pt x="144525" y="0"/>
                  </a:lnTo>
                  <a:lnTo>
                    <a:pt x="98868" y="7374"/>
                  </a:lnTo>
                  <a:lnTo>
                    <a:pt x="59198" y="27903"/>
                  </a:lnTo>
                  <a:lnTo>
                    <a:pt x="27903" y="59198"/>
                  </a:lnTo>
                  <a:lnTo>
                    <a:pt x="7374" y="98868"/>
                  </a:lnTo>
                  <a:lnTo>
                    <a:pt x="0" y="144525"/>
                  </a:lnTo>
                  <a:lnTo>
                    <a:pt x="0" y="722630"/>
                  </a:lnTo>
                  <a:lnTo>
                    <a:pt x="7374" y="768287"/>
                  </a:lnTo>
                  <a:lnTo>
                    <a:pt x="27903" y="807957"/>
                  </a:lnTo>
                  <a:lnTo>
                    <a:pt x="59198" y="839252"/>
                  </a:lnTo>
                  <a:lnTo>
                    <a:pt x="98868" y="859781"/>
                  </a:lnTo>
                  <a:lnTo>
                    <a:pt x="144525" y="867156"/>
                  </a:lnTo>
                  <a:lnTo>
                    <a:pt x="1690370" y="867156"/>
                  </a:lnTo>
                  <a:lnTo>
                    <a:pt x="1736027" y="859781"/>
                  </a:lnTo>
                  <a:lnTo>
                    <a:pt x="1775697" y="839252"/>
                  </a:lnTo>
                  <a:lnTo>
                    <a:pt x="1806992" y="807957"/>
                  </a:lnTo>
                  <a:lnTo>
                    <a:pt x="1827521" y="768287"/>
                  </a:lnTo>
                  <a:lnTo>
                    <a:pt x="1834896" y="722630"/>
                  </a:lnTo>
                  <a:lnTo>
                    <a:pt x="1834896" y="144525"/>
                  </a:lnTo>
                  <a:lnTo>
                    <a:pt x="1827521" y="98868"/>
                  </a:lnTo>
                  <a:lnTo>
                    <a:pt x="1806992" y="59198"/>
                  </a:lnTo>
                  <a:lnTo>
                    <a:pt x="1775697" y="27903"/>
                  </a:lnTo>
                  <a:lnTo>
                    <a:pt x="1736027" y="7374"/>
                  </a:lnTo>
                  <a:lnTo>
                    <a:pt x="169037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02329" y="2393441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0" y="144525"/>
                  </a:moveTo>
                  <a:lnTo>
                    <a:pt x="7374" y="98868"/>
                  </a:lnTo>
                  <a:lnTo>
                    <a:pt x="27903" y="59198"/>
                  </a:lnTo>
                  <a:lnTo>
                    <a:pt x="59198" y="27903"/>
                  </a:lnTo>
                  <a:lnTo>
                    <a:pt x="98868" y="7374"/>
                  </a:lnTo>
                  <a:lnTo>
                    <a:pt x="144525" y="0"/>
                  </a:lnTo>
                  <a:lnTo>
                    <a:pt x="1690370" y="0"/>
                  </a:lnTo>
                  <a:lnTo>
                    <a:pt x="1736027" y="7374"/>
                  </a:lnTo>
                  <a:lnTo>
                    <a:pt x="1775697" y="27903"/>
                  </a:lnTo>
                  <a:lnTo>
                    <a:pt x="1806992" y="59198"/>
                  </a:lnTo>
                  <a:lnTo>
                    <a:pt x="1827521" y="98868"/>
                  </a:lnTo>
                  <a:lnTo>
                    <a:pt x="1834896" y="144525"/>
                  </a:lnTo>
                  <a:lnTo>
                    <a:pt x="1834896" y="722630"/>
                  </a:lnTo>
                  <a:lnTo>
                    <a:pt x="1827521" y="768287"/>
                  </a:lnTo>
                  <a:lnTo>
                    <a:pt x="1806992" y="807957"/>
                  </a:lnTo>
                  <a:lnTo>
                    <a:pt x="1775697" y="839252"/>
                  </a:lnTo>
                  <a:lnTo>
                    <a:pt x="1736027" y="859781"/>
                  </a:lnTo>
                  <a:lnTo>
                    <a:pt x="1690370" y="867156"/>
                  </a:lnTo>
                  <a:lnTo>
                    <a:pt x="144525" y="867156"/>
                  </a:lnTo>
                  <a:lnTo>
                    <a:pt x="98868" y="859781"/>
                  </a:lnTo>
                  <a:lnTo>
                    <a:pt x="59198" y="839252"/>
                  </a:lnTo>
                  <a:lnTo>
                    <a:pt x="27903" y="807957"/>
                  </a:lnTo>
                  <a:lnTo>
                    <a:pt x="7374" y="768287"/>
                  </a:lnTo>
                  <a:lnTo>
                    <a:pt x="0" y="722630"/>
                  </a:lnTo>
                  <a:lnTo>
                    <a:pt x="0" y="1445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74771" y="2504075"/>
            <a:ext cx="1651635" cy="56578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ctr">
              <a:spcBef>
                <a:spcPts val="545"/>
              </a:spcBef>
            </a:pP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Giáo dục điện</a:t>
            </a:r>
            <a:r>
              <a:rPr sz="1400" b="1" spc="-13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tử</a:t>
            </a:r>
            <a:endParaRPr sz="1400">
              <a:latin typeface="Verdana"/>
              <a:cs typeface="Verdana"/>
            </a:endParaRPr>
          </a:p>
          <a:p>
            <a:pPr algn="ctr">
              <a:spcBef>
                <a:spcPts val="445"/>
              </a:spcBef>
            </a:pP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(e-learning)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17757" y="3053970"/>
            <a:ext cx="1861185" cy="1417955"/>
            <a:chOff x="5036756" y="3053969"/>
            <a:chExt cx="1861185" cy="1417955"/>
          </a:xfrm>
        </p:grpSpPr>
        <p:sp>
          <p:nvSpPr>
            <p:cNvPr id="8" name="object 8"/>
            <p:cNvSpPr/>
            <p:nvPr/>
          </p:nvSpPr>
          <p:spPr>
            <a:xfrm>
              <a:off x="5241671" y="3092069"/>
              <a:ext cx="509270" cy="491490"/>
            </a:xfrm>
            <a:custGeom>
              <a:avLst/>
              <a:gdLst/>
              <a:ahLst/>
              <a:cxnLst/>
              <a:rect l="l" t="t" r="r" b="b"/>
              <a:pathLst>
                <a:path w="509270" h="491489">
                  <a:moveTo>
                    <a:pt x="0" y="0"/>
                  </a:moveTo>
                  <a:lnTo>
                    <a:pt x="42780" y="27828"/>
                  </a:lnTo>
                  <a:lnTo>
                    <a:pt x="84673" y="56870"/>
                  </a:lnTo>
                  <a:lnTo>
                    <a:pt x="125655" y="87101"/>
                  </a:lnTo>
                  <a:lnTo>
                    <a:pt x="165699" y="118498"/>
                  </a:lnTo>
                  <a:lnTo>
                    <a:pt x="204783" y="151039"/>
                  </a:lnTo>
                  <a:lnTo>
                    <a:pt x="242882" y="184699"/>
                  </a:lnTo>
                  <a:lnTo>
                    <a:pt x="279971" y="219456"/>
                  </a:lnTo>
                  <a:lnTo>
                    <a:pt x="316026" y="255285"/>
                  </a:lnTo>
                  <a:lnTo>
                    <a:pt x="351022" y="292164"/>
                  </a:lnTo>
                  <a:lnTo>
                    <a:pt x="384935" y="330070"/>
                  </a:lnTo>
                  <a:lnTo>
                    <a:pt x="417741" y="368979"/>
                  </a:lnTo>
                  <a:lnTo>
                    <a:pt x="449415" y="408867"/>
                  </a:lnTo>
                  <a:lnTo>
                    <a:pt x="479933" y="449712"/>
                  </a:lnTo>
                  <a:lnTo>
                    <a:pt x="509269" y="491489"/>
                  </a:lnTo>
                </a:path>
              </a:pathLst>
            </a:custGeom>
            <a:ln w="76200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49774" y="3591306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1690370" y="0"/>
                  </a:moveTo>
                  <a:lnTo>
                    <a:pt x="144525" y="0"/>
                  </a:lnTo>
                  <a:lnTo>
                    <a:pt x="98868" y="7374"/>
                  </a:lnTo>
                  <a:lnTo>
                    <a:pt x="59198" y="27903"/>
                  </a:lnTo>
                  <a:lnTo>
                    <a:pt x="27903" y="59198"/>
                  </a:lnTo>
                  <a:lnTo>
                    <a:pt x="7374" y="98868"/>
                  </a:lnTo>
                  <a:lnTo>
                    <a:pt x="0" y="144526"/>
                  </a:lnTo>
                  <a:lnTo>
                    <a:pt x="0" y="722630"/>
                  </a:lnTo>
                  <a:lnTo>
                    <a:pt x="7374" y="768287"/>
                  </a:lnTo>
                  <a:lnTo>
                    <a:pt x="27903" y="807957"/>
                  </a:lnTo>
                  <a:lnTo>
                    <a:pt x="59198" y="839252"/>
                  </a:lnTo>
                  <a:lnTo>
                    <a:pt x="98868" y="859781"/>
                  </a:lnTo>
                  <a:lnTo>
                    <a:pt x="144525" y="867156"/>
                  </a:lnTo>
                  <a:lnTo>
                    <a:pt x="1690370" y="867156"/>
                  </a:lnTo>
                  <a:lnTo>
                    <a:pt x="1736027" y="859781"/>
                  </a:lnTo>
                  <a:lnTo>
                    <a:pt x="1775697" y="839252"/>
                  </a:lnTo>
                  <a:lnTo>
                    <a:pt x="1806992" y="807957"/>
                  </a:lnTo>
                  <a:lnTo>
                    <a:pt x="1827521" y="768287"/>
                  </a:lnTo>
                  <a:lnTo>
                    <a:pt x="1834896" y="722630"/>
                  </a:lnTo>
                  <a:lnTo>
                    <a:pt x="1834896" y="144526"/>
                  </a:lnTo>
                  <a:lnTo>
                    <a:pt x="1827521" y="98868"/>
                  </a:lnTo>
                  <a:lnTo>
                    <a:pt x="1806992" y="59198"/>
                  </a:lnTo>
                  <a:lnTo>
                    <a:pt x="1775697" y="27903"/>
                  </a:lnTo>
                  <a:lnTo>
                    <a:pt x="1736027" y="7374"/>
                  </a:lnTo>
                  <a:lnTo>
                    <a:pt x="1690370" y="0"/>
                  </a:lnTo>
                  <a:close/>
                </a:path>
              </a:pathLst>
            </a:custGeom>
            <a:solidFill>
              <a:srgbClr val="1DF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49774" y="3591306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0" y="144526"/>
                  </a:moveTo>
                  <a:lnTo>
                    <a:pt x="7374" y="98868"/>
                  </a:lnTo>
                  <a:lnTo>
                    <a:pt x="27903" y="59198"/>
                  </a:lnTo>
                  <a:lnTo>
                    <a:pt x="59198" y="27903"/>
                  </a:lnTo>
                  <a:lnTo>
                    <a:pt x="98868" y="7374"/>
                  </a:lnTo>
                  <a:lnTo>
                    <a:pt x="144525" y="0"/>
                  </a:lnTo>
                  <a:lnTo>
                    <a:pt x="1690370" y="0"/>
                  </a:lnTo>
                  <a:lnTo>
                    <a:pt x="1736027" y="7374"/>
                  </a:lnTo>
                  <a:lnTo>
                    <a:pt x="1775697" y="27903"/>
                  </a:lnTo>
                  <a:lnTo>
                    <a:pt x="1806992" y="59198"/>
                  </a:lnTo>
                  <a:lnTo>
                    <a:pt x="1827521" y="98868"/>
                  </a:lnTo>
                  <a:lnTo>
                    <a:pt x="1834896" y="144526"/>
                  </a:lnTo>
                  <a:lnTo>
                    <a:pt x="1834896" y="722630"/>
                  </a:lnTo>
                  <a:lnTo>
                    <a:pt x="1827521" y="768287"/>
                  </a:lnTo>
                  <a:lnTo>
                    <a:pt x="1806992" y="807957"/>
                  </a:lnTo>
                  <a:lnTo>
                    <a:pt x="1775697" y="839252"/>
                  </a:lnTo>
                  <a:lnTo>
                    <a:pt x="1736027" y="859781"/>
                  </a:lnTo>
                  <a:lnTo>
                    <a:pt x="1690370" y="867156"/>
                  </a:lnTo>
                  <a:lnTo>
                    <a:pt x="144525" y="867156"/>
                  </a:lnTo>
                  <a:lnTo>
                    <a:pt x="98868" y="859781"/>
                  </a:lnTo>
                  <a:lnTo>
                    <a:pt x="59198" y="839252"/>
                  </a:lnTo>
                  <a:lnTo>
                    <a:pt x="27903" y="807957"/>
                  </a:lnTo>
                  <a:lnTo>
                    <a:pt x="7374" y="768287"/>
                  </a:lnTo>
                  <a:lnTo>
                    <a:pt x="0" y="722630"/>
                  </a:lnTo>
                  <a:lnTo>
                    <a:pt x="0" y="14452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19751" y="3661410"/>
            <a:ext cx="1458595" cy="7042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7160" marR="130175" algn="ctr">
              <a:lnSpc>
                <a:spcPts val="1540"/>
              </a:lnSpc>
              <a:spcBef>
                <a:spcPts val="270"/>
              </a:spcBef>
            </a:pP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Thương</a:t>
            </a:r>
            <a:r>
              <a:rPr sz="1400" b="1" spc="-9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mại  điện</a:t>
            </a:r>
            <a:r>
              <a:rPr sz="1400" b="1" spc="-30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tử</a:t>
            </a:r>
            <a:endParaRPr sz="1400">
              <a:latin typeface="Verdana"/>
              <a:cs typeface="Verdana"/>
            </a:endParaRPr>
          </a:p>
          <a:p>
            <a:pPr algn="ctr">
              <a:spcBef>
                <a:spcPts val="414"/>
              </a:spcBef>
            </a:pP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(e-commerce)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45545" y="4427220"/>
            <a:ext cx="1861185" cy="1711960"/>
            <a:chOff x="4864544" y="4427220"/>
            <a:chExt cx="1861185" cy="1711960"/>
          </a:xfrm>
        </p:grpSpPr>
        <p:sp>
          <p:nvSpPr>
            <p:cNvPr id="13" name="object 13"/>
            <p:cNvSpPr/>
            <p:nvPr/>
          </p:nvSpPr>
          <p:spPr>
            <a:xfrm>
              <a:off x="6044184" y="4465320"/>
              <a:ext cx="48260" cy="784860"/>
            </a:xfrm>
            <a:custGeom>
              <a:avLst/>
              <a:gdLst/>
              <a:ahLst/>
              <a:cxnLst/>
              <a:rect l="l" t="t" r="r" b="b"/>
              <a:pathLst>
                <a:path w="48260" h="784860">
                  <a:moveTo>
                    <a:pt x="6476" y="0"/>
                  </a:moveTo>
                  <a:lnTo>
                    <a:pt x="16630" y="48593"/>
                  </a:lnTo>
                  <a:lnTo>
                    <a:pt x="25372" y="97388"/>
                  </a:lnTo>
                  <a:lnTo>
                    <a:pt x="32706" y="146354"/>
                  </a:lnTo>
                  <a:lnTo>
                    <a:pt x="38629" y="195460"/>
                  </a:lnTo>
                  <a:lnTo>
                    <a:pt x="43144" y="244677"/>
                  </a:lnTo>
                  <a:lnTo>
                    <a:pt x="46252" y="293974"/>
                  </a:lnTo>
                  <a:lnTo>
                    <a:pt x="47951" y="343319"/>
                  </a:lnTo>
                  <a:lnTo>
                    <a:pt x="48244" y="392683"/>
                  </a:lnTo>
                  <a:lnTo>
                    <a:pt x="47130" y="442036"/>
                  </a:lnTo>
                  <a:lnTo>
                    <a:pt x="44610" y="491346"/>
                  </a:lnTo>
                  <a:lnTo>
                    <a:pt x="40685" y="540583"/>
                  </a:lnTo>
                  <a:lnTo>
                    <a:pt x="35355" y="589716"/>
                  </a:lnTo>
                  <a:lnTo>
                    <a:pt x="28621" y="638716"/>
                  </a:lnTo>
                  <a:lnTo>
                    <a:pt x="20483" y="687551"/>
                  </a:lnTo>
                  <a:lnTo>
                    <a:pt x="10943" y="736191"/>
                  </a:lnTo>
                  <a:lnTo>
                    <a:pt x="0" y="784605"/>
                  </a:lnTo>
                </a:path>
              </a:pathLst>
            </a:custGeom>
            <a:ln w="76200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77562" y="5258562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1690369" y="0"/>
                  </a:moveTo>
                  <a:lnTo>
                    <a:pt x="144525" y="0"/>
                  </a:lnTo>
                  <a:lnTo>
                    <a:pt x="98868" y="7374"/>
                  </a:lnTo>
                  <a:lnTo>
                    <a:pt x="59198" y="27903"/>
                  </a:lnTo>
                  <a:lnTo>
                    <a:pt x="27903" y="59198"/>
                  </a:lnTo>
                  <a:lnTo>
                    <a:pt x="7374" y="98868"/>
                  </a:lnTo>
                  <a:lnTo>
                    <a:pt x="0" y="144525"/>
                  </a:lnTo>
                  <a:lnTo>
                    <a:pt x="0" y="722629"/>
                  </a:lnTo>
                  <a:lnTo>
                    <a:pt x="7374" y="768311"/>
                  </a:lnTo>
                  <a:lnTo>
                    <a:pt x="27903" y="807985"/>
                  </a:lnTo>
                  <a:lnTo>
                    <a:pt x="59198" y="839270"/>
                  </a:lnTo>
                  <a:lnTo>
                    <a:pt x="98868" y="859787"/>
                  </a:lnTo>
                  <a:lnTo>
                    <a:pt x="144525" y="867156"/>
                  </a:lnTo>
                  <a:lnTo>
                    <a:pt x="1690369" y="867156"/>
                  </a:lnTo>
                  <a:lnTo>
                    <a:pt x="1736027" y="859787"/>
                  </a:lnTo>
                  <a:lnTo>
                    <a:pt x="1775697" y="839270"/>
                  </a:lnTo>
                  <a:lnTo>
                    <a:pt x="1806992" y="807985"/>
                  </a:lnTo>
                  <a:lnTo>
                    <a:pt x="1827521" y="768311"/>
                  </a:lnTo>
                  <a:lnTo>
                    <a:pt x="1834895" y="722629"/>
                  </a:lnTo>
                  <a:lnTo>
                    <a:pt x="1834895" y="144525"/>
                  </a:lnTo>
                  <a:lnTo>
                    <a:pt x="1827521" y="98868"/>
                  </a:lnTo>
                  <a:lnTo>
                    <a:pt x="1806992" y="59198"/>
                  </a:lnTo>
                  <a:lnTo>
                    <a:pt x="1775697" y="27903"/>
                  </a:lnTo>
                  <a:lnTo>
                    <a:pt x="1736027" y="7374"/>
                  </a:lnTo>
                  <a:lnTo>
                    <a:pt x="1690369" y="0"/>
                  </a:lnTo>
                  <a:close/>
                </a:path>
              </a:pathLst>
            </a:custGeom>
            <a:solidFill>
              <a:srgbClr val="E1DF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7562" y="5258562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0" y="144525"/>
                  </a:moveTo>
                  <a:lnTo>
                    <a:pt x="7374" y="98868"/>
                  </a:lnTo>
                  <a:lnTo>
                    <a:pt x="27903" y="59198"/>
                  </a:lnTo>
                  <a:lnTo>
                    <a:pt x="59198" y="27903"/>
                  </a:lnTo>
                  <a:lnTo>
                    <a:pt x="98868" y="7374"/>
                  </a:lnTo>
                  <a:lnTo>
                    <a:pt x="144525" y="0"/>
                  </a:lnTo>
                  <a:lnTo>
                    <a:pt x="1690369" y="0"/>
                  </a:lnTo>
                  <a:lnTo>
                    <a:pt x="1736027" y="7374"/>
                  </a:lnTo>
                  <a:lnTo>
                    <a:pt x="1775697" y="27903"/>
                  </a:lnTo>
                  <a:lnTo>
                    <a:pt x="1806992" y="59198"/>
                  </a:lnTo>
                  <a:lnTo>
                    <a:pt x="1827521" y="98868"/>
                  </a:lnTo>
                  <a:lnTo>
                    <a:pt x="1834895" y="144525"/>
                  </a:lnTo>
                  <a:lnTo>
                    <a:pt x="1834895" y="722629"/>
                  </a:lnTo>
                  <a:lnTo>
                    <a:pt x="1827521" y="768311"/>
                  </a:lnTo>
                  <a:lnTo>
                    <a:pt x="1806992" y="807985"/>
                  </a:lnTo>
                  <a:lnTo>
                    <a:pt x="1775697" y="839270"/>
                  </a:lnTo>
                  <a:lnTo>
                    <a:pt x="1736027" y="859787"/>
                  </a:lnTo>
                  <a:lnTo>
                    <a:pt x="1690369" y="867156"/>
                  </a:lnTo>
                  <a:lnTo>
                    <a:pt x="144525" y="867156"/>
                  </a:lnTo>
                  <a:lnTo>
                    <a:pt x="98868" y="859787"/>
                  </a:lnTo>
                  <a:lnTo>
                    <a:pt x="59198" y="839270"/>
                  </a:lnTo>
                  <a:lnTo>
                    <a:pt x="27903" y="807985"/>
                  </a:lnTo>
                  <a:lnTo>
                    <a:pt x="7374" y="768311"/>
                  </a:lnTo>
                  <a:lnTo>
                    <a:pt x="0" y="722629"/>
                  </a:lnTo>
                  <a:lnTo>
                    <a:pt x="0" y="1445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58130" y="5329173"/>
            <a:ext cx="1636395" cy="7048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710565" marR="59055" indent="-643890">
              <a:lnSpc>
                <a:spcPts val="1540"/>
              </a:lnSpc>
              <a:spcBef>
                <a:spcPts val="270"/>
              </a:spcBef>
            </a:pP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Chính phủ</a:t>
            </a:r>
            <a:r>
              <a:rPr sz="1400" b="1" spc="-6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điện  </a:t>
            </a: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tử</a:t>
            </a:r>
            <a:endParaRPr sz="1400">
              <a:latin typeface="Verdana"/>
              <a:cs typeface="Verdana"/>
            </a:endParaRPr>
          </a:p>
          <a:p>
            <a:pPr marL="12700">
              <a:spcBef>
                <a:spcPts val="414"/>
              </a:spcBef>
            </a:pP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(e-govenrment)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26145" y="5321744"/>
            <a:ext cx="3301365" cy="1121410"/>
            <a:chOff x="2045144" y="5321744"/>
            <a:chExt cx="3301365" cy="1121410"/>
          </a:xfrm>
        </p:grpSpPr>
        <p:sp>
          <p:nvSpPr>
            <p:cNvPr id="18" name="object 18"/>
            <p:cNvSpPr/>
            <p:nvPr/>
          </p:nvSpPr>
          <p:spPr>
            <a:xfrm>
              <a:off x="3579876" y="6134823"/>
              <a:ext cx="1728470" cy="270510"/>
            </a:xfrm>
            <a:custGeom>
              <a:avLst/>
              <a:gdLst/>
              <a:ahLst/>
              <a:cxnLst/>
              <a:rect l="l" t="t" r="r" b="b"/>
              <a:pathLst>
                <a:path w="1728470" h="270510">
                  <a:moveTo>
                    <a:pt x="1728343" y="0"/>
                  </a:moveTo>
                  <a:lnTo>
                    <a:pt x="1685756" y="26191"/>
                  </a:lnTo>
                  <a:lnTo>
                    <a:pt x="1642599" y="51055"/>
                  </a:lnTo>
                  <a:lnTo>
                    <a:pt x="1598901" y="74590"/>
                  </a:lnTo>
                  <a:lnTo>
                    <a:pt x="1554691" y="96794"/>
                  </a:lnTo>
                  <a:lnTo>
                    <a:pt x="1509997" y="117667"/>
                  </a:lnTo>
                  <a:lnTo>
                    <a:pt x="1464850" y="137207"/>
                  </a:lnTo>
                  <a:lnTo>
                    <a:pt x="1419278" y="155412"/>
                  </a:lnTo>
                  <a:lnTo>
                    <a:pt x="1373312" y="172282"/>
                  </a:lnTo>
                  <a:lnTo>
                    <a:pt x="1326979" y="187815"/>
                  </a:lnTo>
                  <a:lnTo>
                    <a:pt x="1280310" y="202011"/>
                  </a:lnTo>
                  <a:lnTo>
                    <a:pt x="1233334" y="214867"/>
                  </a:lnTo>
                  <a:lnTo>
                    <a:pt x="1186080" y="226382"/>
                  </a:lnTo>
                  <a:lnTo>
                    <a:pt x="1138577" y="236555"/>
                  </a:lnTo>
                  <a:lnTo>
                    <a:pt x="1090854" y="245386"/>
                  </a:lnTo>
                  <a:lnTo>
                    <a:pt x="1042942" y="252872"/>
                  </a:lnTo>
                  <a:lnTo>
                    <a:pt x="994868" y="259012"/>
                  </a:lnTo>
                  <a:lnTo>
                    <a:pt x="946663" y="263806"/>
                  </a:lnTo>
                  <a:lnTo>
                    <a:pt x="898355" y="267251"/>
                  </a:lnTo>
                  <a:lnTo>
                    <a:pt x="849975" y="269347"/>
                  </a:lnTo>
                  <a:lnTo>
                    <a:pt x="801550" y="270092"/>
                  </a:lnTo>
                  <a:lnTo>
                    <a:pt x="753111" y="269486"/>
                  </a:lnTo>
                  <a:lnTo>
                    <a:pt x="704687" y="267526"/>
                  </a:lnTo>
                  <a:lnTo>
                    <a:pt x="656307" y="264211"/>
                  </a:lnTo>
                  <a:lnTo>
                    <a:pt x="608000" y="259541"/>
                  </a:lnTo>
                  <a:lnTo>
                    <a:pt x="559796" y="253514"/>
                  </a:lnTo>
                  <a:lnTo>
                    <a:pt x="511723" y="246129"/>
                  </a:lnTo>
                  <a:lnTo>
                    <a:pt x="463812" y="237384"/>
                  </a:lnTo>
                  <a:lnTo>
                    <a:pt x="416091" y="227278"/>
                  </a:lnTo>
                  <a:lnTo>
                    <a:pt x="368589" y="215810"/>
                  </a:lnTo>
                  <a:lnTo>
                    <a:pt x="321337" y="202978"/>
                  </a:lnTo>
                  <a:lnTo>
                    <a:pt x="274363" y="188782"/>
                  </a:lnTo>
                  <a:lnTo>
                    <a:pt x="227696" y="173221"/>
                  </a:lnTo>
                  <a:lnTo>
                    <a:pt x="181366" y="156292"/>
                  </a:lnTo>
                  <a:lnTo>
                    <a:pt x="135402" y="137994"/>
                  </a:lnTo>
                  <a:lnTo>
                    <a:pt x="89834" y="118327"/>
                  </a:lnTo>
                  <a:lnTo>
                    <a:pt x="44690" y="97289"/>
                  </a:lnTo>
                  <a:lnTo>
                    <a:pt x="0" y="74879"/>
                  </a:lnTo>
                </a:path>
              </a:pathLst>
            </a:custGeom>
            <a:ln w="76200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58162" y="5334762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1690370" y="0"/>
                  </a:moveTo>
                  <a:lnTo>
                    <a:pt x="144525" y="0"/>
                  </a:lnTo>
                  <a:lnTo>
                    <a:pt x="98868" y="7374"/>
                  </a:lnTo>
                  <a:lnTo>
                    <a:pt x="59198" y="27903"/>
                  </a:lnTo>
                  <a:lnTo>
                    <a:pt x="27903" y="59198"/>
                  </a:lnTo>
                  <a:lnTo>
                    <a:pt x="7374" y="98868"/>
                  </a:lnTo>
                  <a:lnTo>
                    <a:pt x="0" y="144525"/>
                  </a:lnTo>
                  <a:lnTo>
                    <a:pt x="0" y="722630"/>
                  </a:lnTo>
                  <a:lnTo>
                    <a:pt x="7374" y="768311"/>
                  </a:lnTo>
                  <a:lnTo>
                    <a:pt x="27903" y="807985"/>
                  </a:lnTo>
                  <a:lnTo>
                    <a:pt x="59198" y="839270"/>
                  </a:lnTo>
                  <a:lnTo>
                    <a:pt x="98868" y="859787"/>
                  </a:lnTo>
                  <a:lnTo>
                    <a:pt x="144525" y="867156"/>
                  </a:lnTo>
                  <a:lnTo>
                    <a:pt x="1690370" y="867156"/>
                  </a:lnTo>
                  <a:lnTo>
                    <a:pt x="1736027" y="859787"/>
                  </a:lnTo>
                  <a:lnTo>
                    <a:pt x="1775697" y="839270"/>
                  </a:lnTo>
                  <a:lnTo>
                    <a:pt x="1806992" y="807985"/>
                  </a:lnTo>
                  <a:lnTo>
                    <a:pt x="1827521" y="768311"/>
                  </a:lnTo>
                  <a:lnTo>
                    <a:pt x="1834896" y="722630"/>
                  </a:lnTo>
                  <a:lnTo>
                    <a:pt x="1834896" y="144525"/>
                  </a:lnTo>
                  <a:lnTo>
                    <a:pt x="1827521" y="98868"/>
                  </a:lnTo>
                  <a:lnTo>
                    <a:pt x="1806992" y="59198"/>
                  </a:lnTo>
                  <a:lnTo>
                    <a:pt x="1775697" y="27903"/>
                  </a:lnTo>
                  <a:lnTo>
                    <a:pt x="1736027" y="7374"/>
                  </a:lnTo>
                  <a:lnTo>
                    <a:pt x="1690370" y="0"/>
                  </a:lnTo>
                  <a:close/>
                </a:path>
              </a:pathLst>
            </a:custGeom>
            <a:solidFill>
              <a:srgbClr val="64CA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8162" y="5334762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0" y="144525"/>
                  </a:moveTo>
                  <a:lnTo>
                    <a:pt x="7374" y="98868"/>
                  </a:lnTo>
                  <a:lnTo>
                    <a:pt x="27903" y="59198"/>
                  </a:lnTo>
                  <a:lnTo>
                    <a:pt x="59198" y="27903"/>
                  </a:lnTo>
                  <a:lnTo>
                    <a:pt x="98868" y="7374"/>
                  </a:lnTo>
                  <a:lnTo>
                    <a:pt x="144525" y="0"/>
                  </a:lnTo>
                  <a:lnTo>
                    <a:pt x="1690370" y="0"/>
                  </a:lnTo>
                  <a:lnTo>
                    <a:pt x="1736027" y="7374"/>
                  </a:lnTo>
                  <a:lnTo>
                    <a:pt x="1775697" y="27903"/>
                  </a:lnTo>
                  <a:lnTo>
                    <a:pt x="1806992" y="59198"/>
                  </a:lnTo>
                  <a:lnTo>
                    <a:pt x="1827521" y="98868"/>
                  </a:lnTo>
                  <a:lnTo>
                    <a:pt x="1834896" y="144525"/>
                  </a:lnTo>
                  <a:lnTo>
                    <a:pt x="1834896" y="722630"/>
                  </a:lnTo>
                  <a:lnTo>
                    <a:pt x="1827521" y="768311"/>
                  </a:lnTo>
                  <a:lnTo>
                    <a:pt x="1806992" y="807985"/>
                  </a:lnTo>
                  <a:lnTo>
                    <a:pt x="1775697" y="839270"/>
                  </a:lnTo>
                  <a:lnTo>
                    <a:pt x="1736027" y="859787"/>
                  </a:lnTo>
                  <a:lnTo>
                    <a:pt x="1690370" y="867156"/>
                  </a:lnTo>
                  <a:lnTo>
                    <a:pt x="144525" y="867156"/>
                  </a:lnTo>
                  <a:lnTo>
                    <a:pt x="98868" y="859787"/>
                  </a:lnTo>
                  <a:lnTo>
                    <a:pt x="59198" y="839270"/>
                  </a:lnTo>
                  <a:lnTo>
                    <a:pt x="27903" y="807985"/>
                  </a:lnTo>
                  <a:lnTo>
                    <a:pt x="7374" y="768311"/>
                  </a:lnTo>
                  <a:lnTo>
                    <a:pt x="0" y="722630"/>
                  </a:lnTo>
                  <a:lnTo>
                    <a:pt x="0" y="1445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67433" y="5447277"/>
            <a:ext cx="1579245" cy="56515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algn="ctr">
              <a:spcBef>
                <a:spcPts val="540"/>
              </a:spcBef>
            </a:pP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Thông </a:t>
            </a: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tin </a:t>
            </a: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địa</a:t>
            </a:r>
            <a:r>
              <a:rPr sz="1400" b="1" spc="-6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lý</a:t>
            </a:r>
            <a:endParaRPr sz="1400">
              <a:latin typeface="Verdana"/>
              <a:cs typeface="Verdana"/>
            </a:endParaRPr>
          </a:p>
          <a:p>
            <a:pPr algn="ctr">
              <a:spcBef>
                <a:spcPts val="445"/>
              </a:spcBef>
            </a:pP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(GIS)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21345" y="3578288"/>
            <a:ext cx="1861185" cy="1785620"/>
            <a:chOff x="1740344" y="3578288"/>
            <a:chExt cx="1861185" cy="1785620"/>
          </a:xfrm>
        </p:grpSpPr>
        <p:sp>
          <p:nvSpPr>
            <p:cNvPr id="23" name="object 23"/>
            <p:cNvSpPr/>
            <p:nvPr/>
          </p:nvSpPr>
          <p:spPr>
            <a:xfrm>
              <a:off x="2569513" y="4466082"/>
              <a:ext cx="113030" cy="859790"/>
            </a:xfrm>
            <a:custGeom>
              <a:avLst/>
              <a:gdLst/>
              <a:ahLst/>
              <a:cxnLst/>
              <a:rect l="l" t="t" r="r" b="b"/>
              <a:pathLst>
                <a:path w="113030" h="859789">
                  <a:moveTo>
                    <a:pt x="112980" y="859409"/>
                  </a:moveTo>
                  <a:lnTo>
                    <a:pt x="95362" y="810868"/>
                  </a:lnTo>
                  <a:lnTo>
                    <a:pt x="79223" y="761907"/>
                  </a:lnTo>
                  <a:lnTo>
                    <a:pt x="64565" y="712560"/>
                  </a:lnTo>
                  <a:lnTo>
                    <a:pt x="51393" y="662860"/>
                  </a:lnTo>
                  <a:lnTo>
                    <a:pt x="39712" y="612842"/>
                  </a:lnTo>
                  <a:lnTo>
                    <a:pt x="29524" y="562538"/>
                  </a:lnTo>
                  <a:lnTo>
                    <a:pt x="20834" y="511983"/>
                  </a:lnTo>
                  <a:lnTo>
                    <a:pt x="13647" y="461210"/>
                  </a:lnTo>
                  <a:lnTo>
                    <a:pt x="7966" y="410253"/>
                  </a:lnTo>
                  <a:lnTo>
                    <a:pt x="3795" y="359145"/>
                  </a:lnTo>
                  <a:lnTo>
                    <a:pt x="1138" y="307920"/>
                  </a:lnTo>
                  <a:lnTo>
                    <a:pt x="0" y="256612"/>
                  </a:lnTo>
                  <a:lnTo>
                    <a:pt x="383" y="205254"/>
                  </a:lnTo>
                  <a:lnTo>
                    <a:pt x="2293" y="153880"/>
                  </a:lnTo>
                  <a:lnTo>
                    <a:pt x="5734" y="102524"/>
                  </a:lnTo>
                  <a:lnTo>
                    <a:pt x="10709" y="51219"/>
                  </a:lnTo>
                  <a:lnTo>
                    <a:pt x="17222" y="0"/>
                  </a:lnTo>
                </a:path>
              </a:pathLst>
            </a:custGeom>
            <a:ln w="76200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53362" y="3591306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1690370" y="0"/>
                  </a:moveTo>
                  <a:lnTo>
                    <a:pt x="144525" y="0"/>
                  </a:lnTo>
                  <a:lnTo>
                    <a:pt x="98868" y="7374"/>
                  </a:lnTo>
                  <a:lnTo>
                    <a:pt x="59198" y="27903"/>
                  </a:lnTo>
                  <a:lnTo>
                    <a:pt x="27903" y="59198"/>
                  </a:lnTo>
                  <a:lnTo>
                    <a:pt x="7374" y="98868"/>
                  </a:lnTo>
                  <a:lnTo>
                    <a:pt x="0" y="144526"/>
                  </a:lnTo>
                  <a:lnTo>
                    <a:pt x="0" y="722630"/>
                  </a:lnTo>
                  <a:lnTo>
                    <a:pt x="7374" y="768287"/>
                  </a:lnTo>
                  <a:lnTo>
                    <a:pt x="27903" y="807957"/>
                  </a:lnTo>
                  <a:lnTo>
                    <a:pt x="59198" y="839252"/>
                  </a:lnTo>
                  <a:lnTo>
                    <a:pt x="98868" y="859781"/>
                  </a:lnTo>
                  <a:lnTo>
                    <a:pt x="144525" y="867156"/>
                  </a:lnTo>
                  <a:lnTo>
                    <a:pt x="1690370" y="867156"/>
                  </a:lnTo>
                  <a:lnTo>
                    <a:pt x="1736027" y="859781"/>
                  </a:lnTo>
                  <a:lnTo>
                    <a:pt x="1775697" y="839252"/>
                  </a:lnTo>
                  <a:lnTo>
                    <a:pt x="1806992" y="807957"/>
                  </a:lnTo>
                  <a:lnTo>
                    <a:pt x="1827521" y="768287"/>
                  </a:lnTo>
                  <a:lnTo>
                    <a:pt x="1834896" y="722630"/>
                  </a:lnTo>
                  <a:lnTo>
                    <a:pt x="1834896" y="144526"/>
                  </a:lnTo>
                  <a:lnTo>
                    <a:pt x="1827521" y="98868"/>
                  </a:lnTo>
                  <a:lnTo>
                    <a:pt x="1806992" y="59198"/>
                  </a:lnTo>
                  <a:lnTo>
                    <a:pt x="1775697" y="27903"/>
                  </a:lnTo>
                  <a:lnTo>
                    <a:pt x="1736027" y="7374"/>
                  </a:lnTo>
                  <a:lnTo>
                    <a:pt x="169037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53362" y="3591306"/>
              <a:ext cx="1835150" cy="867410"/>
            </a:xfrm>
            <a:custGeom>
              <a:avLst/>
              <a:gdLst/>
              <a:ahLst/>
              <a:cxnLst/>
              <a:rect l="l" t="t" r="r" b="b"/>
              <a:pathLst>
                <a:path w="1835150" h="867410">
                  <a:moveTo>
                    <a:pt x="0" y="144526"/>
                  </a:moveTo>
                  <a:lnTo>
                    <a:pt x="7374" y="98868"/>
                  </a:lnTo>
                  <a:lnTo>
                    <a:pt x="27903" y="59198"/>
                  </a:lnTo>
                  <a:lnTo>
                    <a:pt x="59198" y="27903"/>
                  </a:lnTo>
                  <a:lnTo>
                    <a:pt x="98868" y="7374"/>
                  </a:lnTo>
                  <a:lnTo>
                    <a:pt x="144525" y="0"/>
                  </a:lnTo>
                  <a:lnTo>
                    <a:pt x="1690370" y="0"/>
                  </a:lnTo>
                  <a:lnTo>
                    <a:pt x="1736027" y="7374"/>
                  </a:lnTo>
                  <a:lnTo>
                    <a:pt x="1775697" y="27903"/>
                  </a:lnTo>
                  <a:lnTo>
                    <a:pt x="1806992" y="59198"/>
                  </a:lnTo>
                  <a:lnTo>
                    <a:pt x="1827521" y="98868"/>
                  </a:lnTo>
                  <a:lnTo>
                    <a:pt x="1834896" y="144526"/>
                  </a:lnTo>
                  <a:lnTo>
                    <a:pt x="1834896" y="722630"/>
                  </a:lnTo>
                  <a:lnTo>
                    <a:pt x="1827521" y="768287"/>
                  </a:lnTo>
                  <a:lnTo>
                    <a:pt x="1806992" y="807957"/>
                  </a:lnTo>
                  <a:lnTo>
                    <a:pt x="1775697" y="839252"/>
                  </a:lnTo>
                  <a:lnTo>
                    <a:pt x="1736027" y="859781"/>
                  </a:lnTo>
                  <a:lnTo>
                    <a:pt x="1690370" y="867156"/>
                  </a:lnTo>
                  <a:lnTo>
                    <a:pt x="144525" y="867156"/>
                  </a:lnTo>
                  <a:lnTo>
                    <a:pt x="98868" y="859781"/>
                  </a:lnTo>
                  <a:lnTo>
                    <a:pt x="59198" y="839252"/>
                  </a:lnTo>
                  <a:lnTo>
                    <a:pt x="27903" y="807957"/>
                  </a:lnTo>
                  <a:lnTo>
                    <a:pt x="7374" y="768287"/>
                  </a:lnTo>
                  <a:lnTo>
                    <a:pt x="0" y="722630"/>
                  </a:lnTo>
                  <a:lnTo>
                    <a:pt x="0" y="144526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37892" y="3796411"/>
            <a:ext cx="1228090" cy="4349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77825" marR="5080" indent="-365760">
              <a:lnSpc>
                <a:spcPts val="1540"/>
              </a:lnSpc>
              <a:spcBef>
                <a:spcPts val="270"/>
              </a:spcBef>
            </a:pP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Các lĩnh</a:t>
            </a:r>
            <a:r>
              <a:rPr sz="1400" b="1" spc="-9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00066"/>
                </a:solidFill>
                <a:latin typeface="Verdana"/>
                <a:cs typeface="Verdana"/>
              </a:rPr>
              <a:t>vực  </a:t>
            </a:r>
            <a:r>
              <a:rPr sz="1400" b="1" spc="-5" dirty="0">
                <a:solidFill>
                  <a:srgbClr val="000066"/>
                </a:solidFill>
                <a:latin typeface="Verdana"/>
                <a:cs typeface="Verdana"/>
              </a:rPr>
              <a:t>khác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66059" y="3092069"/>
            <a:ext cx="509905" cy="491490"/>
          </a:xfrm>
          <a:custGeom>
            <a:avLst/>
            <a:gdLst/>
            <a:ahLst/>
            <a:cxnLst/>
            <a:rect l="l" t="t" r="r" b="b"/>
            <a:pathLst>
              <a:path w="509904" h="491489">
                <a:moveTo>
                  <a:pt x="0" y="491489"/>
                </a:moveTo>
                <a:lnTo>
                  <a:pt x="29360" y="449712"/>
                </a:lnTo>
                <a:lnTo>
                  <a:pt x="59894" y="408867"/>
                </a:lnTo>
                <a:lnTo>
                  <a:pt x="91579" y="368979"/>
                </a:lnTo>
                <a:lnTo>
                  <a:pt x="124392" y="330070"/>
                </a:lnTo>
                <a:lnTo>
                  <a:pt x="158309" y="292164"/>
                </a:lnTo>
                <a:lnTo>
                  <a:pt x="193306" y="255285"/>
                </a:lnTo>
                <a:lnTo>
                  <a:pt x="229362" y="219455"/>
                </a:lnTo>
                <a:lnTo>
                  <a:pt x="266451" y="184699"/>
                </a:lnTo>
                <a:lnTo>
                  <a:pt x="304551" y="151039"/>
                </a:lnTo>
                <a:lnTo>
                  <a:pt x="343638" y="118498"/>
                </a:lnTo>
                <a:lnTo>
                  <a:pt x="383690" y="87101"/>
                </a:lnTo>
                <a:lnTo>
                  <a:pt x="424682" y="56870"/>
                </a:lnTo>
                <a:lnTo>
                  <a:pt x="466592" y="27828"/>
                </a:lnTo>
                <a:lnTo>
                  <a:pt x="509396" y="0"/>
                </a:lnTo>
              </a:path>
            </a:pathLst>
          </a:custGeom>
          <a:ln w="7620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9</a:t>
            </a:fld>
            <a:endParaRPr spc="-5" dirty="0"/>
          </a:p>
        </p:txBody>
      </p:sp>
      <p:sp>
        <p:nvSpPr>
          <p:cNvPr id="31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210739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9"/>
            <a:ext cx="8059420" cy="50653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spcBef>
                <a:spcPts val="18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1.1.2. Hệ thống thông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800">
              <a:latin typeface="Times New Roman"/>
              <a:cs typeface="Times New Roman"/>
            </a:endParaRPr>
          </a:p>
          <a:p>
            <a:pPr marL="370840" indent="-358140">
              <a:spcBef>
                <a:spcPts val="154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Một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số khái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niệm lên quan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đến Hệ thống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thông</a:t>
            </a:r>
            <a:r>
              <a:rPr sz="2400" b="1" i="1" spc="-1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400">
              <a:latin typeface="Times New Roman"/>
              <a:cs typeface="Times New Roman"/>
            </a:endParaRPr>
          </a:p>
          <a:p>
            <a:pPr marL="789305" marR="7620" lvl="1" indent="-297180">
              <a:lnSpc>
                <a:spcPct val="130100"/>
              </a:lnSpc>
              <a:spcBef>
                <a:spcPts val="140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Cơ chế phản hồi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từ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kết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quả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nhận được dùng để đánh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giá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Inputs và cơ chế xử lý có phải thay đổi hay</a:t>
            </a:r>
            <a:r>
              <a:rPr sz="2400" spc="-10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không?</a:t>
            </a:r>
            <a:endParaRPr sz="2400">
              <a:latin typeface="Times New Roman"/>
              <a:cs typeface="Times New Roman"/>
            </a:endParaRPr>
          </a:p>
          <a:p>
            <a:pPr marL="789305" marR="5080" lvl="1" indent="-297180">
              <a:lnSpc>
                <a:spcPct val="130000"/>
              </a:lnSpc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Biên của </a:t>
            </a:r>
            <a:r>
              <a:rPr sz="24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thống: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(Boundary): Khi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khảo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sát bên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trong hệ  thống không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được vượt quá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ngoài</a:t>
            </a:r>
            <a:r>
              <a:rPr sz="2400" spc="-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biên.</a:t>
            </a:r>
            <a:endParaRPr sz="2400">
              <a:latin typeface="Times New Roman"/>
              <a:cs typeface="Times New Roman"/>
            </a:endParaRPr>
          </a:p>
          <a:p>
            <a:pPr marL="789305" marR="6350" lvl="1" indent="-297180">
              <a:lnSpc>
                <a:spcPct val="130000"/>
              </a:lnSpc>
              <a:spcBef>
                <a:spcPts val="5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thống mở: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là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có giao tiếp với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môi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trường bên  ngoài.</a:t>
            </a:r>
            <a:endParaRPr sz="2400">
              <a:latin typeface="Times New Roman"/>
              <a:cs typeface="Times New Roman"/>
            </a:endParaRPr>
          </a:p>
          <a:p>
            <a:pPr marL="789305" marR="8255" lvl="1" indent="-297180">
              <a:lnSpc>
                <a:spcPct val="130000"/>
              </a:lnSpc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thống đóng: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là hệ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không giao tiếp với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môi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trường  bên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ngoài.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10</a:t>
            </a:fld>
            <a:endParaRPr spc="-5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286900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9"/>
            <a:ext cx="8059420" cy="39858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spcBef>
                <a:spcPts val="18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1.1.2. Hệ thống thông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800">
              <a:latin typeface="Times New Roman"/>
              <a:cs typeface="Times New Roman"/>
            </a:endParaRPr>
          </a:p>
          <a:p>
            <a:pPr marL="370840" indent="-358140">
              <a:spcBef>
                <a:spcPts val="154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Một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số khái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niệm lên quan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đến Hệ thống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thông</a:t>
            </a:r>
            <a:r>
              <a:rPr sz="2400" b="1" i="1" spc="-1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endParaRPr sz="2400">
              <a:latin typeface="Times New Roman"/>
              <a:cs typeface="Times New Roman"/>
            </a:endParaRPr>
          </a:p>
          <a:p>
            <a:pPr marL="789305" marR="6350" lvl="1" indent="-297180">
              <a:lnSpc>
                <a:spcPts val="4320"/>
              </a:lnSpc>
              <a:spcBef>
                <a:spcPts val="384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thống ổn định </a:t>
            </a:r>
            <a:r>
              <a:rPr sz="2400" i="1" spc="-10" dirty="0">
                <a:solidFill>
                  <a:srgbClr val="000033"/>
                </a:solidFill>
                <a:latin typeface="Times New Roman"/>
                <a:cs typeface="Times New Roman"/>
              </a:rPr>
              <a:t>(Stable):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là hệ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ít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thay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đổi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trong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quá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trình biến động của thị</a:t>
            </a:r>
            <a:r>
              <a:rPr sz="2400" spc="-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trường.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055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</a:t>
            </a:r>
            <a:r>
              <a:rPr sz="2400" i="1" spc="3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r>
              <a:rPr sz="2400" i="1" spc="3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động:</a:t>
            </a:r>
            <a:r>
              <a:rPr sz="2400" i="1" spc="3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là</a:t>
            </a:r>
            <a:r>
              <a:rPr sz="2400" spc="3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hệ</a:t>
            </a:r>
            <a:r>
              <a:rPr sz="2400" spc="3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r>
              <a:rPr sz="2400" spc="3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biến</a:t>
            </a:r>
            <a:r>
              <a:rPr sz="2400" spc="3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đổi</a:t>
            </a:r>
            <a:r>
              <a:rPr sz="2400" spc="3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theo</a:t>
            </a:r>
            <a:r>
              <a:rPr sz="2400" spc="3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các</a:t>
            </a:r>
            <a:r>
              <a:rPr sz="2400" spc="32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biến</a:t>
            </a:r>
            <a:r>
              <a:rPr sz="2400" spc="3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động</a:t>
            </a:r>
            <a:endParaRPr sz="2400">
              <a:latin typeface="Times New Roman"/>
              <a:cs typeface="Times New Roman"/>
            </a:endParaRPr>
          </a:p>
          <a:p>
            <a:pPr marL="789305" marR="6985">
              <a:lnSpc>
                <a:spcPct val="150000"/>
              </a:lnSpc>
              <a:spcBef>
                <a:spcPts val="5"/>
              </a:spcBef>
              <a:tabLst>
                <a:tab pos="1341120" algn="l"/>
                <a:tab pos="1789430" algn="l"/>
                <a:tab pos="2734310" algn="l"/>
                <a:tab pos="3507104" algn="l"/>
                <a:tab pos="4888230" algn="l"/>
                <a:tab pos="5767705" algn="l"/>
                <a:tab pos="6489065" algn="l"/>
                <a:tab pos="7285990" algn="l"/>
              </a:tabLst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của	t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ị	t</a:t>
            </a:r>
            <a:r>
              <a:rPr sz="2400" spc="5" dirty="0">
                <a:solidFill>
                  <a:srgbClr val="000033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ư</a:t>
            </a:r>
            <a:r>
              <a:rPr sz="2400" spc="-15" dirty="0">
                <a:solidFill>
                  <a:srgbClr val="000033"/>
                </a:solidFill>
                <a:latin typeface="Times New Roman"/>
                <a:cs typeface="Times New Roman"/>
              </a:rPr>
              <a:t>ờ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ng	(k</a:t>
            </a:r>
            <a:r>
              <a:rPr sz="2400" spc="5" dirty="0">
                <a:solidFill>
                  <a:srgbClr val="000033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nh	d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an</a:t>
            </a:r>
            <a:r>
              <a:rPr sz="2400" spc="5" dirty="0">
                <a:solidFill>
                  <a:srgbClr val="000033"/>
                </a:solidFill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, </a:t>
            </a:r>
            <a:r>
              <a:rPr sz="2400" spc="-20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tài	c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í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h,	ngân	hàng,	chứng  khoán,…).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23076" y="4652772"/>
            <a:ext cx="2544318" cy="18006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11</a:t>
            </a:fld>
            <a:endParaRPr spc="-5" dirty="0"/>
          </a:p>
        </p:txBody>
      </p:sp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3742921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86129"/>
            <a:ext cx="8059420" cy="477520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 algn="just">
              <a:spcBef>
                <a:spcPts val="13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1.1.3. Hệ thống </a:t>
            </a:r>
            <a:r>
              <a:rPr sz="2800" b="1" spc="-10" dirty="0">
                <a:solidFill>
                  <a:srgbClr val="000033"/>
                </a:solidFill>
                <a:latin typeface="Times New Roman"/>
                <a:cs typeface="Times New Roman"/>
              </a:rPr>
              <a:t>kinh</a:t>
            </a:r>
            <a:r>
              <a:rPr sz="2800" b="1" spc="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doanh</a:t>
            </a:r>
            <a:endParaRPr sz="2800"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30000"/>
              </a:lnSpc>
              <a:spcBef>
                <a:spcPts val="24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kinh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doanh là hệ thống có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mục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tiêu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kinh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doanh: thu  được lợi nhuận cao</a:t>
            </a:r>
            <a:r>
              <a:rPr sz="2400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nhất.</a:t>
            </a:r>
            <a:endParaRPr sz="2400">
              <a:latin typeface="Times New Roman"/>
              <a:cs typeface="Times New Roman"/>
            </a:endParaRPr>
          </a:p>
          <a:p>
            <a:pPr marL="370205" marR="5715" indent="-358140" algn="just">
              <a:lnSpc>
                <a:spcPct val="130000"/>
              </a:lnSpc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kinh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doanh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khác với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khác là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có sự tham  gia của con người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(mang ưu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điểm và nhược điểm của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con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người).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840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200" spc="-10" dirty="0">
                <a:solidFill>
                  <a:srgbClr val="000033"/>
                </a:solidFill>
                <a:latin typeface="Times New Roman"/>
                <a:cs typeface="Times New Roman"/>
              </a:rPr>
              <a:t>Đầu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vào của </a:t>
            </a:r>
            <a:r>
              <a:rPr sz="2200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kinh </a:t>
            </a:r>
            <a:r>
              <a:rPr sz="2200" dirty="0">
                <a:solidFill>
                  <a:srgbClr val="000033"/>
                </a:solidFill>
                <a:latin typeface="Times New Roman"/>
                <a:cs typeface="Times New Roman"/>
              </a:rPr>
              <a:t>doanh: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nhân lực, tiền tài, đất</a:t>
            </a:r>
            <a:r>
              <a:rPr sz="2200" spc="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33"/>
                </a:solidFill>
                <a:latin typeface="Times New Roman"/>
                <a:cs typeface="Times New Roman"/>
              </a:rPr>
              <a:t>đai,…</a:t>
            </a:r>
            <a:endParaRPr sz="22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790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Cơ chế quản </a:t>
            </a:r>
            <a:r>
              <a:rPr sz="2200" dirty="0">
                <a:solidFill>
                  <a:srgbClr val="000033"/>
                </a:solidFill>
                <a:latin typeface="Times New Roman"/>
                <a:cs typeface="Times New Roman"/>
              </a:rPr>
              <a:t>lý: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luật, chính</a:t>
            </a:r>
            <a:r>
              <a:rPr sz="2200" spc="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sách,..</a:t>
            </a:r>
            <a:endParaRPr sz="22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795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Đầu</a:t>
            </a:r>
            <a:r>
              <a:rPr sz="2200" spc="1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ra:</a:t>
            </a:r>
            <a:r>
              <a:rPr sz="2200" spc="1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Sản</a:t>
            </a:r>
            <a:r>
              <a:rPr sz="2200" spc="1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phẩm,</a:t>
            </a:r>
            <a:r>
              <a:rPr sz="2200" spc="114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dịch</a:t>
            </a:r>
            <a:r>
              <a:rPr sz="2200" spc="12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33"/>
                </a:solidFill>
                <a:latin typeface="Times New Roman"/>
                <a:cs typeface="Times New Roman"/>
              </a:rPr>
              <a:t>vụ</a:t>
            </a:r>
            <a:r>
              <a:rPr sz="2200" spc="1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tốt</a:t>
            </a:r>
            <a:r>
              <a:rPr sz="2200" spc="114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làm</a:t>
            </a:r>
            <a:r>
              <a:rPr sz="22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33"/>
                </a:solidFill>
                <a:latin typeface="Times New Roman"/>
                <a:cs typeface="Times New Roman"/>
              </a:rPr>
              <a:t>thoả</a:t>
            </a:r>
            <a:r>
              <a:rPr sz="2200" spc="114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0033"/>
                </a:solidFill>
                <a:latin typeface="Times New Roman"/>
                <a:cs typeface="Times New Roman"/>
              </a:rPr>
              <a:t>mãn</a:t>
            </a:r>
            <a:r>
              <a:rPr sz="2200" spc="114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nhu</a:t>
            </a:r>
            <a:r>
              <a:rPr sz="2200" spc="1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cầu</a:t>
            </a:r>
            <a:r>
              <a:rPr sz="2200" spc="1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của</a:t>
            </a:r>
            <a:r>
              <a:rPr sz="2200" spc="10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khách</a:t>
            </a:r>
            <a:endParaRPr sz="2200">
              <a:latin typeface="Times New Roman"/>
              <a:cs typeface="Times New Roman"/>
            </a:endParaRPr>
          </a:p>
          <a:p>
            <a:pPr marL="789305">
              <a:spcBef>
                <a:spcPts val="795"/>
              </a:spcBef>
            </a:pP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hàng </a:t>
            </a:r>
            <a:r>
              <a:rPr sz="2200" dirty="0">
                <a:solidFill>
                  <a:srgbClr val="000033"/>
                </a:solidFill>
                <a:latin typeface="Times New Roman"/>
                <a:cs typeface="Times New Roman"/>
              </a:rPr>
              <a:t>và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đạt được lợi nhuận </a:t>
            </a:r>
            <a:r>
              <a:rPr sz="2200" spc="-10" dirty="0">
                <a:solidFill>
                  <a:srgbClr val="000033"/>
                </a:solidFill>
                <a:latin typeface="Times New Roman"/>
                <a:cs typeface="Times New Roman"/>
              </a:rPr>
              <a:t>cao</a:t>
            </a:r>
            <a:r>
              <a:rPr sz="2200" spc="2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0033"/>
                </a:solidFill>
                <a:latin typeface="Times New Roman"/>
                <a:cs typeface="Times New Roman"/>
              </a:rPr>
              <a:t>nhất.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12</a:t>
            </a:fld>
            <a:endParaRPr spc="-5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270954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3" y="986130"/>
            <a:ext cx="8060055" cy="492823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 algn="just">
              <a:spcBef>
                <a:spcPts val="13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1.1.3. Hệ thống </a:t>
            </a:r>
            <a:r>
              <a:rPr sz="2800" b="1" spc="-10" dirty="0">
                <a:solidFill>
                  <a:srgbClr val="000033"/>
                </a:solidFill>
                <a:latin typeface="Times New Roman"/>
                <a:cs typeface="Times New Roman"/>
              </a:rPr>
              <a:t>kinh</a:t>
            </a:r>
            <a:r>
              <a:rPr sz="2800" b="1" spc="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doanh</a:t>
            </a:r>
            <a:endParaRPr sz="2800">
              <a:latin typeface="Times New Roman"/>
              <a:cs typeface="Times New Roman"/>
            </a:endParaRPr>
          </a:p>
          <a:p>
            <a:pPr marL="370840" indent="-358140" algn="just">
              <a:spcBef>
                <a:spcPts val="1110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thành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phần của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kinh</a:t>
            </a:r>
            <a:r>
              <a:rPr sz="2400" b="1" i="1" spc="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doanh</a:t>
            </a:r>
            <a:endParaRPr sz="2400">
              <a:latin typeface="Times New Roman"/>
              <a:cs typeface="Times New Roman"/>
            </a:endParaRPr>
          </a:p>
          <a:p>
            <a:pPr marL="789305" marR="5080" lvl="1" indent="-297180" algn="just">
              <a:lnSpc>
                <a:spcPct val="130000"/>
              </a:lnSpc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tác </a:t>
            </a: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nghiệp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Bao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gồm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tất cả con người, nguyên vật liệu, 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máy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móc…trực tiếp tham gia sản xuất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để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đạt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được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mục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tiêu kinh</a:t>
            </a:r>
            <a:r>
              <a:rPr sz="2400" spc="-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doanh.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 algn="just">
              <a:spcBef>
                <a:spcPts val="865"/>
              </a:spcBef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quyết </a:t>
            </a: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định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bao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gồm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con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người,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máy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móc…để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tham</a:t>
            </a:r>
            <a:r>
              <a:rPr sz="2400" spc="1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gia</a:t>
            </a:r>
            <a:endParaRPr sz="2400">
              <a:latin typeface="Times New Roman"/>
              <a:cs typeface="Times New Roman"/>
            </a:endParaRPr>
          </a:p>
          <a:p>
            <a:pPr marL="789305" algn="just">
              <a:spcBef>
                <a:spcPts val="865"/>
              </a:spcBef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đề xuất quyết</a:t>
            </a:r>
            <a:r>
              <a:rPr sz="2400" spc="-2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định.</a:t>
            </a:r>
            <a:endParaRPr sz="2400">
              <a:latin typeface="Times New Roman"/>
              <a:cs typeface="Times New Roman"/>
            </a:endParaRPr>
          </a:p>
          <a:p>
            <a:pPr marL="789305" marR="5715" lvl="1" indent="-297180" algn="just">
              <a:lnSpc>
                <a:spcPct val="130000"/>
              </a:lnSpc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thông </a:t>
            </a: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bao gồm con người,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máy móc,…tham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gia xử  lý thông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tin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(bao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gồm: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so sánh,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sắp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xếp,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lựa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chọn. lưu  trữ,…)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13</a:t>
            </a:fld>
            <a:endParaRPr spc="-5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3111443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7913" y="986129"/>
            <a:ext cx="8060055" cy="306430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spcBef>
                <a:spcPts val="13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1.1.3. Hệ thống </a:t>
            </a:r>
            <a:r>
              <a:rPr sz="2800" b="1" spc="-10" dirty="0">
                <a:solidFill>
                  <a:srgbClr val="000033"/>
                </a:solidFill>
                <a:latin typeface="Times New Roman"/>
                <a:cs typeface="Times New Roman"/>
              </a:rPr>
              <a:t>kinh</a:t>
            </a:r>
            <a:r>
              <a:rPr sz="2800" b="1" spc="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doanh</a:t>
            </a:r>
            <a:endParaRPr sz="2800">
              <a:latin typeface="Times New Roman"/>
              <a:cs typeface="Times New Roman"/>
            </a:endParaRPr>
          </a:p>
          <a:p>
            <a:pPr marL="370840" indent="-358140">
              <a:spcBef>
                <a:spcPts val="1110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thành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phần của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b="1" i="1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kinh</a:t>
            </a:r>
            <a:r>
              <a:rPr sz="2400" b="1" i="1" spc="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doanh</a:t>
            </a:r>
            <a:endParaRPr sz="2400">
              <a:latin typeface="Times New Roman"/>
              <a:cs typeface="Times New Roman"/>
            </a:endParaRPr>
          </a:p>
          <a:p>
            <a:pPr marL="789305" marR="8255" lvl="1" indent="-297180">
              <a:lnSpc>
                <a:spcPts val="3750"/>
              </a:lnSpc>
              <a:spcBef>
                <a:spcPts val="265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Đầu </a:t>
            </a:r>
            <a:r>
              <a:rPr sz="2400" i="1" dirty="0">
                <a:solidFill>
                  <a:srgbClr val="000033"/>
                </a:solidFill>
                <a:latin typeface="Times New Roman"/>
                <a:cs typeface="Times New Roman"/>
              </a:rPr>
              <a:t>vào: </a:t>
            </a:r>
            <a:r>
              <a:rPr sz="2400" spc="5" dirty="0">
                <a:solidFill>
                  <a:srgbClr val="000033"/>
                </a:solidFill>
                <a:latin typeface="Times New Roman"/>
                <a:cs typeface="Times New Roman"/>
              </a:rPr>
              <a:t>dữ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liệu thu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thập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được (biên bản,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kê, hoá  đơn,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...)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590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Đầu</a:t>
            </a:r>
            <a:r>
              <a:rPr sz="2400" i="1" spc="7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33"/>
                </a:solidFill>
                <a:latin typeface="Times New Roman"/>
                <a:cs typeface="Times New Roman"/>
              </a:rPr>
              <a:t>ra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:</a:t>
            </a:r>
            <a:r>
              <a:rPr sz="2400" spc="8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những</a:t>
            </a:r>
            <a:r>
              <a:rPr sz="2400" spc="7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thông</a:t>
            </a:r>
            <a:r>
              <a:rPr sz="2400" spc="7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tin</a:t>
            </a:r>
            <a:r>
              <a:rPr sz="2400" spc="7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cần</a:t>
            </a:r>
            <a:r>
              <a:rPr sz="2400" spc="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thiết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cho</a:t>
            </a:r>
            <a:r>
              <a:rPr sz="2400" spc="8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quyết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định</a:t>
            </a:r>
            <a:r>
              <a:rPr sz="2400" spc="7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của</a:t>
            </a:r>
            <a:r>
              <a:rPr sz="2400" spc="7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công</a:t>
            </a:r>
            <a:endParaRPr sz="2400">
              <a:latin typeface="Times New Roman"/>
              <a:cs typeface="Times New Roman"/>
            </a:endParaRPr>
          </a:p>
          <a:p>
            <a:pPr marL="789305">
              <a:spcBef>
                <a:spcPts val="860"/>
              </a:spcBef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4049468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9"/>
            <a:ext cx="8058150" cy="39858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 algn="just">
              <a:spcBef>
                <a:spcPts val="18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1.1.4. Hệ thống thông tin quản</a:t>
            </a:r>
            <a:r>
              <a:rPr sz="2800" b="1" spc="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lý</a:t>
            </a:r>
            <a:endParaRPr sz="2800"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400" b="1" dirty="0">
                <a:solidFill>
                  <a:srgbClr val="00072A"/>
                </a:solidFill>
                <a:latin typeface="Times New Roman"/>
                <a:cs typeface="Times New Roman"/>
              </a:rPr>
              <a:t>Hệ thống </a:t>
            </a:r>
            <a:r>
              <a:rPr sz="24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thông tin quản </a:t>
            </a:r>
            <a:r>
              <a:rPr sz="2400" b="1" dirty="0">
                <a:solidFill>
                  <a:srgbClr val="00072A"/>
                </a:solidFill>
                <a:latin typeface="Times New Roman"/>
                <a:cs typeface="Times New Roman"/>
              </a:rPr>
              <a:t>lý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(Management information  systems): là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hệ thống nhằm cung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cấp các thông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tin cần thiết  cho sự quản lý, điều hành của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doanh</a:t>
            </a:r>
            <a:r>
              <a:rPr sz="2400" spc="-5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nghiệp.</a:t>
            </a:r>
            <a:endParaRPr sz="2400">
              <a:latin typeface="Times New Roman"/>
              <a:cs typeface="Times New Roman"/>
            </a:endParaRPr>
          </a:p>
          <a:p>
            <a:pPr marL="370205" marR="5715" indent="-358140" algn="just">
              <a:lnSpc>
                <a:spcPct val="150000"/>
              </a:lnSpc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Hạt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nhân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của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hệ thống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thông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tin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quản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lý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là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CSDL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chứa  các thông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tin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phản ánh tình trạng và hoạt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động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kinh doanh  hiện thời của doanh</a:t>
            </a:r>
            <a:r>
              <a:rPr sz="2400" spc="-4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nghiệp.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40908" y="4671059"/>
            <a:ext cx="3223260" cy="1847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15</a:t>
            </a:fld>
            <a:endParaRPr spc="-5" dirty="0"/>
          </a:p>
        </p:txBody>
      </p:sp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3809084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8"/>
            <a:ext cx="8058150" cy="5083810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spcBef>
                <a:spcPts val="18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1.1.4. Hệ thống thông tin quản</a:t>
            </a:r>
            <a:r>
              <a:rPr sz="2800" b="1" spc="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lý</a:t>
            </a:r>
            <a:endParaRPr sz="2800">
              <a:latin typeface="Times New Roman"/>
              <a:cs typeface="Times New Roman"/>
            </a:endParaRPr>
          </a:p>
          <a:p>
            <a:pPr marL="370205" marR="5080" indent="-358140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sz="2400" spc="-5" dirty="0">
                <a:latin typeface="Times New Roman"/>
                <a:cs typeface="Times New Roman"/>
              </a:rPr>
              <a:t>HTTT </a:t>
            </a:r>
            <a:r>
              <a:rPr sz="2400" dirty="0">
                <a:latin typeface="Times New Roman"/>
                <a:cs typeface="Times New Roman"/>
              </a:rPr>
              <a:t>quản lý </a:t>
            </a:r>
            <a:r>
              <a:rPr sz="2400" spc="-5" dirty="0">
                <a:latin typeface="Times New Roman"/>
                <a:cs typeface="Times New Roman"/>
              </a:rPr>
              <a:t>là </a:t>
            </a:r>
            <a:r>
              <a:rPr sz="2400" dirty="0">
                <a:latin typeface="Times New Roman"/>
                <a:cs typeface="Times New Roman"/>
              </a:rPr>
              <a:t>sự phát triển </a:t>
            </a:r>
            <a:r>
              <a:rPr sz="2400" spc="-10" dirty="0">
                <a:latin typeface="Times New Roman"/>
                <a:cs typeface="Times New Roman"/>
              </a:rPr>
              <a:t>và </a:t>
            </a:r>
            <a:r>
              <a:rPr sz="2400" dirty="0">
                <a:latin typeface="Times New Roman"/>
                <a:cs typeface="Times New Roman"/>
              </a:rPr>
              <a:t>sử dụng </a:t>
            </a:r>
            <a:r>
              <a:rPr sz="2400" spc="-5" dirty="0">
                <a:latin typeface="Times New Roman"/>
                <a:cs typeface="Times New Roman"/>
              </a:rPr>
              <a:t>HTTT </a:t>
            </a:r>
            <a:r>
              <a:rPr sz="2400" dirty="0">
                <a:latin typeface="Times New Roman"/>
                <a:cs typeface="Times New Roman"/>
              </a:rPr>
              <a:t>có </a:t>
            </a:r>
            <a:r>
              <a:rPr sz="2400" spc="-5" dirty="0">
                <a:latin typeface="Times New Roman"/>
                <a:cs typeface="Times New Roman"/>
              </a:rPr>
              <a:t>hiệu </a:t>
            </a:r>
            <a:r>
              <a:rPr sz="2400" dirty="0">
                <a:latin typeface="Times New Roman"/>
                <a:cs typeface="Times New Roman"/>
              </a:rPr>
              <a:t>quả  trong </a:t>
            </a:r>
            <a:r>
              <a:rPr sz="2400" spc="-10" dirty="0">
                <a:latin typeface="Times New Roman"/>
                <a:cs typeface="Times New Roman"/>
              </a:rPr>
              <a:t>một </a:t>
            </a:r>
            <a:r>
              <a:rPr sz="2400" dirty="0">
                <a:latin typeface="Times New Roman"/>
                <a:cs typeface="Times New Roman"/>
              </a:rPr>
              <a:t>tổ chức</a:t>
            </a:r>
            <a:endParaRPr sz="2400">
              <a:latin typeface="Times New Roman"/>
              <a:cs typeface="Times New Roman"/>
            </a:endParaRPr>
          </a:p>
          <a:p>
            <a:pPr marL="370840" indent="-358140">
              <a:spcBef>
                <a:spcPts val="1440"/>
              </a:spcBef>
              <a:buClr>
                <a:srgbClr val="35BAE4"/>
              </a:buClr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sz="2400" dirty="0">
                <a:latin typeface="Times New Roman"/>
                <a:cs typeface="Times New Roman"/>
              </a:rPr>
              <a:t>Các yếu tố cấu thành nên HTTT quản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lý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dirty="0">
                <a:latin typeface="Times New Roman"/>
                <a:cs typeface="Times New Roman"/>
              </a:rPr>
              <a:t>Thiết bị tin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học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5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dirty="0">
                <a:latin typeface="Times New Roman"/>
                <a:cs typeface="Times New Roman"/>
              </a:rPr>
              <a:t>Các chương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trình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spc="-5" dirty="0">
                <a:latin typeface="Times New Roman"/>
                <a:cs typeface="Times New Roman"/>
              </a:rPr>
              <a:t>Dữ</a:t>
            </a:r>
            <a:r>
              <a:rPr sz="2400" dirty="0">
                <a:latin typeface="Times New Roman"/>
                <a:cs typeface="Times New Roman"/>
              </a:rPr>
              <a:t> liệu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dirty="0">
                <a:latin typeface="Times New Roman"/>
                <a:cs typeface="Times New Roman"/>
              </a:rPr>
              <a:t>Thủ tục – </a:t>
            </a:r>
            <a:r>
              <a:rPr sz="2400" spc="-5" dirty="0">
                <a:latin typeface="Times New Roman"/>
                <a:cs typeface="Times New Roman"/>
              </a:rPr>
              <a:t>quy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trình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dirty="0">
                <a:latin typeface="Times New Roman"/>
                <a:cs typeface="Times New Roman"/>
              </a:rPr>
              <a:t>Con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người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95800" y="3375660"/>
            <a:ext cx="4953000" cy="3022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16</a:t>
            </a:fld>
            <a:endParaRPr spc="-5" dirty="0"/>
          </a:p>
        </p:txBody>
      </p:sp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842201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8"/>
            <a:ext cx="8058150" cy="5083810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spcBef>
                <a:spcPts val="1895"/>
              </a:spcBef>
            </a:pPr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1.1.4. Tại </a:t>
            </a:r>
            <a:r>
              <a:rPr sz="2800" b="1" dirty="0">
                <a:solidFill>
                  <a:srgbClr val="00072A"/>
                </a:solidFill>
                <a:latin typeface="Times New Roman"/>
                <a:cs typeface="Times New Roman"/>
              </a:rPr>
              <a:t>sao </a:t>
            </a:r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cần phát triển hệ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  <a:p>
            <a:pPr marL="370205" marR="5080" indent="-358140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Việc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xây dựng hệ thống là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giải pháp cứu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cánh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trong cuộc  cạnh tranh cùng các đối thủ của nhiều doanh</a:t>
            </a:r>
            <a:r>
              <a:rPr sz="2400" spc="-12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nghiệp.</a:t>
            </a:r>
            <a:endParaRPr sz="2400">
              <a:latin typeface="Times New Roman"/>
              <a:cs typeface="Times New Roman"/>
            </a:endParaRPr>
          </a:p>
          <a:p>
            <a:pPr marL="370840" indent="-358140">
              <a:spcBef>
                <a:spcPts val="1440"/>
              </a:spcBef>
              <a:buClr>
                <a:srgbClr val="35BAE4"/>
              </a:buClr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tổ chức thường xây dựng hệ thống</a:t>
            </a:r>
            <a:r>
              <a:rPr sz="2400" spc="-5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khi</a:t>
            </a:r>
            <a:endParaRPr sz="2400">
              <a:latin typeface="Times New Roman"/>
              <a:cs typeface="Times New Roman"/>
            </a:endParaRPr>
          </a:p>
          <a:p>
            <a:pPr marL="789305" marR="6350" lvl="1" indent="-297180">
              <a:lnSpc>
                <a:spcPts val="4320"/>
              </a:lnSpc>
              <a:spcBef>
                <a:spcPts val="385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Họ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gặp phải những vấn đề làm cản trở hoặc hạn chế không  cho phép họ thực hiện thành công những điều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mong</a:t>
            </a:r>
            <a:r>
              <a:rPr sz="2400" spc="-9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đợi</a:t>
            </a:r>
            <a:endParaRPr sz="2400">
              <a:latin typeface="Times New Roman"/>
              <a:cs typeface="Times New Roman"/>
            </a:endParaRPr>
          </a:p>
          <a:p>
            <a:pPr marL="789305" marR="5080" lvl="1" indent="-297180">
              <a:lnSpc>
                <a:spcPts val="4320"/>
              </a:lnSpc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Muốn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có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ưu thế,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năng lực để có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thể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vượt qua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thách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thức và  chớp lấy cơ</a:t>
            </a:r>
            <a:r>
              <a:rPr sz="2400" spc="-3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hội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06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Do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yêu cầu của đối</a:t>
            </a:r>
            <a:r>
              <a:rPr sz="2400" spc="-3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tác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17</a:t>
            </a:fld>
            <a:endParaRPr spc="-5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97722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9"/>
            <a:ext cx="8037830" cy="288861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>
              <a:spcBef>
                <a:spcPts val="1895"/>
              </a:spcBef>
            </a:pPr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1.1.5. Những nội dung cơ bản của phát triển</a:t>
            </a:r>
            <a:r>
              <a:rPr sz="2800" b="1" spc="6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HT</a:t>
            </a:r>
            <a:endParaRPr sz="2800">
              <a:latin typeface="Times New Roman"/>
              <a:cs typeface="Times New Roman"/>
            </a:endParaRPr>
          </a:p>
          <a:p>
            <a:pPr marL="370840" indent="-358140">
              <a:spcBef>
                <a:spcPts val="1545"/>
              </a:spcBef>
              <a:buClr>
                <a:srgbClr val="35BAE4"/>
              </a:buClr>
              <a:buFont typeface="Wingdings"/>
              <a:buChar char=""/>
              <a:tabLst>
                <a:tab pos="370205" algn="l"/>
                <a:tab pos="3708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Ba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vấn đề lớn liên quan đến quá trình phát triển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hệ thống</a:t>
            </a:r>
            <a:r>
              <a:rPr sz="2400" spc="-14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Các hoạt động phát triển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hệ thống và trình tự thực</a:t>
            </a:r>
            <a:r>
              <a:rPr sz="2400" spc="-15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hiện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Các phương pháp, công nghệ và công cụ sử</a:t>
            </a:r>
            <a:r>
              <a:rPr sz="2400" spc="-7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dụng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305" algn="l"/>
                <a:tab pos="7899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Tổ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chức và quản lý quá trình phát triển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hệ</a:t>
            </a:r>
            <a:r>
              <a:rPr sz="2400" spc="-9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thống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18</a:t>
            </a:fld>
            <a:endParaRPr spc="-5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KHÁI </a:t>
            </a:r>
            <a:r>
              <a:rPr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 VỀ </a:t>
            </a:r>
            <a:r>
              <a:rPr spc="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</a:p>
        </p:txBody>
      </p:sp>
    </p:spTree>
    <p:extLst>
      <p:ext uri="{BB962C8B-B14F-4D97-AF65-F5344CB8AC3E}">
        <p14:creationId xmlns:p14="http://schemas.microsoft.com/office/powerpoint/2010/main" val="4175334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3" y="922159"/>
            <a:ext cx="8060055" cy="39858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 algn="just">
              <a:spcBef>
                <a:spcPts val="1895"/>
              </a:spcBef>
            </a:pPr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1.2.1. Vòng đời của hệ</a:t>
            </a:r>
            <a:r>
              <a:rPr sz="2800" b="1" spc="1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72A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hệ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thống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bất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kỳ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bao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giờ cũng có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vòng đời cùng với  các chu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kỳ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sống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có những đặc trưng riêng, có thể chia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ra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làm  các giai đoạn</a:t>
            </a:r>
            <a:r>
              <a:rPr sz="2400" spc="-4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sau: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 algn="just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940" algn="l"/>
              </a:tabLst>
            </a:pPr>
            <a:r>
              <a:rPr sz="2400" i="1" dirty="0">
                <a:solidFill>
                  <a:srgbClr val="00072A"/>
                </a:solidFill>
                <a:latin typeface="Times New Roman"/>
                <a:cs typeface="Times New Roman"/>
              </a:rPr>
              <a:t>Giai đoạn chuẩn</a:t>
            </a:r>
            <a:r>
              <a:rPr sz="2400" i="1" spc="-1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72A"/>
                </a:solidFill>
                <a:latin typeface="Times New Roman"/>
                <a:cs typeface="Times New Roman"/>
              </a:rPr>
              <a:t>bị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 algn="just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940" algn="l"/>
              </a:tabLst>
            </a:pPr>
            <a:r>
              <a:rPr sz="2400" i="1" dirty="0">
                <a:solidFill>
                  <a:srgbClr val="00072A"/>
                </a:solidFill>
                <a:latin typeface="Times New Roman"/>
                <a:cs typeface="Times New Roman"/>
              </a:rPr>
              <a:t>Giai đoạn khai thác và sử</a:t>
            </a:r>
            <a:r>
              <a:rPr sz="2400" i="1" spc="-3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72A"/>
                </a:solidFill>
                <a:latin typeface="Times New Roman"/>
                <a:cs typeface="Times New Roman"/>
              </a:rPr>
              <a:t>dụng</a:t>
            </a:r>
            <a:endParaRPr sz="2400">
              <a:latin typeface="Times New Roman"/>
              <a:cs typeface="Times New Roman"/>
            </a:endParaRPr>
          </a:p>
          <a:p>
            <a:pPr marL="789305" lvl="1" indent="-297180" algn="just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789940" algn="l"/>
              </a:tabLst>
            </a:pPr>
            <a:r>
              <a:rPr sz="2400" i="1" dirty="0">
                <a:solidFill>
                  <a:srgbClr val="00072A"/>
                </a:solidFill>
                <a:latin typeface="Times New Roman"/>
                <a:cs typeface="Times New Roman"/>
              </a:rPr>
              <a:t>Giai đoạn thay</a:t>
            </a:r>
            <a:r>
              <a:rPr sz="2400" i="1" spc="-2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72A"/>
                </a:solidFill>
                <a:latin typeface="Times New Roman"/>
                <a:cs typeface="Times New Roman"/>
              </a:rPr>
              <a:t>thế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19</a:t>
            </a:fld>
            <a:endParaRPr spc="-5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852416" y="145797"/>
            <a:ext cx="733005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 ĐỜI HỆ THỐNG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807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1150696"/>
            <a:ext cx="4335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1.2.1. Vòng đời của hệ</a:t>
            </a:r>
            <a:r>
              <a:rPr sz="2800" b="1" spc="-1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72A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5882" y="1798932"/>
            <a:ext cx="8135620" cy="4495800"/>
            <a:chOff x="685800" y="1958288"/>
            <a:chExt cx="8135620" cy="4495800"/>
          </a:xfrm>
        </p:grpSpPr>
        <p:sp>
          <p:nvSpPr>
            <p:cNvPr id="5" name="object 5"/>
            <p:cNvSpPr/>
            <p:nvPr/>
          </p:nvSpPr>
          <p:spPr>
            <a:xfrm>
              <a:off x="685800" y="1958288"/>
              <a:ext cx="8135111" cy="4495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9789" y="5982462"/>
              <a:ext cx="1021080" cy="394970"/>
            </a:xfrm>
            <a:custGeom>
              <a:avLst/>
              <a:gdLst/>
              <a:ahLst/>
              <a:cxnLst/>
              <a:rect l="l" t="t" r="r" b="b"/>
              <a:pathLst>
                <a:path w="1021080" h="394970">
                  <a:moveTo>
                    <a:pt x="1021080" y="0"/>
                  </a:moveTo>
                  <a:lnTo>
                    <a:pt x="0" y="0"/>
                  </a:lnTo>
                  <a:lnTo>
                    <a:pt x="0" y="394716"/>
                  </a:lnTo>
                  <a:lnTo>
                    <a:pt x="1021080" y="394716"/>
                  </a:lnTo>
                  <a:lnTo>
                    <a:pt x="1021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29789" y="5982462"/>
              <a:ext cx="1021080" cy="394970"/>
            </a:xfrm>
            <a:custGeom>
              <a:avLst/>
              <a:gdLst/>
              <a:ahLst/>
              <a:cxnLst/>
              <a:rect l="l" t="t" r="r" b="b"/>
              <a:pathLst>
                <a:path w="1021080" h="394970">
                  <a:moveTo>
                    <a:pt x="0" y="394716"/>
                  </a:moveTo>
                  <a:lnTo>
                    <a:pt x="1021080" y="394716"/>
                  </a:lnTo>
                  <a:lnTo>
                    <a:pt x="1021080" y="0"/>
                  </a:lnTo>
                  <a:lnTo>
                    <a:pt x="0" y="0"/>
                  </a:lnTo>
                  <a:lnTo>
                    <a:pt x="0" y="394716"/>
                  </a:lnTo>
                  <a:close/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797051" y="6490848"/>
            <a:ext cx="3111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20</a:t>
            </a:fld>
            <a:endParaRPr spc="-5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852416" y="154692"/>
            <a:ext cx="7330054" cy="45910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 algn="l">
              <a:lnSpc>
                <a:spcPct val="100000"/>
              </a:lnSpc>
              <a:spcBef>
                <a:spcPts val="100"/>
              </a:spcBef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 VÒNG ĐỜI HỆ THỐNG</a:t>
            </a:r>
          </a:p>
        </p:txBody>
      </p:sp>
    </p:spTree>
    <p:extLst>
      <p:ext uri="{BB962C8B-B14F-4D97-AF65-F5344CB8AC3E}">
        <p14:creationId xmlns:p14="http://schemas.microsoft.com/office/powerpoint/2010/main" val="11345675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3" y="1150696"/>
            <a:ext cx="6058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1.2.2. Chu trình phát triển của hệ</a:t>
            </a:r>
            <a:r>
              <a:rPr sz="2800" b="1" spc="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86949" y="2128838"/>
            <a:ext cx="1910080" cy="390525"/>
            <a:chOff x="3405949" y="2128837"/>
            <a:chExt cx="1910080" cy="390525"/>
          </a:xfrm>
        </p:grpSpPr>
        <p:sp>
          <p:nvSpPr>
            <p:cNvPr id="4" name="object 4"/>
            <p:cNvSpPr/>
            <p:nvPr/>
          </p:nvSpPr>
          <p:spPr>
            <a:xfrm>
              <a:off x="3410711" y="2133600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1900427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0427" y="381000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0711" y="2133600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0" y="381000"/>
                  </a:moveTo>
                  <a:lnTo>
                    <a:pt x="1900427" y="381000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791712" y="2133600"/>
            <a:ext cx="1900555" cy="292388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09550">
              <a:spcBef>
                <a:spcPts val="360"/>
              </a:spcBef>
            </a:pPr>
            <a:r>
              <a:rPr sz="1600" b="1" spc="-235" dirty="0">
                <a:solidFill>
                  <a:srgbClr val="000066"/>
                </a:solidFill>
                <a:latin typeface="Tahoma"/>
                <a:cs typeface="Tahoma"/>
              </a:rPr>
              <a:t>Sự </a:t>
            </a:r>
            <a:r>
              <a:rPr sz="1600" b="1" spc="-315" dirty="0" err="1">
                <a:solidFill>
                  <a:srgbClr val="000066"/>
                </a:solidFill>
                <a:latin typeface="Tahoma"/>
                <a:cs typeface="Tahoma"/>
              </a:rPr>
              <a:t>cố</a:t>
            </a:r>
            <a:r>
              <a:rPr sz="1600" b="1" spc="-31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lang="en-US" sz="1600" b="1" spc="-315" dirty="0">
                <a:solidFill>
                  <a:srgbClr val="000066"/>
                </a:solidFill>
                <a:latin typeface="Tahoma"/>
                <a:cs typeface="Tahoma"/>
              </a:rPr>
              <a:t>  </a:t>
            </a:r>
            <a:r>
              <a:rPr sz="1600" b="1" spc="-220" dirty="0" err="1">
                <a:solidFill>
                  <a:srgbClr val="000066"/>
                </a:solidFill>
                <a:latin typeface="Tahoma"/>
                <a:cs typeface="Tahoma"/>
              </a:rPr>
              <a:t>nảy</a:t>
            </a:r>
            <a:r>
              <a:rPr sz="1600" b="1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sinh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21361" y="2764345"/>
            <a:ext cx="1910080" cy="392430"/>
            <a:chOff x="5940361" y="2764345"/>
            <a:chExt cx="1910080" cy="392430"/>
          </a:xfrm>
        </p:grpSpPr>
        <p:sp>
          <p:nvSpPr>
            <p:cNvPr id="8" name="object 8"/>
            <p:cNvSpPr/>
            <p:nvPr/>
          </p:nvSpPr>
          <p:spPr>
            <a:xfrm>
              <a:off x="5945123" y="2769107"/>
              <a:ext cx="1900555" cy="382905"/>
            </a:xfrm>
            <a:custGeom>
              <a:avLst/>
              <a:gdLst/>
              <a:ahLst/>
              <a:cxnLst/>
              <a:rect l="l" t="t" r="r" b="b"/>
              <a:pathLst>
                <a:path w="1900554" h="382905">
                  <a:moveTo>
                    <a:pt x="1900427" y="0"/>
                  </a:moveTo>
                  <a:lnTo>
                    <a:pt x="0" y="0"/>
                  </a:lnTo>
                  <a:lnTo>
                    <a:pt x="0" y="382524"/>
                  </a:lnTo>
                  <a:lnTo>
                    <a:pt x="1900427" y="382524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5123" y="2769107"/>
              <a:ext cx="1900555" cy="382905"/>
            </a:xfrm>
            <a:custGeom>
              <a:avLst/>
              <a:gdLst/>
              <a:ahLst/>
              <a:cxnLst/>
              <a:rect l="l" t="t" r="r" b="b"/>
              <a:pathLst>
                <a:path w="1900554" h="382905">
                  <a:moveTo>
                    <a:pt x="0" y="382524"/>
                  </a:moveTo>
                  <a:lnTo>
                    <a:pt x="1900427" y="382524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3825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26124" y="2769108"/>
            <a:ext cx="1900555" cy="29302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42875">
              <a:spcBef>
                <a:spcPts val="365"/>
              </a:spcBef>
            </a:pPr>
            <a:r>
              <a:rPr sz="1600" b="1" spc="-5" dirty="0" err="1">
                <a:solidFill>
                  <a:srgbClr val="000066"/>
                </a:solidFill>
                <a:latin typeface="Tahoma"/>
                <a:cs typeface="Tahoma"/>
              </a:rPr>
              <a:t>Xác</a:t>
            </a: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285" dirty="0">
                <a:solidFill>
                  <a:srgbClr val="000066"/>
                </a:solidFill>
                <a:latin typeface="Tahoma"/>
                <a:cs typeface="Tahoma"/>
              </a:rPr>
              <a:t>đ</a:t>
            </a:r>
            <a:r>
              <a:rPr lang="en-US" sz="1600" b="1" spc="-28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285" dirty="0">
                <a:solidFill>
                  <a:srgbClr val="000066"/>
                </a:solidFill>
                <a:latin typeface="Tahoma"/>
                <a:cs typeface="Tahoma"/>
              </a:rPr>
              <a:t>ị</a:t>
            </a:r>
            <a:r>
              <a:rPr lang="en-US" sz="1600" b="1" spc="-28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285" dirty="0" err="1">
                <a:solidFill>
                  <a:srgbClr val="000066"/>
                </a:solidFill>
                <a:latin typeface="Tahoma"/>
                <a:cs typeface="Tahoma"/>
              </a:rPr>
              <a:t>nh</a:t>
            </a:r>
            <a:r>
              <a:rPr sz="1600" b="1" spc="-10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220" dirty="0">
                <a:solidFill>
                  <a:srgbClr val="000066"/>
                </a:solidFill>
                <a:latin typeface="Tahoma"/>
                <a:cs typeface="Tahoma"/>
              </a:rPr>
              <a:t>vấn</a:t>
            </a:r>
            <a:r>
              <a:rPr sz="1600" b="1" spc="-5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330" dirty="0">
                <a:solidFill>
                  <a:srgbClr val="000066"/>
                </a:solidFill>
                <a:latin typeface="Tahoma"/>
                <a:cs typeface="Tahoma"/>
              </a:rPr>
              <a:t>đề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21361" y="3782378"/>
            <a:ext cx="1910080" cy="390525"/>
            <a:chOff x="5940361" y="3782377"/>
            <a:chExt cx="1910080" cy="390525"/>
          </a:xfrm>
        </p:grpSpPr>
        <p:sp>
          <p:nvSpPr>
            <p:cNvPr id="12" name="object 12"/>
            <p:cNvSpPr/>
            <p:nvPr/>
          </p:nvSpPr>
          <p:spPr>
            <a:xfrm>
              <a:off x="5945123" y="3787140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1900427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0427" y="381000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5123" y="3787140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0" y="381000"/>
                  </a:moveTo>
                  <a:lnTo>
                    <a:pt x="1900427" y="381000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26124" y="3787140"/>
            <a:ext cx="1900555" cy="292388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71805">
              <a:spcBef>
                <a:spcPts val="360"/>
              </a:spcBef>
            </a:pPr>
            <a:r>
              <a:rPr sz="1600" b="1" spc="-10" dirty="0">
                <a:solidFill>
                  <a:srgbClr val="000066"/>
                </a:solidFill>
                <a:latin typeface="Tahoma"/>
                <a:cs typeface="Tahoma"/>
              </a:rPr>
              <a:t>Phân</a:t>
            </a:r>
            <a:r>
              <a:rPr sz="1600" b="1" spc="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tích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21361" y="4672394"/>
            <a:ext cx="1910080" cy="390525"/>
            <a:chOff x="5940361" y="4672393"/>
            <a:chExt cx="1910080" cy="390525"/>
          </a:xfrm>
        </p:grpSpPr>
        <p:sp>
          <p:nvSpPr>
            <p:cNvPr id="16" name="object 16"/>
            <p:cNvSpPr/>
            <p:nvPr/>
          </p:nvSpPr>
          <p:spPr>
            <a:xfrm>
              <a:off x="5945123" y="4677155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1900427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0427" y="381000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5123" y="4677155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0" y="381000"/>
                  </a:moveTo>
                  <a:lnTo>
                    <a:pt x="1900427" y="381000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26124" y="4677156"/>
            <a:ext cx="1900555" cy="29302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558800">
              <a:spcBef>
                <a:spcPts val="365"/>
              </a:spcBef>
            </a:pPr>
            <a:r>
              <a:rPr sz="1600" b="1" spc="-135" dirty="0">
                <a:solidFill>
                  <a:srgbClr val="000066"/>
                </a:solidFill>
                <a:latin typeface="Tahoma"/>
                <a:cs typeface="Tahoma"/>
              </a:rPr>
              <a:t>thiết</a:t>
            </a:r>
            <a:r>
              <a:rPr sz="1600" b="1" spc="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330" dirty="0">
                <a:solidFill>
                  <a:srgbClr val="000066"/>
                </a:solidFill>
                <a:latin typeface="Tahoma"/>
                <a:cs typeface="Tahoma"/>
              </a:rPr>
              <a:t>kế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21361" y="5690426"/>
            <a:ext cx="1910080" cy="390525"/>
            <a:chOff x="5940361" y="5690425"/>
            <a:chExt cx="1910080" cy="390525"/>
          </a:xfrm>
        </p:grpSpPr>
        <p:sp>
          <p:nvSpPr>
            <p:cNvPr id="20" name="object 20"/>
            <p:cNvSpPr/>
            <p:nvPr/>
          </p:nvSpPr>
          <p:spPr>
            <a:xfrm>
              <a:off x="5945123" y="5695188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1900427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0427" y="381000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45123" y="5695188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0" y="381000"/>
                  </a:moveTo>
                  <a:lnTo>
                    <a:pt x="1900427" y="381000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326124" y="5695188"/>
            <a:ext cx="1900555" cy="292388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494665">
              <a:spcBef>
                <a:spcPts val="360"/>
              </a:spcBef>
            </a:pP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Đánh</a:t>
            </a:r>
            <a:r>
              <a:rPr sz="1600" b="1" spc="1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000066"/>
                </a:solidFill>
                <a:latin typeface="Tahoma"/>
                <a:cs typeface="Tahoma"/>
              </a:rPr>
              <a:t>giá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45445" y="5690426"/>
            <a:ext cx="1910080" cy="390525"/>
            <a:chOff x="3564445" y="5690425"/>
            <a:chExt cx="1910080" cy="390525"/>
          </a:xfrm>
        </p:grpSpPr>
        <p:sp>
          <p:nvSpPr>
            <p:cNvPr id="24" name="object 24"/>
            <p:cNvSpPr/>
            <p:nvPr/>
          </p:nvSpPr>
          <p:spPr>
            <a:xfrm>
              <a:off x="3569208" y="5695188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1900427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0427" y="381000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69208" y="5695188"/>
              <a:ext cx="1900555" cy="381000"/>
            </a:xfrm>
            <a:custGeom>
              <a:avLst/>
              <a:gdLst/>
              <a:ahLst/>
              <a:cxnLst/>
              <a:rect l="l" t="t" r="r" b="b"/>
              <a:pathLst>
                <a:path w="1900554" h="381000">
                  <a:moveTo>
                    <a:pt x="0" y="381000"/>
                  </a:moveTo>
                  <a:lnTo>
                    <a:pt x="1900427" y="381000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50209" y="5695188"/>
            <a:ext cx="1900555" cy="292388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53035">
              <a:spcBef>
                <a:spcPts val="360"/>
              </a:spcBef>
            </a:pPr>
            <a:r>
              <a:rPr sz="1600" b="1" spc="-204" dirty="0" err="1">
                <a:solidFill>
                  <a:srgbClr val="000066"/>
                </a:solidFill>
                <a:latin typeface="Tahoma"/>
                <a:cs typeface="Tahoma"/>
              </a:rPr>
              <a:t>Gợ</a:t>
            </a:r>
            <a:r>
              <a:rPr lang="en-US" sz="1600" b="1" spc="-204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204" dirty="0" err="1">
                <a:solidFill>
                  <a:srgbClr val="000066"/>
                </a:solidFill>
                <a:latin typeface="Tahoma"/>
                <a:cs typeface="Tahoma"/>
              </a:rPr>
              <a:t>i</a:t>
            </a:r>
            <a:r>
              <a:rPr sz="1600" b="1" spc="-204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ý, bình</a:t>
            </a:r>
            <a:r>
              <a:rPr sz="1600" b="1" spc="-5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165" dirty="0">
                <a:solidFill>
                  <a:srgbClr val="000066"/>
                </a:solidFill>
                <a:latin typeface="Tahoma"/>
                <a:cs typeface="Tahoma"/>
              </a:rPr>
              <a:t>luận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15797" y="5695188"/>
            <a:ext cx="1900555" cy="381000"/>
          </a:xfrm>
          <a:custGeom>
            <a:avLst/>
            <a:gdLst/>
            <a:ahLst/>
            <a:cxnLst/>
            <a:rect l="l" t="t" r="r" b="b"/>
            <a:pathLst>
              <a:path w="1900555" h="381000">
                <a:moveTo>
                  <a:pt x="0" y="381000"/>
                </a:moveTo>
                <a:lnTo>
                  <a:pt x="1900427" y="381000"/>
                </a:lnTo>
                <a:lnTo>
                  <a:pt x="1900427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998092" y="5729122"/>
            <a:ext cx="73723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Cài</a:t>
            </a:r>
            <a:r>
              <a:rPr sz="1600" b="1" spc="-6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220" dirty="0">
                <a:solidFill>
                  <a:srgbClr val="000066"/>
                </a:solidFill>
                <a:latin typeface="Tahoma"/>
                <a:cs typeface="Tahoma"/>
              </a:rPr>
              <a:t>đặt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12748" y="3875507"/>
            <a:ext cx="2067305" cy="549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70886" y="4075303"/>
            <a:ext cx="1917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+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11033" y="4798885"/>
            <a:ext cx="1910080" cy="392430"/>
            <a:chOff x="1030033" y="4798885"/>
            <a:chExt cx="1910080" cy="392430"/>
          </a:xfrm>
        </p:grpSpPr>
        <p:sp>
          <p:nvSpPr>
            <p:cNvPr id="32" name="object 32"/>
            <p:cNvSpPr/>
            <p:nvPr/>
          </p:nvSpPr>
          <p:spPr>
            <a:xfrm>
              <a:off x="1034796" y="4803647"/>
              <a:ext cx="1900555" cy="382905"/>
            </a:xfrm>
            <a:custGeom>
              <a:avLst/>
              <a:gdLst/>
              <a:ahLst/>
              <a:cxnLst/>
              <a:rect l="l" t="t" r="r" b="b"/>
              <a:pathLst>
                <a:path w="1900555" h="382904">
                  <a:moveTo>
                    <a:pt x="1900427" y="0"/>
                  </a:moveTo>
                  <a:lnTo>
                    <a:pt x="0" y="0"/>
                  </a:lnTo>
                  <a:lnTo>
                    <a:pt x="0" y="382524"/>
                  </a:lnTo>
                  <a:lnTo>
                    <a:pt x="1900427" y="382524"/>
                  </a:lnTo>
                  <a:lnTo>
                    <a:pt x="1900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4796" y="4803647"/>
              <a:ext cx="1900555" cy="382905"/>
            </a:xfrm>
            <a:custGeom>
              <a:avLst/>
              <a:gdLst/>
              <a:ahLst/>
              <a:cxnLst/>
              <a:rect l="l" t="t" r="r" b="b"/>
              <a:pathLst>
                <a:path w="1900555" h="382904">
                  <a:moveTo>
                    <a:pt x="0" y="382524"/>
                  </a:moveTo>
                  <a:lnTo>
                    <a:pt x="1900427" y="382524"/>
                  </a:lnTo>
                  <a:lnTo>
                    <a:pt x="1900427" y="0"/>
                  </a:lnTo>
                  <a:lnTo>
                    <a:pt x="0" y="0"/>
                  </a:lnTo>
                  <a:lnTo>
                    <a:pt x="0" y="3825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415797" y="4803647"/>
            <a:ext cx="1900555" cy="2936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610235">
              <a:spcBef>
                <a:spcPts val="370"/>
              </a:spcBef>
            </a:pPr>
            <a:r>
              <a:rPr sz="1600" b="1" spc="-220" dirty="0">
                <a:solidFill>
                  <a:srgbClr val="000066"/>
                </a:solidFill>
                <a:latin typeface="Tahoma"/>
                <a:cs typeface="Tahoma"/>
              </a:rPr>
              <a:t>Bảo</a:t>
            </a:r>
            <a:r>
              <a:rPr sz="1600" b="1" spc="1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trì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276922" y="2560129"/>
            <a:ext cx="2812415" cy="834390"/>
            <a:chOff x="895921" y="2560129"/>
            <a:chExt cx="2812415" cy="834390"/>
          </a:xfrm>
        </p:grpSpPr>
        <p:sp>
          <p:nvSpPr>
            <p:cNvPr id="36" name="object 36"/>
            <p:cNvSpPr/>
            <p:nvPr/>
          </p:nvSpPr>
          <p:spPr>
            <a:xfrm>
              <a:off x="900683" y="2564892"/>
              <a:ext cx="2802890" cy="824865"/>
            </a:xfrm>
            <a:custGeom>
              <a:avLst/>
              <a:gdLst/>
              <a:ahLst/>
              <a:cxnLst/>
              <a:rect l="l" t="t" r="r" b="b"/>
              <a:pathLst>
                <a:path w="2802890" h="824864">
                  <a:moveTo>
                    <a:pt x="1884299" y="0"/>
                  </a:moveTo>
                  <a:lnTo>
                    <a:pt x="1401317" y="221361"/>
                  </a:lnTo>
                  <a:lnTo>
                    <a:pt x="1083691" y="87630"/>
                  </a:lnTo>
                  <a:lnTo>
                    <a:pt x="948690" y="241300"/>
                  </a:lnTo>
                  <a:lnTo>
                    <a:pt x="48006" y="87630"/>
                  </a:lnTo>
                  <a:lnTo>
                    <a:pt x="600329" y="290703"/>
                  </a:lnTo>
                  <a:lnTo>
                    <a:pt x="0" y="328803"/>
                  </a:lnTo>
                  <a:lnTo>
                    <a:pt x="482981" y="449453"/>
                  </a:lnTo>
                  <a:lnTo>
                    <a:pt x="17513" y="556768"/>
                  </a:lnTo>
                  <a:lnTo>
                    <a:pt x="735329" y="532003"/>
                  </a:lnTo>
                  <a:lnTo>
                    <a:pt x="617854" y="672465"/>
                  </a:lnTo>
                  <a:lnTo>
                    <a:pt x="1001014" y="596519"/>
                  </a:lnTo>
                  <a:lnTo>
                    <a:pt x="1100963" y="824484"/>
                  </a:lnTo>
                  <a:lnTo>
                    <a:pt x="1366520" y="570103"/>
                  </a:lnTo>
                  <a:lnTo>
                    <a:pt x="1718817" y="753363"/>
                  </a:lnTo>
                  <a:lnTo>
                    <a:pt x="1819148" y="551815"/>
                  </a:lnTo>
                  <a:lnTo>
                    <a:pt x="2354326" y="690753"/>
                  </a:lnTo>
                  <a:lnTo>
                    <a:pt x="2184654" y="494030"/>
                  </a:lnTo>
                  <a:lnTo>
                    <a:pt x="2802636" y="507238"/>
                  </a:lnTo>
                  <a:lnTo>
                    <a:pt x="2284476" y="399796"/>
                  </a:lnTo>
                  <a:lnTo>
                    <a:pt x="2737357" y="310642"/>
                  </a:lnTo>
                  <a:lnTo>
                    <a:pt x="2167128" y="279273"/>
                  </a:lnTo>
                  <a:lnTo>
                    <a:pt x="2384805" y="170180"/>
                  </a:lnTo>
                  <a:lnTo>
                    <a:pt x="1836674" y="203200"/>
                  </a:lnTo>
                  <a:lnTo>
                    <a:pt x="18842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00683" y="2564892"/>
              <a:ext cx="2802890" cy="824865"/>
            </a:xfrm>
            <a:custGeom>
              <a:avLst/>
              <a:gdLst/>
              <a:ahLst/>
              <a:cxnLst/>
              <a:rect l="l" t="t" r="r" b="b"/>
              <a:pathLst>
                <a:path w="2802890" h="824864">
                  <a:moveTo>
                    <a:pt x="1401317" y="221361"/>
                  </a:moveTo>
                  <a:lnTo>
                    <a:pt x="1884299" y="0"/>
                  </a:lnTo>
                  <a:lnTo>
                    <a:pt x="1836674" y="203200"/>
                  </a:lnTo>
                  <a:lnTo>
                    <a:pt x="2384805" y="170180"/>
                  </a:lnTo>
                  <a:lnTo>
                    <a:pt x="2167128" y="279273"/>
                  </a:lnTo>
                  <a:lnTo>
                    <a:pt x="2737357" y="310642"/>
                  </a:lnTo>
                  <a:lnTo>
                    <a:pt x="2284476" y="399796"/>
                  </a:lnTo>
                  <a:lnTo>
                    <a:pt x="2802636" y="507238"/>
                  </a:lnTo>
                  <a:lnTo>
                    <a:pt x="2184654" y="494030"/>
                  </a:lnTo>
                  <a:lnTo>
                    <a:pt x="2354326" y="690753"/>
                  </a:lnTo>
                  <a:lnTo>
                    <a:pt x="1819148" y="551815"/>
                  </a:lnTo>
                  <a:lnTo>
                    <a:pt x="1718817" y="753363"/>
                  </a:lnTo>
                  <a:lnTo>
                    <a:pt x="1366520" y="570103"/>
                  </a:lnTo>
                  <a:lnTo>
                    <a:pt x="1100963" y="824484"/>
                  </a:lnTo>
                  <a:lnTo>
                    <a:pt x="1001014" y="596519"/>
                  </a:lnTo>
                  <a:lnTo>
                    <a:pt x="617854" y="672465"/>
                  </a:lnTo>
                  <a:lnTo>
                    <a:pt x="735329" y="532003"/>
                  </a:lnTo>
                  <a:lnTo>
                    <a:pt x="17513" y="556768"/>
                  </a:lnTo>
                  <a:lnTo>
                    <a:pt x="482981" y="449453"/>
                  </a:lnTo>
                  <a:lnTo>
                    <a:pt x="0" y="328803"/>
                  </a:lnTo>
                  <a:lnTo>
                    <a:pt x="600329" y="290703"/>
                  </a:lnTo>
                  <a:lnTo>
                    <a:pt x="48006" y="87630"/>
                  </a:lnTo>
                  <a:lnTo>
                    <a:pt x="948690" y="241300"/>
                  </a:lnTo>
                  <a:lnTo>
                    <a:pt x="1083691" y="87630"/>
                  </a:lnTo>
                  <a:lnTo>
                    <a:pt x="1401317" y="22136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961514" y="2840227"/>
            <a:ext cx="13601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120" dirty="0">
                <a:solidFill>
                  <a:srgbClr val="000066"/>
                </a:solidFill>
                <a:latin typeface="Tahoma"/>
                <a:cs typeface="Tahoma"/>
              </a:rPr>
              <a:t>khủng</a:t>
            </a:r>
            <a:r>
              <a:rPr sz="1600" b="1" spc="-45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140" dirty="0">
                <a:solidFill>
                  <a:srgbClr val="000066"/>
                </a:solidFill>
                <a:latin typeface="Tahoma"/>
                <a:cs typeface="Tahoma"/>
              </a:rPr>
              <a:t>hoảng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328673" y="2388108"/>
            <a:ext cx="4986655" cy="3598545"/>
          </a:xfrm>
          <a:custGeom>
            <a:avLst/>
            <a:gdLst/>
            <a:ahLst/>
            <a:cxnLst/>
            <a:rect l="l" t="t" r="r" b="b"/>
            <a:pathLst>
              <a:path w="4986655" h="3598545">
                <a:moveTo>
                  <a:pt x="76200" y="2874264"/>
                </a:moveTo>
                <a:lnTo>
                  <a:pt x="69850" y="2861564"/>
                </a:lnTo>
                <a:lnTo>
                  <a:pt x="38100" y="2798064"/>
                </a:lnTo>
                <a:lnTo>
                  <a:pt x="0" y="2874264"/>
                </a:lnTo>
                <a:lnTo>
                  <a:pt x="31750" y="2874264"/>
                </a:lnTo>
                <a:lnTo>
                  <a:pt x="31750" y="3307080"/>
                </a:lnTo>
                <a:lnTo>
                  <a:pt x="44450" y="3307080"/>
                </a:lnTo>
                <a:lnTo>
                  <a:pt x="44450" y="2874264"/>
                </a:lnTo>
                <a:lnTo>
                  <a:pt x="76200" y="2874264"/>
                </a:lnTo>
                <a:close/>
              </a:path>
              <a:path w="4986655" h="3598545">
                <a:moveTo>
                  <a:pt x="76200" y="2110740"/>
                </a:moveTo>
                <a:lnTo>
                  <a:pt x="69850" y="2098040"/>
                </a:lnTo>
                <a:lnTo>
                  <a:pt x="38100" y="2034540"/>
                </a:lnTo>
                <a:lnTo>
                  <a:pt x="0" y="2110740"/>
                </a:lnTo>
                <a:lnTo>
                  <a:pt x="31750" y="2110740"/>
                </a:lnTo>
                <a:lnTo>
                  <a:pt x="31750" y="2415540"/>
                </a:lnTo>
                <a:lnTo>
                  <a:pt x="44450" y="2415540"/>
                </a:lnTo>
                <a:lnTo>
                  <a:pt x="44450" y="2110740"/>
                </a:lnTo>
                <a:lnTo>
                  <a:pt x="76200" y="2110740"/>
                </a:lnTo>
                <a:close/>
              </a:path>
              <a:path w="4986655" h="3598545">
                <a:moveTo>
                  <a:pt x="210312" y="974090"/>
                </a:moveTo>
                <a:lnTo>
                  <a:pt x="206184" y="948817"/>
                </a:lnTo>
                <a:lnTo>
                  <a:pt x="196596" y="890016"/>
                </a:lnTo>
                <a:lnTo>
                  <a:pt x="137541" y="951484"/>
                </a:lnTo>
                <a:lnTo>
                  <a:pt x="167919" y="960932"/>
                </a:lnTo>
                <a:lnTo>
                  <a:pt x="32004" y="1397127"/>
                </a:lnTo>
                <a:lnTo>
                  <a:pt x="44196" y="1400937"/>
                </a:lnTo>
                <a:lnTo>
                  <a:pt x="179971" y="964679"/>
                </a:lnTo>
                <a:lnTo>
                  <a:pt x="210312" y="974090"/>
                </a:lnTo>
                <a:close/>
              </a:path>
              <a:path w="4986655" h="3598545">
                <a:moveTo>
                  <a:pt x="1463040" y="0"/>
                </a:moveTo>
                <a:lnTo>
                  <a:pt x="1379728" y="17907"/>
                </a:lnTo>
                <a:lnTo>
                  <a:pt x="1399628" y="42760"/>
                </a:lnTo>
                <a:lnTo>
                  <a:pt x="983615" y="376047"/>
                </a:lnTo>
                <a:lnTo>
                  <a:pt x="991489" y="385953"/>
                </a:lnTo>
                <a:lnTo>
                  <a:pt x="1407541" y="52641"/>
                </a:lnTo>
                <a:lnTo>
                  <a:pt x="1427353" y="77343"/>
                </a:lnTo>
                <a:lnTo>
                  <a:pt x="1446974" y="34798"/>
                </a:lnTo>
                <a:lnTo>
                  <a:pt x="1463040" y="0"/>
                </a:lnTo>
                <a:close/>
              </a:path>
              <a:path w="4986655" h="3598545">
                <a:moveTo>
                  <a:pt x="1621536" y="3553714"/>
                </a:moveTo>
                <a:lnTo>
                  <a:pt x="1063752" y="3553714"/>
                </a:lnTo>
                <a:lnTo>
                  <a:pt x="1063752" y="3521964"/>
                </a:lnTo>
                <a:lnTo>
                  <a:pt x="987552" y="3560064"/>
                </a:lnTo>
                <a:lnTo>
                  <a:pt x="1063752" y="3598164"/>
                </a:lnTo>
                <a:lnTo>
                  <a:pt x="1063752" y="3566414"/>
                </a:lnTo>
                <a:lnTo>
                  <a:pt x="1621536" y="3566414"/>
                </a:lnTo>
                <a:lnTo>
                  <a:pt x="1621536" y="3553714"/>
                </a:lnTo>
                <a:close/>
              </a:path>
              <a:path w="4986655" h="3598545">
                <a:moveTo>
                  <a:pt x="3997452" y="3553714"/>
                </a:moveTo>
                <a:lnTo>
                  <a:pt x="3598164" y="3553714"/>
                </a:lnTo>
                <a:lnTo>
                  <a:pt x="3598164" y="3521964"/>
                </a:lnTo>
                <a:lnTo>
                  <a:pt x="3521964" y="3560064"/>
                </a:lnTo>
                <a:lnTo>
                  <a:pt x="3598164" y="3598164"/>
                </a:lnTo>
                <a:lnTo>
                  <a:pt x="3598164" y="3566414"/>
                </a:lnTo>
                <a:lnTo>
                  <a:pt x="3997452" y="3566414"/>
                </a:lnTo>
                <a:lnTo>
                  <a:pt x="3997452" y="3553714"/>
                </a:lnTo>
                <a:close/>
              </a:path>
              <a:path w="4986655" h="3598545">
                <a:moveTo>
                  <a:pt x="3997452" y="381000"/>
                </a:moveTo>
                <a:lnTo>
                  <a:pt x="3981678" y="363220"/>
                </a:lnTo>
                <a:lnTo>
                  <a:pt x="3940937" y="317246"/>
                </a:lnTo>
                <a:lnTo>
                  <a:pt x="3929100" y="346671"/>
                </a:lnTo>
                <a:lnTo>
                  <a:pt x="3365881" y="120650"/>
                </a:lnTo>
                <a:lnTo>
                  <a:pt x="3361055" y="132334"/>
                </a:lnTo>
                <a:lnTo>
                  <a:pt x="3924338" y="358508"/>
                </a:lnTo>
                <a:lnTo>
                  <a:pt x="3912489" y="387985"/>
                </a:lnTo>
                <a:lnTo>
                  <a:pt x="3997452" y="381000"/>
                </a:lnTo>
                <a:close/>
              </a:path>
              <a:path w="4986655" h="3598545">
                <a:moveTo>
                  <a:pt x="4986528" y="3230880"/>
                </a:moveTo>
                <a:lnTo>
                  <a:pt x="4954778" y="3230880"/>
                </a:lnTo>
                <a:lnTo>
                  <a:pt x="4954778" y="2670048"/>
                </a:lnTo>
                <a:lnTo>
                  <a:pt x="4942078" y="2670048"/>
                </a:lnTo>
                <a:lnTo>
                  <a:pt x="4942078" y="3230880"/>
                </a:lnTo>
                <a:lnTo>
                  <a:pt x="4910328" y="3230880"/>
                </a:lnTo>
                <a:lnTo>
                  <a:pt x="4948428" y="3307080"/>
                </a:lnTo>
                <a:lnTo>
                  <a:pt x="4980178" y="3243580"/>
                </a:lnTo>
                <a:lnTo>
                  <a:pt x="4986528" y="3230880"/>
                </a:lnTo>
                <a:close/>
              </a:path>
              <a:path w="4986655" h="3598545">
                <a:moveTo>
                  <a:pt x="4986528" y="2212848"/>
                </a:moveTo>
                <a:lnTo>
                  <a:pt x="4954778" y="2212848"/>
                </a:lnTo>
                <a:lnTo>
                  <a:pt x="4954778" y="1780032"/>
                </a:lnTo>
                <a:lnTo>
                  <a:pt x="4942078" y="1780032"/>
                </a:lnTo>
                <a:lnTo>
                  <a:pt x="4942078" y="2212848"/>
                </a:lnTo>
                <a:lnTo>
                  <a:pt x="4910328" y="2212848"/>
                </a:lnTo>
                <a:lnTo>
                  <a:pt x="4948428" y="2289048"/>
                </a:lnTo>
                <a:lnTo>
                  <a:pt x="4980178" y="2225548"/>
                </a:lnTo>
                <a:lnTo>
                  <a:pt x="4986528" y="2212848"/>
                </a:lnTo>
                <a:close/>
              </a:path>
              <a:path w="4986655" h="3598545">
                <a:moveTo>
                  <a:pt x="4986528" y="1322832"/>
                </a:moveTo>
                <a:lnTo>
                  <a:pt x="4954778" y="1322832"/>
                </a:lnTo>
                <a:lnTo>
                  <a:pt x="4954778" y="763524"/>
                </a:lnTo>
                <a:lnTo>
                  <a:pt x="4942078" y="763524"/>
                </a:lnTo>
                <a:lnTo>
                  <a:pt x="4942078" y="1322832"/>
                </a:lnTo>
                <a:lnTo>
                  <a:pt x="4910328" y="1322832"/>
                </a:lnTo>
                <a:lnTo>
                  <a:pt x="4948428" y="1399032"/>
                </a:lnTo>
                <a:lnTo>
                  <a:pt x="4980178" y="1335532"/>
                </a:lnTo>
                <a:lnTo>
                  <a:pt x="4986528" y="13228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683765" y="4483609"/>
            <a:ext cx="2059305" cy="2546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6355" rIns="0" bIns="0" rtlCol="0">
            <a:spAutoFit/>
          </a:bodyPr>
          <a:lstStyle/>
          <a:p>
            <a:pPr marL="90805">
              <a:lnSpc>
                <a:spcPts val="1639"/>
              </a:lnSpc>
              <a:spcBef>
                <a:spcPts val="365"/>
              </a:spcBef>
            </a:pP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yêu </a:t>
            </a:r>
            <a:r>
              <a:rPr sz="1600" b="1" spc="-220" dirty="0">
                <a:solidFill>
                  <a:srgbClr val="000066"/>
                </a:solidFill>
                <a:latin typeface="Tahoma"/>
                <a:cs typeface="Tahoma"/>
              </a:rPr>
              <a:t>cầu </a:t>
            </a:r>
            <a:r>
              <a:rPr sz="1600" b="1" spc="-5" dirty="0">
                <a:solidFill>
                  <a:srgbClr val="000066"/>
                </a:solidFill>
                <a:latin typeface="Tahoma"/>
                <a:cs typeface="Tahoma"/>
              </a:rPr>
              <a:t>thay</a:t>
            </a:r>
            <a:r>
              <a:rPr sz="1600" b="1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1600" b="1" spc="-210" dirty="0">
                <a:solidFill>
                  <a:srgbClr val="000066"/>
                </a:solidFill>
                <a:latin typeface="Tahoma"/>
                <a:cs typeface="Tahoma"/>
              </a:rPr>
              <a:t>đổi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21</a:t>
            </a:fld>
            <a:endParaRPr spc="-5" dirty="0"/>
          </a:p>
        </p:txBody>
      </p:sp>
      <p:sp>
        <p:nvSpPr>
          <p:cNvPr id="44" name="object 3"/>
          <p:cNvSpPr txBox="1">
            <a:spLocks/>
          </p:cNvSpPr>
          <p:nvPr/>
        </p:nvSpPr>
        <p:spPr>
          <a:xfrm>
            <a:off x="1852416" y="154692"/>
            <a:ext cx="7330054" cy="45910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 algn="l">
              <a:lnSpc>
                <a:spcPct val="100000"/>
              </a:lnSpc>
              <a:spcBef>
                <a:spcPts val="100"/>
              </a:spcBef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 VÒNG ĐỜI HỆ THỐNG</a:t>
            </a:r>
          </a:p>
        </p:txBody>
      </p:sp>
    </p:spTree>
    <p:extLst>
      <p:ext uri="{BB962C8B-B14F-4D97-AF65-F5344CB8AC3E}">
        <p14:creationId xmlns:p14="http://schemas.microsoft.com/office/powerpoint/2010/main" val="888937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1150696"/>
            <a:ext cx="66744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1.2.3. Các bước phát triển của một hệ</a:t>
            </a:r>
            <a:r>
              <a:rPr sz="2800" b="1" spc="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0" y="1671918"/>
            <a:ext cx="4648200" cy="4604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797051" y="6490848"/>
            <a:ext cx="3111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22</a:t>
            </a:fld>
            <a:endParaRPr spc="-5" dirty="0"/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852416" y="154692"/>
            <a:ext cx="7330054" cy="45910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 algn="l">
              <a:lnSpc>
                <a:spcPct val="100000"/>
              </a:lnSpc>
              <a:spcBef>
                <a:spcPts val="100"/>
              </a:spcBef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 VÒNG ĐỜI HỆ THỐNG</a:t>
            </a:r>
          </a:p>
        </p:txBody>
      </p:sp>
    </p:spTree>
    <p:extLst>
      <p:ext uri="{BB962C8B-B14F-4D97-AF65-F5344CB8AC3E}">
        <p14:creationId xmlns:p14="http://schemas.microsoft.com/office/powerpoint/2010/main" val="2454749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1150696"/>
            <a:ext cx="66744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1.2.3. Các bước phát triển của một hệ</a:t>
            </a:r>
            <a:r>
              <a:rPr sz="2800" b="1" spc="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48435" y="1699110"/>
            <a:ext cx="5181600" cy="4695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797051" y="6490848"/>
            <a:ext cx="3111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2431166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27912" y="1150696"/>
            <a:ext cx="66744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1.2.3. Các bước phát triển của một hệ</a:t>
            </a:r>
            <a:r>
              <a:rPr sz="2800" b="1" spc="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24</a:t>
            </a:fld>
            <a:endParaRPr spc="-5" dirty="0"/>
          </a:p>
        </p:txBody>
      </p:sp>
      <p:sp>
        <p:nvSpPr>
          <p:cNvPr id="20" name="object 3"/>
          <p:cNvSpPr txBox="1">
            <a:spLocks/>
          </p:cNvSpPr>
          <p:nvPr/>
        </p:nvSpPr>
        <p:spPr>
          <a:xfrm>
            <a:off x="1852416" y="154692"/>
            <a:ext cx="7330054" cy="45910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050" algn="l">
              <a:lnSpc>
                <a:spcPct val="100000"/>
              </a:lnSpc>
              <a:spcBef>
                <a:spcPts val="100"/>
              </a:spcBef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 VÒNG ĐỜI HỆ THỐNG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130" y="1602816"/>
            <a:ext cx="3702011" cy="460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41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9" y="1783079"/>
            <a:ext cx="4800600" cy="4463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7912" y="1150696"/>
            <a:ext cx="38055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1.3.1. Mô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thác</a:t>
            </a:r>
            <a:r>
              <a:rPr sz="2800" b="1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33"/>
                </a:solidFill>
                <a:latin typeface="Times New Roman"/>
                <a:cs typeface="Times New Roman"/>
              </a:rPr>
              <a:t>nước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4276" y="1587995"/>
            <a:ext cx="4151629" cy="5034280"/>
            <a:chOff x="303275" y="1587995"/>
            <a:chExt cx="4151629" cy="5034280"/>
          </a:xfrm>
        </p:grpSpPr>
        <p:sp>
          <p:nvSpPr>
            <p:cNvPr id="6" name="object 6"/>
            <p:cNvSpPr/>
            <p:nvPr/>
          </p:nvSpPr>
          <p:spPr>
            <a:xfrm>
              <a:off x="303275" y="1587995"/>
              <a:ext cx="4151376" cy="50337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347" y="1783080"/>
              <a:ext cx="3581400" cy="44637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797051" y="6490848"/>
            <a:ext cx="3111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902592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7913" y="995458"/>
            <a:ext cx="4407535" cy="11061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spcBef>
                <a:spcPts val="1320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1.3.1. Mô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thác</a:t>
            </a:r>
            <a:r>
              <a:rPr sz="2800" b="1" spc="-10" dirty="0">
                <a:solidFill>
                  <a:srgbClr val="000033"/>
                </a:solidFill>
                <a:latin typeface="Times New Roman"/>
                <a:cs typeface="Times New Roman"/>
              </a:rPr>
              <a:t> nước</a:t>
            </a:r>
            <a:endParaRPr sz="2800" dirty="0">
              <a:latin typeface="Times New Roman"/>
              <a:cs typeface="Times New Roman"/>
            </a:endParaRPr>
          </a:p>
          <a:p>
            <a:pPr marL="153670">
              <a:spcBef>
                <a:spcPts val="1045"/>
              </a:spcBef>
            </a:pP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Đặc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điểm của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Mô hình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thác</a:t>
            </a:r>
            <a:r>
              <a:rPr sz="2400" b="1" i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nước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26</a:t>
            </a:fld>
            <a:endParaRPr spc="-5" dirty="0"/>
          </a:p>
        </p:txBody>
      </p:sp>
      <p:sp>
        <p:nvSpPr>
          <p:cNvPr id="7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93062" y="2210414"/>
            <a:ext cx="7494494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tuân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endParaRPr lang="en-US" sz="2000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endParaRPr lang="en-US" sz="2000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Đòi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hang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nhẫn</a:t>
            </a:r>
            <a:endParaRPr lang="en-US" sz="2000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muộn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thảm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endParaRPr lang="en-US" sz="2000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0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endParaRPr lang="en-US" sz="2000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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sớm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rãi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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"/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67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105400" y="2023872"/>
            <a:ext cx="4264152" cy="3851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913" y="902018"/>
            <a:ext cx="3947795" cy="4645660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 algn="just">
              <a:spcBef>
                <a:spcPts val="205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1.3.2. Mô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bản</a:t>
            </a:r>
            <a:r>
              <a:rPr sz="2800" b="1" spc="-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mẫu</a:t>
            </a:r>
            <a:endParaRPr sz="2800">
              <a:latin typeface="Times New Roman"/>
              <a:cs typeface="Times New Roman"/>
            </a:endParaRPr>
          </a:p>
          <a:p>
            <a:pPr marL="387350" marR="5080" indent="-342900" algn="just">
              <a:lnSpc>
                <a:spcPct val="150000"/>
              </a:lnSpc>
              <a:spcBef>
                <a:spcPts val="240"/>
              </a:spcBef>
              <a:buSzPct val="85416"/>
              <a:buFont typeface="Arial"/>
              <a:buChar char="•"/>
              <a:tabLst>
                <a:tab pos="387985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Nhanh chóng tạo ra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spc="-20" dirty="0">
                <a:solidFill>
                  <a:srgbClr val="00072A"/>
                </a:solidFill>
                <a:latin typeface="Times New Roman"/>
                <a:cs typeface="Times New Roman"/>
              </a:rPr>
              <a:t>mô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hình làm việc thực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nghiệm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để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nhiều người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sử dụng xem  xét, đánh</a:t>
            </a:r>
            <a:r>
              <a:rPr sz="2400" spc="-2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giá.</a:t>
            </a:r>
            <a:endParaRPr sz="2400">
              <a:latin typeface="Times New Roman"/>
              <a:cs typeface="Times New Roman"/>
            </a:endParaRPr>
          </a:p>
          <a:p>
            <a:pPr marL="387350" marR="6985" indent="-342900" algn="just">
              <a:lnSpc>
                <a:spcPct val="150100"/>
              </a:lnSpc>
              <a:spcBef>
                <a:spcPts val="575"/>
              </a:spcBef>
              <a:buSzPct val="85416"/>
              <a:buFont typeface="Arial"/>
              <a:buChar char="•"/>
              <a:tabLst>
                <a:tab pos="387985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Khi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bản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mẫu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hoàn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thiện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nó  được đem sử dụng cho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các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bước tiếp</a:t>
            </a:r>
            <a:r>
              <a:rPr sz="2400" spc="-3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theo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27</a:t>
            </a:fld>
            <a:endParaRPr spc="-5" dirty="0"/>
          </a:p>
        </p:txBody>
      </p:sp>
      <p:sp>
        <p:nvSpPr>
          <p:cNvPr id="7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986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7913" y="1049065"/>
            <a:ext cx="4172585" cy="1006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spcBef>
                <a:spcPts val="894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1.3.2. Mô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bản mẫu</a:t>
            </a:r>
            <a:endParaRPr sz="2800">
              <a:latin typeface="Times New Roman"/>
              <a:cs typeface="Times New Roman"/>
            </a:endParaRPr>
          </a:p>
          <a:p>
            <a:pPr marL="77470">
              <a:spcBef>
                <a:spcPts val="690"/>
              </a:spcBef>
            </a:pP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Đặc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điểm của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Mô hình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bản</a:t>
            </a:r>
            <a:r>
              <a:rPr sz="2400" b="1" i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mẫu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06067" y="2209800"/>
            <a:ext cx="7533132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28</a:t>
            </a:fld>
            <a:endParaRPr spc="-5" dirty="0"/>
          </a:p>
        </p:txBody>
      </p:sp>
      <p:sp>
        <p:nvSpPr>
          <p:cNvPr id="7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145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6671" y="1810511"/>
            <a:ext cx="7086600" cy="434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797051" y="6490848"/>
            <a:ext cx="3111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29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927912" y="1150696"/>
            <a:ext cx="34563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1.3.3. Mô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xoắn</a:t>
            </a:r>
            <a:r>
              <a:rPr sz="2800" b="1" spc="-5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ốc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6426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7912" y="1150697"/>
            <a:ext cx="8291830" cy="5447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lvl="2" algn="just">
              <a:spcBef>
                <a:spcPts val="95"/>
              </a:spcBef>
              <a:tabLst>
                <a:tab pos="901700" algn="l"/>
              </a:tabLst>
            </a:pPr>
            <a:r>
              <a:rPr lang="en-US"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1.3.3. </a:t>
            </a:r>
            <a:r>
              <a:rPr sz="2800" b="1" spc="-5" dirty="0" err="1">
                <a:solidFill>
                  <a:srgbClr val="000033"/>
                </a:solidFill>
                <a:latin typeface="Times New Roman"/>
                <a:cs typeface="Times New Roman"/>
              </a:rPr>
              <a:t>Mô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xoắn</a:t>
            </a:r>
            <a:r>
              <a:rPr sz="2800" b="1" spc="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ốc</a:t>
            </a:r>
            <a:endParaRPr sz="2800" dirty="0">
              <a:latin typeface="Times New Roman"/>
              <a:cs typeface="Times New Roman"/>
            </a:endParaRPr>
          </a:p>
          <a:p>
            <a:pPr marL="459105" marR="5080" lvl="3" indent="-343535" algn="just">
              <a:lnSpc>
                <a:spcPct val="150000"/>
              </a:lnSpc>
              <a:spcBef>
                <a:spcPts val="450"/>
              </a:spcBef>
              <a:buClr>
                <a:srgbClr val="0066FF"/>
              </a:buClr>
              <a:buFont typeface="Wingdings"/>
              <a:buChar char=""/>
              <a:tabLst>
                <a:tab pos="4597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Mô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hình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xoắn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ốc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là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cách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tiếp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cận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thực tế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để phát triển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các  sản phẩm phần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mềm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quy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mô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lớn. Các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nhà phát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triển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và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khách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hàng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hiểu rõ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hơn và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phản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ứng với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các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rủi ro ở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mỗi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cấp độ 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(</a:t>
            </a:r>
            <a:r>
              <a:rPr sz="2400" i="1" spc="-5" dirty="0">
                <a:solidFill>
                  <a:srgbClr val="00072A"/>
                </a:solidFill>
                <a:latin typeface="Times New Roman"/>
                <a:cs typeface="Times New Roman"/>
              </a:rPr>
              <a:t>level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) phát triển. (các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rủi ro kỹ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thuật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được xem xét ở tất cả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các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giai</a:t>
            </a:r>
            <a:r>
              <a:rPr sz="2400" spc="-2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đoạn)</a:t>
            </a:r>
            <a:endParaRPr sz="2400" dirty="0">
              <a:latin typeface="Times New Roman"/>
              <a:cs typeface="Times New Roman"/>
            </a:endParaRPr>
          </a:p>
          <a:p>
            <a:pPr marL="459105" marR="5080" lvl="3" indent="-343535" algn="just">
              <a:lnSpc>
                <a:spcPct val="150000"/>
              </a:lnSpc>
              <a:buClr>
                <a:srgbClr val="0066FF"/>
              </a:buClr>
              <a:buFont typeface="Wingdings"/>
              <a:buChar char=""/>
              <a:tabLst>
                <a:tab pos="4597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Mô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hình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này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duy trì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cách tiếp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cận có tính hệ thống, giống như  </a:t>
            </a:r>
            <a:r>
              <a:rPr sz="2400" spc="-15" dirty="0">
                <a:solidFill>
                  <a:srgbClr val="00072A"/>
                </a:solidFill>
                <a:latin typeface="Times New Roman"/>
                <a:cs typeface="Times New Roman"/>
              </a:rPr>
              <a:t>mô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hình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vòng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đời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(</a:t>
            </a:r>
            <a:r>
              <a:rPr sz="2400" i="1" spc="-5" dirty="0">
                <a:solidFill>
                  <a:srgbClr val="00072A"/>
                </a:solidFill>
                <a:latin typeface="Times New Roman"/>
                <a:cs typeface="Times New Roman"/>
              </a:rPr>
              <a:t>Life Cycle </a:t>
            </a:r>
            <a:r>
              <a:rPr sz="2400" i="1" dirty="0">
                <a:solidFill>
                  <a:srgbClr val="00072A"/>
                </a:solidFill>
                <a:latin typeface="Times New Roman"/>
                <a:cs typeface="Times New Roman"/>
              </a:rPr>
              <a:t>- </a:t>
            </a:r>
            <a:r>
              <a:rPr sz="2400" i="1" spc="-5" dirty="0">
                <a:solidFill>
                  <a:srgbClr val="00072A"/>
                </a:solidFill>
                <a:latin typeface="Times New Roman"/>
                <a:cs typeface="Times New Roman"/>
              </a:rPr>
              <a:t>Model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) nhưng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kết hợp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nó thành 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framework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lặp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lại và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được phản ánh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nhiều hơn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từ thế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giới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thực.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145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7912" y="1150697"/>
            <a:ext cx="8255000" cy="4899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lvl="2">
              <a:spcBef>
                <a:spcPts val="95"/>
              </a:spcBef>
              <a:tabLst>
                <a:tab pos="901700" algn="l"/>
              </a:tabLst>
            </a:pPr>
            <a:r>
              <a:rPr lang="en-US"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1.3.3. </a:t>
            </a:r>
            <a:r>
              <a:rPr sz="2800" b="1" spc="-5" dirty="0" err="1">
                <a:solidFill>
                  <a:srgbClr val="000033"/>
                </a:solidFill>
                <a:latin typeface="Times New Roman"/>
                <a:cs typeface="Times New Roman"/>
              </a:rPr>
              <a:t>Mô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xoắn</a:t>
            </a:r>
            <a:r>
              <a:rPr sz="2800" b="1" spc="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ốc</a:t>
            </a:r>
            <a:endParaRPr sz="2800" dirty="0">
              <a:latin typeface="Times New Roman"/>
              <a:cs typeface="Times New Roman"/>
            </a:endParaRPr>
          </a:p>
          <a:p>
            <a:pPr marL="459105" lvl="3" indent="-344170">
              <a:spcBef>
                <a:spcPts val="1890"/>
              </a:spcBef>
              <a:buClr>
                <a:srgbClr val="0066FF"/>
              </a:buClr>
              <a:buFont typeface="Wingdings"/>
              <a:buChar char=""/>
              <a:tabLst>
                <a:tab pos="459105" algn="l"/>
                <a:tab pos="459740" algn="l"/>
              </a:tabLst>
            </a:pPr>
            <a:r>
              <a:rPr sz="2400" b="1" dirty="0">
                <a:solidFill>
                  <a:srgbClr val="00072A"/>
                </a:solidFill>
                <a:latin typeface="Times New Roman"/>
                <a:cs typeface="Times New Roman"/>
              </a:rPr>
              <a:t>Ưu</a:t>
            </a:r>
            <a:r>
              <a:rPr sz="24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72A"/>
                </a:solidFill>
                <a:latin typeface="Times New Roman"/>
                <a:cs typeface="Times New Roman"/>
              </a:rPr>
              <a:t>điểm</a:t>
            </a:r>
            <a:endParaRPr sz="2400" dirty="0">
              <a:latin typeface="Times New Roman"/>
              <a:cs typeface="Times New Roman"/>
            </a:endParaRPr>
          </a:p>
          <a:p>
            <a:pPr marL="916305" lvl="4" indent="-343535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916305" algn="l"/>
                <a:tab pos="916940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Ước lượng chi phí dễ</a:t>
            </a:r>
            <a:r>
              <a:rPr sz="2400" spc="-3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dàng</a:t>
            </a:r>
            <a:endParaRPr sz="2400" dirty="0">
              <a:latin typeface="Times New Roman"/>
              <a:cs typeface="Times New Roman"/>
            </a:endParaRPr>
          </a:p>
          <a:p>
            <a:pPr marL="916305" lvl="4" indent="-343535">
              <a:spcBef>
                <a:spcPts val="1440"/>
              </a:spcBef>
              <a:buClr>
                <a:srgbClr val="0066FF"/>
              </a:buClr>
              <a:buFont typeface="Arial"/>
              <a:buChar char="•"/>
              <a:tabLst>
                <a:tab pos="916305" algn="l"/>
                <a:tab pos="9169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Kiểm soát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tài liệu và phê duyệt chặt</a:t>
            </a:r>
            <a:r>
              <a:rPr sz="2400" spc="-10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chẽ.</a:t>
            </a:r>
            <a:endParaRPr sz="2400" dirty="0">
              <a:latin typeface="Times New Roman"/>
              <a:cs typeface="Times New Roman"/>
            </a:endParaRPr>
          </a:p>
          <a:p>
            <a:pPr marL="916305" marR="554990" lvl="4" indent="-342900">
              <a:lnSpc>
                <a:spcPts val="4320"/>
              </a:lnSpc>
              <a:spcBef>
                <a:spcPts val="385"/>
              </a:spcBef>
              <a:buClr>
                <a:srgbClr val="0066FF"/>
              </a:buClr>
              <a:buFont typeface="Arial"/>
              <a:buChar char="•"/>
              <a:tabLst>
                <a:tab pos="916305" algn="l"/>
                <a:tab pos="9169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Chức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năng bổ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sung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hoặc thay đổi có thể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được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thêm</a:t>
            </a:r>
            <a:r>
              <a:rPr sz="2400" spc="-11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vào  những giai đoạn</a:t>
            </a:r>
            <a:r>
              <a:rPr sz="2400" spc="-2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sau.</a:t>
            </a:r>
            <a:endParaRPr sz="2400" dirty="0">
              <a:latin typeface="Times New Roman"/>
              <a:cs typeface="Times New Roman"/>
            </a:endParaRPr>
          </a:p>
          <a:p>
            <a:pPr marL="916305" marR="294640" lvl="4" indent="-342900">
              <a:lnSpc>
                <a:spcPts val="4320"/>
              </a:lnSpc>
              <a:buClr>
                <a:srgbClr val="0066FF"/>
              </a:buClr>
              <a:buFont typeface="Arial"/>
              <a:buChar char="•"/>
              <a:tabLst>
                <a:tab pos="916305" algn="l"/>
                <a:tab pos="916940" algn="l"/>
              </a:tabLst>
            </a:pP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Phần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mềm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sẽ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được sản xuất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sớm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trong vòng đời của</a:t>
            </a:r>
            <a:r>
              <a:rPr sz="2400" spc="-9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phần 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mềm.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Ứng dụng tốt đối với các dự án lớn và quan</a:t>
            </a:r>
            <a:r>
              <a:rPr sz="2400" spc="-11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trọng.</a:t>
            </a:r>
            <a:endParaRPr sz="2400" dirty="0">
              <a:latin typeface="Times New Roman"/>
              <a:cs typeface="Times New Roman"/>
            </a:endParaRPr>
          </a:p>
          <a:p>
            <a:pPr marL="916305" lvl="4" indent="-343535">
              <a:spcBef>
                <a:spcPts val="1060"/>
              </a:spcBef>
              <a:buClr>
                <a:srgbClr val="0066FF"/>
              </a:buClr>
              <a:buFont typeface="Arial"/>
              <a:buChar char="•"/>
              <a:tabLst>
                <a:tab pos="916305" algn="l"/>
                <a:tab pos="916940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Luôn có thời gian cho khách hàng để phản hồi về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sản</a:t>
            </a:r>
            <a:r>
              <a:rPr sz="2400" spc="-14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phẩm.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625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7913" y="960216"/>
            <a:ext cx="8291195" cy="501332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065" lvl="2">
              <a:spcBef>
                <a:spcPts val="1595"/>
              </a:spcBef>
              <a:tabLst>
                <a:tab pos="901700" algn="l"/>
              </a:tabLst>
            </a:pPr>
            <a:r>
              <a:rPr sz="2800" b="1" spc="-5" dirty="0" err="1">
                <a:solidFill>
                  <a:srgbClr val="000033"/>
                </a:solidFill>
                <a:latin typeface="Times New Roman"/>
                <a:cs typeface="Times New Roman"/>
              </a:rPr>
              <a:t>Mô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xoắn</a:t>
            </a:r>
            <a:r>
              <a:rPr sz="2800" b="1" spc="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ốc</a:t>
            </a:r>
            <a:endParaRPr sz="2800" dirty="0">
              <a:latin typeface="Times New Roman"/>
              <a:cs typeface="Times New Roman"/>
            </a:endParaRPr>
          </a:p>
          <a:p>
            <a:pPr marL="402590" lvl="3" indent="-287655">
              <a:spcBef>
                <a:spcPts val="1290"/>
              </a:spcBef>
              <a:buFont typeface="Wingdings"/>
              <a:buChar char=""/>
              <a:tabLst>
                <a:tab pos="402590" algn="l"/>
                <a:tab pos="403225" algn="l"/>
              </a:tabLst>
            </a:pPr>
            <a:r>
              <a:rPr sz="24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Nhược</a:t>
            </a:r>
            <a:r>
              <a:rPr sz="2400" b="1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điểm</a:t>
            </a:r>
            <a:endParaRPr sz="2400" dirty="0">
              <a:latin typeface="Times New Roman"/>
              <a:cs typeface="Times New Roman"/>
            </a:endParaRPr>
          </a:p>
          <a:p>
            <a:pPr marL="859790" marR="5715" lvl="4" indent="-287020">
              <a:lnSpc>
                <a:spcPts val="4320"/>
              </a:lnSpc>
              <a:spcBef>
                <a:spcPts val="380"/>
              </a:spcBef>
              <a:buFont typeface="Arial"/>
              <a:buChar char="•"/>
              <a:tabLst>
                <a:tab pos="859790" algn="l"/>
                <a:tab pos="860425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Ở giai đoạn phân tích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cần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chuyên gia có chuyên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môn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cao để thực hiện việc phân</a:t>
            </a:r>
            <a:r>
              <a:rPr sz="2400" spc="-7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tích.</a:t>
            </a:r>
            <a:endParaRPr sz="2400" dirty="0">
              <a:latin typeface="Times New Roman"/>
              <a:cs typeface="Times New Roman"/>
            </a:endParaRPr>
          </a:p>
          <a:p>
            <a:pPr marL="859790" marR="5080" lvl="4" indent="-287020">
              <a:lnSpc>
                <a:spcPts val="4320"/>
              </a:lnSpc>
              <a:spcBef>
                <a:spcPts val="5"/>
              </a:spcBef>
              <a:buFont typeface="Arial"/>
              <a:buChar char="•"/>
              <a:tabLst>
                <a:tab pos="859790" algn="l"/>
                <a:tab pos="860425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Thời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gian </a:t>
            </a:r>
            <a:r>
              <a:rPr sz="2400" spc="-10" dirty="0">
                <a:solidFill>
                  <a:srgbClr val="00072A"/>
                </a:solidFill>
                <a:latin typeface="Times New Roman"/>
                <a:cs typeface="Times New Roman"/>
              </a:rPr>
              <a:t>và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chi phí cho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dự án có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thể là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vô hạn vì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đặc tính 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xoắn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ốc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của </a:t>
            </a:r>
            <a:r>
              <a:rPr sz="2400" spc="-15" dirty="0">
                <a:solidFill>
                  <a:srgbClr val="00072A"/>
                </a:solidFill>
                <a:latin typeface="Times New Roman"/>
                <a:cs typeface="Times New Roman"/>
              </a:rPr>
              <a:t>mô</a:t>
            </a:r>
            <a:r>
              <a:rPr sz="2400" spc="-2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hình.</a:t>
            </a:r>
            <a:endParaRPr sz="2400" dirty="0">
              <a:latin typeface="Times New Roman"/>
              <a:cs typeface="Times New Roman"/>
            </a:endParaRPr>
          </a:p>
          <a:p>
            <a:pPr marL="859790" marR="5080" lvl="4" indent="-287020">
              <a:lnSpc>
                <a:spcPts val="4320"/>
              </a:lnSpc>
              <a:buFont typeface="Arial"/>
              <a:buChar char="•"/>
              <a:tabLst>
                <a:tab pos="859790" algn="l"/>
                <a:tab pos="860425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Tài liệu cho dự án có thể rất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dài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vì có các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giai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đoạn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trung </a:t>
            </a:r>
            <a:r>
              <a:rPr sz="2400" spc="590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gian.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Không hữu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ích với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dự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án có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quy </a:t>
            </a:r>
            <a:r>
              <a:rPr sz="2400" spc="-15" dirty="0">
                <a:solidFill>
                  <a:srgbClr val="00072A"/>
                </a:solidFill>
                <a:latin typeface="Times New Roman"/>
                <a:cs typeface="Times New Roman"/>
              </a:rPr>
              <a:t>mô</a:t>
            </a:r>
            <a:r>
              <a:rPr sz="2400" spc="-2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72A"/>
                </a:solidFill>
                <a:latin typeface="Times New Roman"/>
                <a:cs typeface="Times New Roman"/>
              </a:rPr>
              <a:t>nhỏ.</a:t>
            </a:r>
            <a:endParaRPr sz="2400" dirty="0">
              <a:latin typeface="Times New Roman"/>
              <a:cs typeface="Times New Roman"/>
            </a:endParaRPr>
          </a:p>
          <a:p>
            <a:pPr marL="859790" lvl="4" indent="-287020">
              <a:spcBef>
                <a:spcPts val="1060"/>
              </a:spcBef>
              <a:buFont typeface="Arial"/>
              <a:buChar char="•"/>
              <a:tabLst>
                <a:tab pos="859790" algn="l"/>
                <a:tab pos="860425" algn="l"/>
              </a:tabLst>
            </a:pP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Rủi ro có thể không đáp ứng được tiến độ hoặc ngân</a:t>
            </a:r>
            <a:r>
              <a:rPr sz="2400" spc="-13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72A"/>
                </a:solidFill>
                <a:latin typeface="Times New Roman"/>
                <a:cs typeface="Times New Roman"/>
              </a:rPr>
              <a:t>sách.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1882903" y="167768"/>
            <a:ext cx="7204653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CÁC MÔ HÌNH PHÁT TRIỂN</a:t>
            </a:r>
            <a:r>
              <a:rPr sz="29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610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3843" y="189993"/>
            <a:ext cx="9078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CHỨC</a:t>
            </a:r>
            <a:r>
              <a:rPr sz="2500" spc="-7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7912" y="922158"/>
            <a:ext cx="8059420" cy="3437254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812165" lvl="2" indent="-800100" algn="just">
              <a:spcBef>
                <a:spcPts val="1895"/>
              </a:spcBef>
              <a:buAutoNum type="arabicPeriod"/>
              <a:tabLst>
                <a:tab pos="812800" algn="l"/>
              </a:tabLst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Phân</a:t>
            </a:r>
            <a:r>
              <a:rPr sz="2800" b="1" spc="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tích</a:t>
            </a:r>
            <a:endParaRPr sz="2800">
              <a:latin typeface="Times New Roman"/>
              <a:cs typeface="Times New Roman"/>
            </a:endParaRPr>
          </a:p>
          <a:p>
            <a:pPr marL="789305" marR="5080" lvl="3" indent="-297180" algn="just">
              <a:lnSpc>
                <a:spcPct val="150000"/>
              </a:lnSpc>
              <a:spcBef>
                <a:spcPts val="105"/>
              </a:spcBef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Phân tích là cách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chia nhỏ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tổng thể thành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các phần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để tìm  ra đặc tính, quan hệ…của</a:t>
            </a:r>
            <a:r>
              <a:rPr sz="2400" spc="-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chúng.</a:t>
            </a:r>
            <a:endParaRPr sz="2400">
              <a:latin typeface="Times New Roman"/>
              <a:cs typeface="Times New Roman"/>
            </a:endParaRPr>
          </a:p>
          <a:p>
            <a:pPr marL="789305" marR="5080" lvl="3" indent="-297180" algn="just">
              <a:lnSpc>
                <a:spcPct val="150000"/>
              </a:lnSpc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Khái niệm phân tích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tiếp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cận hướng chức năng tập trung  phân tích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chức năng của hệ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thống,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xác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định các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giải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pháp như thế</a:t>
            </a:r>
            <a:r>
              <a:rPr sz="2400" spc="-1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nào?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4830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8"/>
            <a:ext cx="8058784" cy="3437254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812165" lvl="2" indent="-800100" algn="just">
              <a:spcBef>
                <a:spcPts val="1895"/>
              </a:spcBef>
              <a:buAutoNum type="arabicPeriod" startAt="2"/>
              <a:tabLst>
                <a:tab pos="812800" algn="l"/>
              </a:tabLst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Thiết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30" dirty="0">
                <a:solidFill>
                  <a:srgbClr val="000033"/>
                </a:solidFill>
                <a:latin typeface="Times New Roman"/>
                <a:cs typeface="Times New Roman"/>
              </a:rPr>
              <a:t>kế</a:t>
            </a:r>
            <a:endParaRPr sz="2800">
              <a:latin typeface="Times New Roman"/>
              <a:cs typeface="Times New Roman"/>
            </a:endParaRPr>
          </a:p>
          <a:p>
            <a:pPr marL="789305" marR="6985" lvl="3" indent="-297180" algn="just">
              <a:lnSpc>
                <a:spcPct val="150000"/>
              </a:lnSpc>
              <a:spcBef>
                <a:spcPts val="105"/>
              </a:spcBef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Thiết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kế là lập tài liệu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kỹ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thuật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toàn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bộ, bao gồm các bản  vẽ, bảng tính toán để từ đó có thể xây dựng công</a:t>
            </a:r>
            <a:r>
              <a:rPr sz="2400" spc="-12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trình.</a:t>
            </a:r>
            <a:endParaRPr sz="2400">
              <a:latin typeface="Times New Roman"/>
              <a:cs typeface="Times New Roman"/>
            </a:endParaRPr>
          </a:p>
          <a:p>
            <a:pPr marL="789305" marR="5080" lvl="3" indent="-297180" algn="just">
              <a:lnSpc>
                <a:spcPct val="150000"/>
              </a:lnSpc>
              <a:buClr>
                <a:srgbClr val="0066FF"/>
              </a:buClr>
              <a:buFont typeface="Wingdings"/>
              <a:buChar char=""/>
              <a:tabLst>
                <a:tab pos="7899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Thiết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kế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hướng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chức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năng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tập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trung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vào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xác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định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phần  mềm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sẽ thực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hiện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được những công việc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(chức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năng) như  thế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nào.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34</a:t>
            </a:fld>
            <a:endParaRPr spc="-5" dirty="0"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1813843" y="189993"/>
            <a:ext cx="9078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CHỨC</a:t>
            </a:r>
            <a:r>
              <a:rPr sz="2500" spc="-7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</a:p>
        </p:txBody>
      </p:sp>
    </p:spTree>
    <p:extLst>
      <p:ext uri="{BB962C8B-B14F-4D97-AF65-F5344CB8AC3E}">
        <p14:creationId xmlns:p14="http://schemas.microsoft.com/office/powerpoint/2010/main" val="2052148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22159"/>
            <a:ext cx="7156450" cy="179133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370840" indent="-358140">
              <a:spcBef>
                <a:spcPts val="189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Mô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hình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phân cấp chức</a:t>
            </a:r>
            <a:r>
              <a:rPr sz="2800" b="1" spc="1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năng</a:t>
            </a:r>
            <a:endParaRPr sz="2800" dirty="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545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Ưu điểm: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trực tiếp đáp ứng chức năng được yêu</a:t>
            </a:r>
            <a:r>
              <a:rPr sz="2400" spc="-12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cầu</a:t>
            </a:r>
            <a:endParaRPr sz="2400" dirty="0">
              <a:latin typeface="Times New Roman"/>
              <a:cs typeface="Times New Roman"/>
            </a:endParaRPr>
          </a:p>
          <a:p>
            <a:pPr marL="789305" lvl="1" indent="-297180">
              <a:spcBef>
                <a:spcPts val="1440"/>
              </a:spcBef>
              <a:buClr>
                <a:srgbClr val="0066FF"/>
              </a:buClr>
              <a:buFont typeface="Wingdings"/>
              <a:buChar char=""/>
              <a:tabLst>
                <a:tab pos="789305" algn="l"/>
                <a:tab pos="7899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Nhược điểm: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khó thay đổi,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mở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rộng,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sửa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chữa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3400" y="3276601"/>
            <a:ext cx="1905000" cy="443711"/>
          </a:xfrm>
          <a:prstGeom prst="rect">
            <a:avLst/>
          </a:prstGeom>
          <a:solidFill>
            <a:srgbClr val="FFFFFF"/>
          </a:solidFill>
          <a:ln w="9144">
            <a:solidFill>
              <a:srgbClr val="000066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356235">
              <a:spcBef>
                <a:spcPts val="580"/>
              </a:spcBef>
            </a:pP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Hệ</a:t>
            </a:r>
            <a:r>
              <a:rPr sz="2400" b="1" spc="-2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1800" y="4419600"/>
            <a:ext cx="1905000" cy="44435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66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23825">
              <a:spcBef>
                <a:spcPts val="585"/>
              </a:spcBef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Chức năng</a:t>
            </a:r>
            <a:r>
              <a:rPr sz="2400" b="1" spc="-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5000" y="4419600"/>
            <a:ext cx="1905000" cy="44435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66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24460">
              <a:spcBef>
                <a:spcPts val="585"/>
              </a:spcBef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Chức năng</a:t>
            </a:r>
            <a:r>
              <a:rPr sz="2400" b="1" spc="-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48965" y="3805428"/>
            <a:ext cx="4218305" cy="1756410"/>
            <a:chOff x="2767964" y="3805428"/>
            <a:chExt cx="4218305" cy="1756410"/>
          </a:xfrm>
        </p:grpSpPr>
        <p:sp>
          <p:nvSpPr>
            <p:cNvPr id="7" name="object 7"/>
            <p:cNvSpPr/>
            <p:nvPr/>
          </p:nvSpPr>
          <p:spPr>
            <a:xfrm>
              <a:off x="4876800" y="3810000"/>
              <a:ext cx="1270" cy="304165"/>
            </a:xfrm>
            <a:custGeom>
              <a:avLst/>
              <a:gdLst/>
              <a:ahLst/>
              <a:cxnLst/>
              <a:rect l="l" t="t" r="r" b="b"/>
              <a:pathLst>
                <a:path w="1270" h="304164">
                  <a:moveTo>
                    <a:pt x="762" y="0"/>
                  </a:moveTo>
                  <a:lnTo>
                    <a:pt x="0" y="304038"/>
                  </a:lnTo>
                </a:path>
              </a:pathLst>
            </a:custGeom>
            <a:ln w="9143">
              <a:solidFill>
                <a:srgbClr val="00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67200" y="4114800"/>
              <a:ext cx="1295400" cy="1905"/>
            </a:xfrm>
            <a:custGeom>
              <a:avLst/>
              <a:gdLst/>
              <a:ahLst/>
              <a:cxnLst/>
              <a:rect l="l" t="t" r="r" b="b"/>
              <a:pathLst>
                <a:path w="1295400" h="1904">
                  <a:moveTo>
                    <a:pt x="1295400" y="1650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15765" y="4114800"/>
              <a:ext cx="1398905" cy="304165"/>
            </a:xfrm>
            <a:custGeom>
              <a:avLst/>
              <a:gdLst/>
              <a:ahLst/>
              <a:cxnLst/>
              <a:rect l="l" t="t" r="r" b="b"/>
              <a:pathLst>
                <a:path w="1398904" h="304164">
                  <a:moveTo>
                    <a:pt x="103378" y="215519"/>
                  </a:moveTo>
                  <a:lnTo>
                    <a:pt x="102362" y="211709"/>
                  </a:lnTo>
                  <a:lnTo>
                    <a:pt x="96266" y="208153"/>
                  </a:lnTo>
                  <a:lnTo>
                    <a:pt x="92456" y="209169"/>
                  </a:lnTo>
                  <a:lnTo>
                    <a:pt x="90678" y="212090"/>
                  </a:lnTo>
                  <a:lnTo>
                    <a:pt x="57835" y="267970"/>
                  </a:lnTo>
                  <a:lnTo>
                    <a:pt x="58547" y="0"/>
                  </a:lnTo>
                  <a:lnTo>
                    <a:pt x="45847" y="0"/>
                  </a:lnTo>
                  <a:lnTo>
                    <a:pt x="45300" y="207899"/>
                  </a:lnTo>
                  <a:lnTo>
                    <a:pt x="45212" y="267970"/>
                  </a:lnTo>
                  <a:lnTo>
                    <a:pt x="51485" y="278777"/>
                  </a:lnTo>
                  <a:lnTo>
                    <a:pt x="45135" y="267843"/>
                  </a:lnTo>
                  <a:lnTo>
                    <a:pt x="10922" y="208915"/>
                  </a:lnTo>
                  <a:lnTo>
                    <a:pt x="7112" y="207899"/>
                  </a:lnTo>
                  <a:lnTo>
                    <a:pt x="4064" y="209677"/>
                  </a:lnTo>
                  <a:lnTo>
                    <a:pt x="1016" y="211328"/>
                  </a:lnTo>
                  <a:lnTo>
                    <a:pt x="0" y="215265"/>
                  </a:lnTo>
                  <a:lnTo>
                    <a:pt x="51435" y="304038"/>
                  </a:lnTo>
                  <a:lnTo>
                    <a:pt x="58813" y="291465"/>
                  </a:lnTo>
                  <a:lnTo>
                    <a:pt x="103378" y="215519"/>
                  </a:lnTo>
                  <a:close/>
                </a:path>
                <a:path w="1398904" h="304164">
                  <a:moveTo>
                    <a:pt x="1398778" y="215519"/>
                  </a:moveTo>
                  <a:lnTo>
                    <a:pt x="1397762" y="211709"/>
                  </a:lnTo>
                  <a:lnTo>
                    <a:pt x="1391666" y="208153"/>
                  </a:lnTo>
                  <a:lnTo>
                    <a:pt x="1387856" y="209169"/>
                  </a:lnTo>
                  <a:lnTo>
                    <a:pt x="1386078" y="212090"/>
                  </a:lnTo>
                  <a:lnTo>
                    <a:pt x="1353235" y="267970"/>
                  </a:lnTo>
                  <a:lnTo>
                    <a:pt x="1353947" y="0"/>
                  </a:lnTo>
                  <a:lnTo>
                    <a:pt x="1341247" y="0"/>
                  </a:lnTo>
                  <a:lnTo>
                    <a:pt x="1340700" y="207899"/>
                  </a:lnTo>
                  <a:lnTo>
                    <a:pt x="1340612" y="267970"/>
                  </a:lnTo>
                  <a:lnTo>
                    <a:pt x="1346885" y="278777"/>
                  </a:lnTo>
                  <a:lnTo>
                    <a:pt x="1340535" y="267843"/>
                  </a:lnTo>
                  <a:lnTo>
                    <a:pt x="1306322" y="208915"/>
                  </a:lnTo>
                  <a:lnTo>
                    <a:pt x="1302512" y="207899"/>
                  </a:lnTo>
                  <a:lnTo>
                    <a:pt x="1299464" y="209677"/>
                  </a:lnTo>
                  <a:lnTo>
                    <a:pt x="1296416" y="211328"/>
                  </a:lnTo>
                  <a:lnTo>
                    <a:pt x="1295400" y="215265"/>
                  </a:lnTo>
                  <a:lnTo>
                    <a:pt x="1346835" y="304038"/>
                  </a:lnTo>
                  <a:lnTo>
                    <a:pt x="1354213" y="291465"/>
                  </a:lnTo>
                  <a:lnTo>
                    <a:pt x="1398778" y="215519"/>
                  </a:lnTo>
                  <a:close/>
                </a:path>
              </a:pathLst>
            </a:custGeom>
            <a:solidFill>
              <a:srgbClr val="00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28999" y="4953000"/>
              <a:ext cx="1270" cy="304165"/>
            </a:xfrm>
            <a:custGeom>
              <a:avLst/>
              <a:gdLst/>
              <a:ahLst/>
              <a:cxnLst/>
              <a:rect l="l" t="t" r="r" b="b"/>
              <a:pathLst>
                <a:path w="1270" h="304164">
                  <a:moveTo>
                    <a:pt x="762" y="0"/>
                  </a:moveTo>
                  <a:lnTo>
                    <a:pt x="0" y="304038"/>
                  </a:lnTo>
                </a:path>
              </a:pathLst>
            </a:custGeom>
            <a:ln w="9143">
              <a:solidFill>
                <a:srgbClr val="00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19399" y="5257800"/>
              <a:ext cx="1295400" cy="1905"/>
            </a:xfrm>
            <a:custGeom>
              <a:avLst/>
              <a:gdLst/>
              <a:ahLst/>
              <a:cxnLst/>
              <a:rect l="l" t="t" r="r" b="b"/>
              <a:pathLst>
                <a:path w="1295400" h="1904">
                  <a:moveTo>
                    <a:pt x="1295400" y="1650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67965" y="5257800"/>
              <a:ext cx="1398905" cy="304165"/>
            </a:xfrm>
            <a:custGeom>
              <a:avLst/>
              <a:gdLst/>
              <a:ahLst/>
              <a:cxnLst/>
              <a:rect l="l" t="t" r="r" b="b"/>
              <a:pathLst>
                <a:path w="1398904" h="304164">
                  <a:moveTo>
                    <a:pt x="103378" y="215519"/>
                  </a:moveTo>
                  <a:lnTo>
                    <a:pt x="102362" y="211709"/>
                  </a:lnTo>
                  <a:lnTo>
                    <a:pt x="96266" y="208153"/>
                  </a:lnTo>
                  <a:lnTo>
                    <a:pt x="92456" y="209169"/>
                  </a:lnTo>
                  <a:lnTo>
                    <a:pt x="90678" y="212090"/>
                  </a:lnTo>
                  <a:lnTo>
                    <a:pt x="57835" y="267970"/>
                  </a:lnTo>
                  <a:lnTo>
                    <a:pt x="58547" y="0"/>
                  </a:lnTo>
                  <a:lnTo>
                    <a:pt x="45847" y="0"/>
                  </a:lnTo>
                  <a:lnTo>
                    <a:pt x="45300" y="207899"/>
                  </a:lnTo>
                  <a:lnTo>
                    <a:pt x="45212" y="267970"/>
                  </a:lnTo>
                  <a:lnTo>
                    <a:pt x="51485" y="278777"/>
                  </a:lnTo>
                  <a:lnTo>
                    <a:pt x="45135" y="267843"/>
                  </a:lnTo>
                  <a:lnTo>
                    <a:pt x="10922" y="208915"/>
                  </a:lnTo>
                  <a:lnTo>
                    <a:pt x="7112" y="207899"/>
                  </a:lnTo>
                  <a:lnTo>
                    <a:pt x="4064" y="209677"/>
                  </a:lnTo>
                  <a:lnTo>
                    <a:pt x="1016" y="211328"/>
                  </a:lnTo>
                  <a:lnTo>
                    <a:pt x="0" y="215265"/>
                  </a:lnTo>
                  <a:lnTo>
                    <a:pt x="51435" y="304038"/>
                  </a:lnTo>
                  <a:lnTo>
                    <a:pt x="58813" y="291465"/>
                  </a:lnTo>
                  <a:lnTo>
                    <a:pt x="103378" y="215519"/>
                  </a:lnTo>
                  <a:close/>
                </a:path>
                <a:path w="1398904" h="304164">
                  <a:moveTo>
                    <a:pt x="1398778" y="215519"/>
                  </a:moveTo>
                  <a:lnTo>
                    <a:pt x="1397762" y="211709"/>
                  </a:lnTo>
                  <a:lnTo>
                    <a:pt x="1391666" y="208153"/>
                  </a:lnTo>
                  <a:lnTo>
                    <a:pt x="1387856" y="209169"/>
                  </a:lnTo>
                  <a:lnTo>
                    <a:pt x="1386078" y="212090"/>
                  </a:lnTo>
                  <a:lnTo>
                    <a:pt x="1353235" y="267970"/>
                  </a:lnTo>
                  <a:lnTo>
                    <a:pt x="1353947" y="0"/>
                  </a:lnTo>
                  <a:lnTo>
                    <a:pt x="1341247" y="0"/>
                  </a:lnTo>
                  <a:lnTo>
                    <a:pt x="1340700" y="207899"/>
                  </a:lnTo>
                  <a:lnTo>
                    <a:pt x="1340612" y="267970"/>
                  </a:lnTo>
                  <a:lnTo>
                    <a:pt x="1346885" y="278777"/>
                  </a:lnTo>
                  <a:lnTo>
                    <a:pt x="1340535" y="267843"/>
                  </a:lnTo>
                  <a:lnTo>
                    <a:pt x="1306322" y="208915"/>
                  </a:lnTo>
                  <a:lnTo>
                    <a:pt x="1302512" y="207899"/>
                  </a:lnTo>
                  <a:lnTo>
                    <a:pt x="1299464" y="209677"/>
                  </a:lnTo>
                  <a:lnTo>
                    <a:pt x="1296416" y="211328"/>
                  </a:lnTo>
                  <a:lnTo>
                    <a:pt x="1295400" y="215265"/>
                  </a:lnTo>
                  <a:lnTo>
                    <a:pt x="1346835" y="304038"/>
                  </a:lnTo>
                  <a:lnTo>
                    <a:pt x="1354213" y="291465"/>
                  </a:lnTo>
                  <a:lnTo>
                    <a:pt x="1398778" y="215519"/>
                  </a:lnTo>
                  <a:close/>
                </a:path>
              </a:pathLst>
            </a:custGeom>
            <a:solidFill>
              <a:srgbClr val="00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8399" y="4953000"/>
              <a:ext cx="1270" cy="304165"/>
            </a:xfrm>
            <a:custGeom>
              <a:avLst/>
              <a:gdLst/>
              <a:ahLst/>
              <a:cxnLst/>
              <a:rect l="l" t="t" r="r" b="b"/>
              <a:pathLst>
                <a:path w="1270" h="304164">
                  <a:moveTo>
                    <a:pt x="762" y="0"/>
                  </a:moveTo>
                  <a:lnTo>
                    <a:pt x="0" y="304038"/>
                  </a:lnTo>
                </a:path>
              </a:pathLst>
            </a:custGeom>
            <a:ln w="9143">
              <a:solidFill>
                <a:srgbClr val="00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38800" y="5257800"/>
              <a:ext cx="1295400" cy="1905"/>
            </a:xfrm>
            <a:custGeom>
              <a:avLst/>
              <a:gdLst/>
              <a:ahLst/>
              <a:cxnLst/>
              <a:rect l="l" t="t" r="r" b="b"/>
              <a:pathLst>
                <a:path w="1295400" h="1904">
                  <a:moveTo>
                    <a:pt x="1295400" y="1650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87365" y="5257800"/>
              <a:ext cx="1398905" cy="304165"/>
            </a:xfrm>
            <a:custGeom>
              <a:avLst/>
              <a:gdLst/>
              <a:ahLst/>
              <a:cxnLst/>
              <a:rect l="l" t="t" r="r" b="b"/>
              <a:pathLst>
                <a:path w="1398904" h="304164">
                  <a:moveTo>
                    <a:pt x="103378" y="215519"/>
                  </a:moveTo>
                  <a:lnTo>
                    <a:pt x="102362" y="211709"/>
                  </a:lnTo>
                  <a:lnTo>
                    <a:pt x="96266" y="208153"/>
                  </a:lnTo>
                  <a:lnTo>
                    <a:pt x="92456" y="209169"/>
                  </a:lnTo>
                  <a:lnTo>
                    <a:pt x="90678" y="212090"/>
                  </a:lnTo>
                  <a:lnTo>
                    <a:pt x="57835" y="267970"/>
                  </a:lnTo>
                  <a:lnTo>
                    <a:pt x="58547" y="0"/>
                  </a:lnTo>
                  <a:lnTo>
                    <a:pt x="45847" y="0"/>
                  </a:lnTo>
                  <a:lnTo>
                    <a:pt x="45300" y="207899"/>
                  </a:lnTo>
                  <a:lnTo>
                    <a:pt x="45212" y="267970"/>
                  </a:lnTo>
                  <a:lnTo>
                    <a:pt x="51485" y="278777"/>
                  </a:lnTo>
                  <a:lnTo>
                    <a:pt x="45135" y="267843"/>
                  </a:lnTo>
                  <a:lnTo>
                    <a:pt x="10922" y="208915"/>
                  </a:lnTo>
                  <a:lnTo>
                    <a:pt x="7112" y="207899"/>
                  </a:lnTo>
                  <a:lnTo>
                    <a:pt x="4064" y="209677"/>
                  </a:lnTo>
                  <a:lnTo>
                    <a:pt x="1016" y="211328"/>
                  </a:lnTo>
                  <a:lnTo>
                    <a:pt x="0" y="215265"/>
                  </a:lnTo>
                  <a:lnTo>
                    <a:pt x="51435" y="304038"/>
                  </a:lnTo>
                  <a:lnTo>
                    <a:pt x="58813" y="291465"/>
                  </a:lnTo>
                  <a:lnTo>
                    <a:pt x="103378" y="215519"/>
                  </a:lnTo>
                  <a:close/>
                </a:path>
                <a:path w="1398904" h="304164">
                  <a:moveTo>
                    <a:pt x="1398778" y="215519"/>
                  </a:moveTo>
                  <a:lnTo>
                    <a:pt x="1397762" y="211709"/>
                  </a:lnTo>
                  <a:lnTo>
                    <a:pt x="1391666" y="208153"/>
                  </a:lnTo>
                  <a:lnTo>
                    <a:pt x="1387856" y="209169"/>
                  </a:lnTo>
                  <a:lnTo>
                    <a:pt x="1386078" y="212090"/>
                  </a:lnTo>
                  <a:lnTo>
                    <a:pt x="1353235" y="267970"/>
                  </a:lnTo>
                  <a:lnTo>
                    <a:pt x="1353947" y="0"/>
                  </a:lnTo>
                  <a:lnTo>
                    <a:pt x="1341247" y="0"/>
                  </a:lnTo>
                  <a:lnTo>
                    <a:pt x="1340700" y="207899"/>
                  </a:lnTo>
                  <a:lnTo>
                    <a:pt x="1340612" y="267970"/>
                  </a:lnTo>
                  <a:lnTo>
                    <a:pt x="1346885" y="278777"/>
                  </a:lnTo>
                  <a:lnTo>
                    <a:pt x="1340535" y="267843"/>
                  </a:lnTo>
                  <a:lnTo>
                    <a:pt x="1306322" y="208915"/>
                  </a:lnTo>
                  <a:lnTo>
                    <a:pt x="1302512" y="207899"/>
                  </a:lnTo>
                  <a:lnTo>
                    <a:pt x="1299464" y="209677"/>
                  </a:lnTo>
                  <a:lnTo>
                    <a:pt x="1296416" y="211328"/>
                  </a:lnTo>
                  <a:lnTo>
                    <a:pt x="1295400" y="215265"/>
                  </a:lnTo>
                  <a:lnTo>
                    <a:pt x="1346835" y="304038"/>
                  </a:lnTo>
                  <a:lnTo>
                    <a:pt x="1354213" y="291465"/>
                  </a:lnTo>
                  <a:lnTo>
                    <a:pt x="1398778" y="215519"/>
                  </a:lnTo>
                  <a:close/>
                </a:path>
              </a:pathLst>
            </a:custGeom>
            <a:solidFill>
              <a:srgbClr val="000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09800" y="5562601"/>
            <a:ext cx="1295400" cy="551433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2050"/>
              </a:lnSpc>
            </a:pP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Chức</a:t>
            </a:r>
            <a:r>
              <a:rPr b="1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năng</a:t>
            </a:r>
            <a:endParaRPr>
              <a:latin typeface="Times New Roman"/>
              <a:cs typeface="Times New Roman"/>
            </a:endParaRPr>
          </a:p>
          <a:p>
            <a:pPr algn="ctr">
              <a:lnSpc>
                <a:spcPts val="2150"/>
              </a:lnSpc>
            </a:pPr>
            <a:r>
              <a:rPr b="1" dirty="0">
                <a:solidFill>
                  <a:srgbClr val="000033"/>
                </a:solidFill>
                <a:latin typeface="Times New Roman"/>
                <a:cs typeface="Times New Roman"/>
              </a:rPr>
              <a:t>1.1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35</a:t>
            </a:fld>
            <a:endParaRPr spc="-5" dirty="0"/>
          </a:p>
        </p:txBody>
      </p:sp>
      <p:sp>
        <p:nvSpPr>
          <p:cNvPr id="17" name="object 17"/>
          <p:cNvSpPr txBox="1"/>
          <p:nvPr/>
        </p:nvSpPr>
        <p:spPr>
          <a:xfrm>
            <a:off x="3886200" y="5562601"/>
            <a:ext cx="1295400" cy="55143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2050"/>
              </a:lnSpc>
            </a:pP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Chức</a:t>
            </a:r>
            <a:r>
              <a:rPr b="1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năng</a:t>
            </a:r>
            <a:endParaRPr>
              <a:latin typeface="Times New Roman"/>
              <a:cs typeface="Times New Roman"/>
            </a:endParaRPr>
          </a:p>
          <a:p>
            <a:pPr algn="ctr">
              <a:lnSpc>
                <a:spcPts val="2150"/>
              </a:lnSpc>
            </a:pPr>
            <a:r>
              <a:rPr b="1" dirty="0">
                <a:solidFill>
                  <a:srgbClr val="000033"/>
                </a:solidFill>
                <a:latin typeface="Times New Roman"/>
                <a:cs typeface="Times New Roman"/>
              </a:rPr>
              <a:t>1.2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10200" y="5562601"/>
            <a:ext cx="1295400" cy="55143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2050"/>
              </a:lnSpc>
            </a:pP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Chức</a:t>
            </a:r>
            <a:r>
              <a:rPr b="1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năng</a:t>
            </a:r>
            <a:endParaRPr>
              <a:latin typeface="Times New Roman"/>
              <a:cs typeface="Times New Roman"/>
            </a:endParaRPr>
          </a:p>
          <a:p>
            <a:pPr algn="ctr">
              <a:lnSpc>
                <a:spcPts val="2150"/>
              </a:lnSpc>
            </a:pPr>
            <a:r>
              <a:rPr b="1" dirty="0">
                <a:solidFill>
                  <a:srgbClr val="000033"/>
                </a:solidFill>
                <a:latin typeface="Times New Roman"/>
                <a:cs typeface="Times New Roman"/>
              </a:rPr>
              <a:t>2.1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34200" y="5562601"/>
            <a:ext cx="1295400" cy="55143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2050"/>
              </a:lnSpc>
            </a:pP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Chức</a:t>
            </a:r>
            <a:r>
              <a:rPr b="1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năng</a:t>
            </a:r>
            <a:endParaRPr>
              <a:latin typeface="Times New Roman"/>
              <a:cs typeface="Times New Roman"/>
            </a:endParaRPr>
          </a:p>
          <a:p>
            <a:pPr algn="ctr">
              <a:lnSpc>
                <a:spcPts val="2150"/>
              </a:lnSpc>
            </a:pPr>
            <a:r>
              <a:rPr b="1" dirty="0">
                <a:solidFill>
                  <a:srgbClr val="000033"/>
                </a:solidFill>
                <a:latin typeface="Times New Roman"/>
                <a:cs typeface="Times New Roman"/>
              </a:rPr>
              <a:t>2.2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01749" y="160280"/>
            <a:ext cx="8878187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CHỨC</a:t>
            </a:r>
            <a:r>
              <a:rPr sz="2500" spc="-7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</a:p>
        </p:txBody>
      </p:sp>
    </p:spTree>
    <p:extLst>
      <p:ext uri="{BB962C8B-B14F-4D97-AF65-F5344CB8AC3E}">
        <p14:creationId xmlns:p14="http://schemas.microsoft.com/office/powerpoint/2010/main" val="4229590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076D7-CC58-8671-A213-F759B759AE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36</a:t>
            </a:fld>
            <a:endParaRPr lang="en-US" spc="-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D60D1-AD69-362B-519E-918B8CCFE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96" y="1364703"/>
            <a:ext cx="8939409" cy="4589530"/>
          </a:xfrm>
          <a:prstGeom prst="rect">
            <a:avLst/>
          </a:prstGeom>
        </p:spPr>
      </p:pic>
      <p:sp>
        <p:nvSpPr>
          <p:cNvPr id="2" name="object 20">
            <a:extLst>
              <a:ext uri="{FF2B5EF4-FFF2-40B4-BE49-F238E27FC236}">
                <a16:creationId xmlns:a16="http://schemas.microsoft.com/office/drawing/2014/main" id="{7FDF56E5-ADE3-4EFF-3762-61F6F008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261" y="141093"/>
            <a:ext cx="9078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Hệ thống quản lý thư viện</a:t>
            </a:r>
            <a:endParaRPr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697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0B206-7823-2B9C-55A3-8A69AEEAD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37</a:t>
            </a:fld>
            <a:endParaRPr lang="en-US" spc="-5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B70CA-BCC9-5735-5D23-6C5865F41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01" y="1031358"/>
            <a:ext cx="7953152" cy="5082362"/>
          </a:xfrm>
          <a:prstGeom prst="rect">
            <a:avLst/>
          </a:prstGeom>
        </p:spPr>
      </p:pic>
      <p:sp>
        <p:nvSpPr>
          <p:cNvPr id="2" name="object 20">
            <a:extLst>
              <a:ext uri="{FF2B5EF4-FFF2-40B4-BE49-F238E27FC236}">
                <a16:creationId xmlns:a16="http://schemas.microsoft.com/office/drawing/2014/main" id="{83FFAAC7-EB32-4CFA-EDEC-20991A2597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261" y="141093"/>
            <a:ext cx="9078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Hệ thống quản lý thư viện</a:t>
            </a:r>
            <a:endParaRPr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960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7912" y="949025"/>
            <a:ext cx="8059420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205" marR="5080" indent="-358140" algn="just">
              <a:lnSpc>
                <a:spcPct val="150100"/>
              </a:lnSpc>
              <a:spcBef>
                <a:spcPts val="100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Đặc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trưng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: phân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chia chương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trình chính thành nhiều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chương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trình con,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mỗi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chương trình con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nhằm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đến thực hiện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công  việc xác</a:t>
            </a:r>
            <a:r>
              <a:rPr sz="2400" spc="-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định.</a:t>
            </a:r>
            <a:endParaRPr sz="2400">
              <a:latin typeface="Times New Roman"/>
              <a:cs typeface="Times New Roman"/>
            </a:endParaRPr>
          </a:p>
          <a:p>
            <a:pPr marL="370205" marR="7620" indent="-358140" algn="just">
              <a:lnSpc>
                <a:spcPct val="150000"/>
              </a:lnSpc>
              <a:spcBef>
                <a:spcPts val="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Cách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thức thực </a:t>
            </a: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hiện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: Phương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pháp thiết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kế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từ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trên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xuống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dưới (top –</a:t>
            </a:r>
            <a:r>
              <a:rPr sz="2400" spc="-1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down)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21675" y="167415"/>
            <a:ext cx="90785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CHỨC</a:t>
            </a:r>
            <a:r>
              <a:rPr sz="2500" spc="-7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</a:p>
        </p:txBody>
      </p:sp>
      <p:sp>
        <p:nvSpPr>
          <p:cNvPr id="4" name="object 4"/>
          <p:cNvSpPr/>
          <p:nvPr/>
        </p:nvSpPr>
        <p:spPr>
          <a:xfrm>
            <a:off x="4951476" y="3579876"/>
            <a:ext cx="2618994" cy="25763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38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101848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6438" y="214131"/>
            <a:ext cx="7821104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27799" y="2414389"/>
            <a:ext cx="3236595" cy="3425190"/>
            <a:chOff x="1132332" y="3003804"/>
            <a:chExt cx="3236595" cy="3425190"/>
          </a:xfrm>
        </p:grpSpPr>
        <p:sp>
          <p:nvSpPr>
            <p:cNvPr id="4" name="object 4"/>
            <p:cNvSpPr/>
            <p:nvPr/>
          </p:nvSpPr>
          <p:spPr>
            <a:xfrm>
              <a:off x="1132332" y="3438144"/>
              <a:ext cx="1538478" cy="22639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7404" y="5550408"/>
              <a:ext cx="2600706" cy="8785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4704" y="3438144"/>
              <a:ext cx="1538478" cy="22639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15668" y="4221492"/>
              <a:ext cx="1424178" cy="142417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16836" y="3003804"/>
              <a:ext cx="1030986" cy="102184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45180" y="5131295"/>
              <a:ext cx="1023378" cy="102337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93415" y="4757623"/>
            <a:ext cx="584835" cy="49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>
              <a:lnSpc>
                <a:spcPts val="1835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Đặc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35"/>
              </a:lnSpc>
            </a:pPr>
            <a:r>
              <a:rPr sz="1600" b="1" spc="-10" dirty="0">
                <a:latin typeface="Verdana"/>
                <a:cs typeface="Verdana"/>
              </a:rPr>
              <a:t>đ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ểm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3828" y="4419321"/>
            <a:ext cx="1044702" cy="10233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5532" y="3920724"/>
            <a:ext cx="1991360" cy="12782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098550" marR="5080" indent="191770">
              <a:lnSpc>
                <a:spcPts val="2290"/>
              </a:lnSpc>
              <a:spcBef>
                <a:spcPts val="365"/>
              </a:spcBef>
            </a:pPr>
            <a:r>
              <a:rPr sz="2100" b="1" spc="-5" dirty="0">
                <a:solidFill>
                  <a:srgbClr val="FFFFFF"/>
                </a:solidFill>
                <a:latin typeface="Verdana"/>
                <a:cs typeface="Verdana"/>
              </a:rPr>
              <a:t>Đối  </a:t>
            </a:r>
            <a:r>
              <a:rPr sz="2100" b="1" dirty="0">
                <a:solidFill>
                  <a:srgbClr val="FFFFFF"/>
                </a:solidFill>
                <a:latin typeface="Verdana"/>
                <a:cs typeface="Verdana"/>
              </a:rPr>
              <a:t>tượng</a:t>
            </a:r>
            <a:endParaRPr sz="2100">
              <a:latin typeface="Verdana"/>
              <a:cs typeface="Verdana"/>
            </a:endParaRPr>
          </a:p>
          <a:p>
            <a:pPr marR="1363345" algn="ctr">
              <a:lnSpc>
                <a:spcPts val="1835"/>
              </a:lnSpc>
              <a:spcBef>
                <a:spcPts val="1345"/>
              </a:spcBef>
            </a:pPr>
            <a:r>
              <a:rPr sz="1600" b="1" spc="-15" dirty="0">
                <a:latin typeface="Verdana"/>
                <a:cs typeface="Verdana"/>
              </a:rPr>
              <a:t>H</a:t>
            </a:r>
            <a:r>
              <a:rPr sz="1600" b="1" spc="-5" dirty="0">
                <a:latin typeface="Verdana"/>
                <a:cs typeface="Verdana"/>
              </a:rPr>
              <a:t>ành</a:t>
            </a:r>
            <a:endParaRPr sz="1600">
              <a:latin typeface="Verdana"/>
              <a:cs typeface="Verdana"/>
            </a:endParaRPr>
          </a:p>
          <a:p>
            <a:pPr marR="1364615" algn="ctr">
              <a:lnSpc>
                <a:spcPts val="1835"/>
              </a:lnSpc>
            </a:pPr>
            <a:r>
              <a:rPr sz="1600" b="1" spc="-15" dirty="0">
                <a:latin typeface="Verdana"/>
                <a:cs typeface="Verdana"/>
              </a:rPr>
              <a:t>vi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53544" y="1278644"/>
            <a:ext cx="41370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spcBef>
                <a:spcPts val="100"/>
              </a:spcBef>
            </a:pPr>
            <a:r>
              <a:rPr sz="2400" b="1" dirty="0">
                <a:solidFill>
                  <a:srgbClr val="000066"/>
                </a:solidFill>
                <a:latin typeface="Times New Roman"/>
                <a:cs typeface="Times New Roman"/>
              </a:rPr>
              <a:t>Lớp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(class) </a:t>
            </a:r>
            <a:r>
              <a:rPr sz="2400" spc="-10" dirty="0">
                <a:solidFill>
                  <a:srgbClr val="000066"/>
                </a:solidFill>
                <a:latin typeface="Times New Roman"/>
                <a:cs typeface="Times New Roman"/>
              </a:rPr>
              <a:t>mô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tả các đối tượng  cùng cấu trúc, cùng hành vi,</a:t>
            </a:r>
            <a:r>
              <a:rPr sz="2400" spc="-140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cùng  </a:t>
            </a:r>
            <a:r>
              <a:rPr sz="2400" spc="-10" dirty="0">
                <a:solidFill>
                  <a:srgbClr val="000066"/>
                </a:solidFill>
                <a:latin typeface="Times New Roman"/>
                <a:cs typeface="Times New Roman"/>
              </a:rPr>
              <a:t>mối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quan hệ. Lớp trừu tượng hóa  đối</a:t>
            </a:r>
            <a:r>
              <a:rPr sz="2400" spc="-15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tượng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41353" y="2960208"/>
            <a:ext cx="2992755" cy="2992755"/>
            <a:chOff x="5402579" y="3508247"/>
            <a:chExt cx="2992755" cy="2992755"/>
          </a:xfrm>
        </p:grpSpPr>
        <p:sp>
          <p:nvSpPr>
            <p:cNvPr id="15" name="object 15"/>
            <p:cNvSpPr/>
            <p:nvPr/>
          </p:nvSpPr>
          <p:spPr>
            <a:xfrm>
              <a:off x="5402579" y="3508247"/>
              <a:ext cx="1538477" cy="226542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97651" y="5620511"/>
              <a:ext cx="2602229" cy="88012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6475" y="3508247"/>
              <a:ext cx="1538477" cy="226542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78295" y="4291596"/>
              <a:ext cx="1440942" cy="142417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5353518" y="4637034"/>
            <a:ext cx="1405889" cy="132054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82F702-A9DE-CB35-8A37-18011D79986B}"/>
              </a:ext>
            </a:extLst>
          </p:cNvPr>
          <p:cNvGrpSpPr/>
          <p:nvPr/>
        </p:nvGrpSpPr>
        <p:grpSpPr>
          <a:xfrm>
            <a:off x="5616521" y="2676519"/>
            <a:ext cx="3393947" cy="3208794"/>
            <a:chOff x="5657850" y="3073895"/>
            <a:chExt cx="3393947" cy="3208794"/>
          </a:xfrm>
        </p:grpSpPr>
        <p:sp>
          <p:nvSpPr>
            <p:cNvPr id="19" name="object 19"/>
            <p:cNvSpPr txBox="1"/>
            <p:nvPr/>
          </p:nvSpPr>
          <p:spPr>
            <a:xfrm>
              <a:off x="6845554" y="4693157"/>
              <a:ext cx="873125" cy="5283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3300" b="1" spc="-5" dirty="0">
                  <a:solidFill>
                    <a:srgbClr val="FFFFFF"/>
                  </a:solidFill>
                  <a:latin typeface="Verdana"/>
                  <a:cs typeface="Verdana"/>
                </a:rPr>
                <a:t>Lớp</a:t>
              </a:r>
              <a:endParaRPr sz="3300">
                <a:latin typeface="Verdana"/>
                <a:cs typeface="Verdana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768084" y="3073895"/>
              <a:ext cx="1023378" cy="102185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029957" y="3306572"/>
              <a:ext cx="502284" cy="499496"/>
            </a:xfrm>
            <a:prstGeom prst="rect">
              <a:avLst/>
            </a:prstGeom>
          </p:spPr>
          <p:txBody>
            <a:bodyPr vert="horz" wrap="square" lIns="0" tIns="37465" rIns="0" bIns="0" rtlCol="0">
              <a:spAutoFit/>
            </a:bodyPr>
            <a:lstStyle/>
            <a:p>
              <a:pPr marL="70485" marR="5080" indent="-58419">
                <a:lnSpc>
                  <a:spcPts val="1750"/>
                </a:lnSpc>
                <a:spcBef>
                  <a:spcPts val="295"/>
                </a:spcBef>
              </a:pPr>
              <a:r>
                <a:rPr sz="1600" b="1" spc="-10" dirty="0">
                  <a:latin typeface="Verdana"/>
                  <a:cs typeface="Verdana"/>
                </a:rPr>
                <a:t>Li</a:t>
              </a:r>
              <a:r>
                <a:rPr sz="1600" b="1" spc="-15" dirty="0">
                  <a:latin typeface="Verdana"/>
                  <a:cs typeface="Verdana"/>
                </a:rPr>
                <a:t>ê</a:t>
              </a:r>
              <a:r>
                <a:rPr sz="1600" b="1" spc="-5" dirty="0">
                  <a:latin typeface="Verdana"/>
                  <a:cs typeface="Verdana"/>
                </a:rPr>
                <a:t>n  </a:t>
              </a:r>
              <a:r>
                <a:rPr sz="1600" b="1" spc="-10" dirty="0">
                  <a:latin typeface="Verdana"/>
                  <a:cs typeface="Verdana"/>
                </a:rPr>
                <a:t>kết</a:t>
              </a:r>
              <a:endParaRPr sz="1600">
                <a:latin typeface="Verdana"/>
                <a:cs typeface="Verdana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964423" y="5145023"/>
              <a:ext cx="1087374" cy="113766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8197088" y="5464862"/>
              <a:ext cx="628650" cy="4349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1610"/>
                </a:lnSpc>
                <a:spcBef>
                  <a:spcPts val="100"/>
                </a:spcBef>
              </a:pPr>
              <a:r>
                <a:rPr sz="1400" b="1" dirty="0">
                  <a:latin typeface="Verdana"/>
                  <a:cs typeface="Verdana"/>
                </a:rPr>
                <a:t>Thu</a:t>
              </a:r>
              <a:r>
                <a:rPr sz="1400" b="1" spc="-5" dirty="0">
                  <a:latin typeface="Verdana"/>
                  <a:cs typeface="Verdana"/>
                </a:rPr>
                <a:t>ộ</a:t>
              </a:r>
              <a:r>
                <a:rPr sz="1400" b="1" dirty="0">
                  <a:latin typeface="Verdana"/>
                  <a:cs typeface="Verdana"/>
                </a:rPr>
                <a:t>c</a:t>
              </a:r>
              <a:endParaRPr sz="1400">
                <a:latin typeface="Verdana"/>
                <a:cs typeface="Verdana"/>
              </a:endParaRPr>
            </a:p>
            <a:p>
              <a:pPr marL="116205">
                <a:lnSpc>
                  <a:spcPts val="1610"/>
                </a:lnSpc>
              </a:pPr>
              <a:r>
                <a:rPr sz="1400" b="1" spc="-5" dirty="0">
                  <a:latin typeface="Verdana"/>
                  <a:cs typeface="Verdana"/>
                </a:rPr>
                <a:t>tính</a:t>
              </a:r>
              <a:endParaRPr sz="1400">
                <a:latin typeface="Verdana"/>
                <a:cs typeface="Verdana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657850" y="5464862"/>
              <a:ext cx="788670" cy="4349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ts val="1610"/>
                </a:lnSpc>
                <a:spcBef>
                  <a:spcPts val="100"/>
                </a:spcBef>
              </a:pPr>
              <a:r>
                <a:rPr sz="1400" b="1" dirty="0">
                  <a:latin typeface="Verdana"/>
                  <a:cs typeface="Verdana"/>
                </a:rPr>
                <a:t>Phươ</a:t>
              </a:r>
              <a:r>
                <a:rPr sz="1400" b="1" spc="-10" dirty="0">
                  <a:latin typeface="Verdana"/>
                  <a:cs typeface="Verdana"/>
                </a:rPr>
                <a:t>n</a:t>
              </a:r>
              <a:r>
                <a:rPr sz="1400" b="1" dirty="0">
                  <a:latin typeface="Verdana"/>
                  <a:cs typeface="Verdana"/>
                </a:rPr>
                <a:t>g</a:t>
              </a:r>
              <a:endParaRPr sz="1400">
                <a:latin typeface="Verdana"/>
                <a:cs typeface="Verdana"/>
              </a:endParaRPr>
            </a:p>
            <a:p>
              <a:pPr marL="1270" algn="ctr">
                <a:lnSpc>
                  <a:spcPts val="1610"/>
                </a:lnSpc>
              </a:pPr>
              <a:r>
                <a:rPr sz="1400" b="1" dirty="0">
                  <a:latin typeface="Verdana"/>
                  <a:cs typeface="Verdana"/>
                </a:rPr>
                <a:t>thức</a:t>
              </a:r>
              <a:endParaRPr sz="1400">
                <a:latin typeface="Verdana"/>
                <a:cs typeface="Verdana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8459" y="546982"/>
            <a:ext cx="3937000" cy="2708562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326390"/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1.5.1 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Các khái</a:t>
            </a:r>
            <a:r>
              <a:rPr sz="2800" b="1" spc="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niệm</a:t>
            </a:r>
            <a:endParaRPr sz="2800">
              <a:latin typeface="Times New Roman"/>
              <a:cs typeface="Times New Roman"/>
            </a:endParaRPr>
          </a:p>
          <a:p>
            <a:pPr marL="12700" marR="5080" algn="ctr"/>
            <a:r>
              <a:rPr sz="2400" b="1" spc="-5" dirty="0">
                <a:solidFill>
                  <a:srgbClr val="000066"/>
                </a:solidFill>
                <a:latin typeface="Times New Roman"/>
                <a:cs typeface="Times New Roman"/>
              </a:rPr>
              <a:t>Đối tượng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(object) là khái</a:t>
            </a:r>
            <a:r>
              <a:rPr sz="2400" spc="-114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niệm  cho phép </a:t>
            </a:r>
            <a:r>
              <a:rPr sz="2400" spc="-10" dirty="0">
                <a:solidFill>
                  <a:srgbClr val="000066"/>
                </a:solidFill>
                <a:latin typeface="Times New Roman"/>
                <a:cs typeface="Times New Roman"/>
              </a:rPr>
              <a:t>mô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tả các </a:t>
            </a:r>
            <a:r>
              <a:rPr sz="2400" spc="-5" dirty="0">
                <a:solidFill>
                  <a:srgbClr val="000066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000066"/>
                </a:solidFill>
                <a:latin typeface="Times New Roman"/>
                <a:cs typeface="Times New Roman"/>
              </a:rPr>
              <a:t>vật trong  thế </a:t>
            </a:r>
            <a:r>
              <a:rPr sz="2400">
                <a:solidFill>
                  <a:srgbClr val="000066"/>
                </a:solidFill>
                <a:latin typeface="Times New Roman"/>
                <a:cs typeface="Times New Roman"/>
              </a:rPr>
              <a:t>giới</a:t>
            </a:r>
            <a:r>
              <a:rPr sz="2400" spc="-35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000066"/>
                </a:solidFill>
                <a:latin typeface="Times New Roman"/>
                <a:cs typeface="Times New Roman"/>
              </a:rPr>
              <a:t>thực</a:t>
            </a:r>
            <a:endParaRPr lang="en-US" sz="2400">
              <a:latin typeface="Times New Roman"/>
              <a:cs typeface="Times New Roman"/>
            </a:endParaRPr>
          </a:p>
          <a:p>
            <a:pPr marL="2087880" marR="1274445" indent="1905" algn="ctr">
              <a:lnSpc>
                <a:spcPct val="91300"/>
              </a:lnSpc>
              <a:spcBef>
                <a:spcPts val="2155"/>
              </a:spcBef>
            </a:pPr>
            <a:r>
              <a:rPr lang="en-US" sz="1600" b="1" spc="-5">
                <a:latin typeface="Verdana"/>
                <a:cs typeface="Verdana"/>
              </a:rPr>
              <a:t>Mối  </a:t>
            </a:r>
            <a:r>
              <a:rPr lang="en-US" sz="1600" b="1" spc="-10">
                <a:latin typeface="Verdana"/>
                <a:cs typeface="Verdana"/>
              </a:rPr>
              <a:t>qu</a:t>
            </a:r>
            <a:r>
              <a:rPr lang="en-US" sz="1600" b="1" spc="-5">
                <a:latin typeface="Verdana"/>
                <a:cs typeface="Verdana"/>
              </a:rPr>
              <a:t>an  hệ</a:t>
            </a:r>
            <a:endParaRPr lang="en-US" sz="16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53000" y="1752600"/>
            <a:ext cx="0" cy="4420870"/>
          </a:xfrm>
          <a:custGeom>
            <a:avLst/>
            <a:gdLst/>
            <a:ahLst/>
            <a:cxnLst/>
            <a:rect l="l" t="t" r="r" b="b"/>
            <a:pathLst>
              <a:path h="4420870">
                <a:moveTo>
                  <a:pt x="0" y="0"/>
                </a:moveTo>
                <a:lnTo>
                  <a:pt x="0" y="4420577"/>
                </a:lnTo>
              </a:path>
            </a:pathLst>
          </a:custGeom>
          <a:ln w="9144">
            <a:solidFill>
              <a:srgbClr val="000066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39</a:t>
            </a:fld>
            <a:endParaRPr spc="-5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DA4B76-D6A1-206A-BBA8-4786B619B5FB}"/>
              </a:ext>
            </a:extLst>
          </p:cNvPr>
          <p:cNvSpPr txBox="1"/>
          <p:nvPr/>
        </p:nvSpPr>
        <p:spPr>
          <a:xfrm>
            <a:off x="0" y="5739934"/>
            <a:ext cx="9905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0" i="0">
                <a:solidFill>
                  <a:srgbClr val="FF0000"/>
                </a:solidFill>
                <a:effectLst/>
                <a:latin typeface="TimesNewRomanPSMT"/>
              </a:rPr>
              <a:t>Như vậy, một đối tượng là thể hiện của một lớp và một</a:t>
            </a:r>
            <a:r>
              <a:rPr lang="en-US" sz="2400" b="0" i="0">
                <a:solidFill>
                  <a:srgbClr val="FF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FF0000"/>
                </a:solidFill>
                <a:effectLst/>
                <a:latin typeface="TimesNewRomanPSMT"/>
              </a:rPr>
              <a:t>lớp là một định nghĩa trừu tượng của đối tượng</a:t>
            </a:r>
            <a:r>
              <a:rPr lang="vi-VN" sz="2400">
                <a:solidFill>
                  <a:srgbClr val="FF0000"/>
                </a:solidFill>
              </a:rPr>
              <a:t> </a:t>
            </a:r>
            <a:endParaRPr 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14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6BC04-B164-9C24-CBE1-0AD213AA3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134" y="907489"/>
            <a:ext cx="9275578" cy="5297861"/>
          </a:xfrm>
        </p:spPr>
        <p:txBody>
          <a:bodyPr/>
          <a:lstStyle/>
          <a:p>
            <a:pPr algn="just"/>
            <a:r>
              <a:rPr lang="en-US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Thành phần (component): 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 một phần của hệ thống hoạt động độc lập và giữ một chức năng nhất định trong hệ thống.</a:t>
            </a:r>
          </a:p>
          <a:p>
            <a:pPr algn="just"/>
            <a:r>
              <a:rPr lang="vi-VN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Gói (package):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 một cách tổ chức các thành phần, phần tử trong hệ thống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thành các nhóm. Nhiều gói có thể được kết hợp với nhau để trở thành một hệ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 con (subsystem).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 thừa: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Trong phương pháp hướng đối tượng, một lớp có thể có sử dụng lại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thuộc tính và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phương thức của một hoặc nhiều lớp khác. Kiểu quan hệ này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gọi là quan hệ kế thừa, được xây dựng dựa trên mối quan hệ kế thừa trong bài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toán thực tế. Ví dụ, giải sử ta có lớp </a:t>
            </a:r>
            <a:r>
              <a:rPr lang="vi-VN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gồm các thuộc tính: </a:t>
            </a:r>
            <a:r>
              <a:rPr lang="vi-VN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tên, ngày sinh,</a:t>
            </a:r>
            <a:r>
              <a:rPr lang="en-US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quê quán, giới tính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Lớp </a:t>
            </a:r>
            <a:r>
              <a:rPr lang="vi-VN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Nhân Viên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 quan hệ kế thừa từ lớp </a:t>
            </a:r>
            <a:r>
              <a:rPr lang="vi-VN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sẽ có tất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 các thuộc tính trên và bổ sung thêm các thuộc tính mới gồm: </a:t>
            </a:r>
            <a:r>
              <a:rPr lang="vi-VN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chức vụ,</a:t>
            </a:r>
            <a:r>
              <a:rPr lang="en-US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lương.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CCDF0-8311-9727-9E77-3DCBFBA9B1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40</a:t>
            </a:fld>
            <a:endParaRPr lang="en-US" spc="-5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F1077B6-8906-DAF4-E08A-F99FC1AD69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6438" y="214131"/>
            <a:ext cx="7821104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</p:spTree>
    <p:extLst>
      <p:ext uri="{BB962C8B-B14F-4D97-AF65-F5344CB8AC3E}">
        <p14:creationId xmlns:p14="http://schemas.microsoft.com/office/powerpoint/2010/main" val="92810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9567" y="263652"/>
            <a:ext cx="788049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  <p:sp>
        <p:nvSpPr>
          <p:cNvPr id="3" name="object 3"/>
          <p:cNvSpPr/>
          <p:nvPr/>
        </p:nvSpPr>
        <p:spPr>
          <a:xfrm>
            <a:off x="6477000" y="3470148"/>
            <a:ext cx="2514600" cy="923925"/>
          </a:xfrm>
          <a:custGeom>
            <a:avLst/>
            <a:gdLst/>
            <a:ahLst/>
            <a:cxnLst/>
            <a:rect l="l" t="t" r="r" b="b"/>
            <a:pathLst>
              <a:path w="2514600" h="923925">
                <a:moveTo>
                  <a:pt x="2514600" y="0"/>
                </a:moveTo>
                <a:lnTo>
                  <a:pt x="0" y="0"/>
                </a:lnTo>
                <a:lnTo>
                  <a:pt x="0" y="923544"/>
                </a:lnTo>
                <a:lnTo>
                  <a:pt x="2514600" y="923544"/>
                </a:lnTo>
                <a:lnTo>
                  <a:pt x="2514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77000" y="3470147"/>
            <a:ext cx="2514600" cy="877162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92075" marR="83185" algn="just">
              <a:spcBef>
                <a:spcPts val="359"/>
              </a:spcBef>
            </a:pP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Lớp con </a:t>
            </a:r>
            <a:r>
              <a:rPr spc="-10" dirty="0">
                <a:solidFill>
                  <a:srgbClr val="000066"/>
                </a:solidFill>
                <a:latin typeface="Verdana"/>
                <a:cs typeface="Verdana"/>
              </a:rPr>
              <a:t>có </a:t>
            </a:r>
            <a:r>
              <a:rPr spc="-5" dirty="0">
                <a:solidFill>
                  <a:srgbClr val="000066"/>
                </a:solidFill>
                <a:latin typeface="Verdana"/>
                <a:cs typeface="Verdana"/>
              </a:rPr>
              <a:t>thể thừa  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kế </a:t>
            </a:r>
            <a:r>
              <a:rPr spc="-5" dirty="0">
                <a:solidFill>
                  <a:srgbClr val="000066"/>
                </a:solidFill>
                <a:latin typeface="Verdana"/>
                <a:cs typeface="Verdana"/>
              </a:rPr>
              <a:t>từ 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lớp cha </a:t>
            </a:r>
            <a:r>
              <a:rPr b="1" dirty="0">
                <a:solidFill>
                  <a:srgbClr val="000066"/>
                </a:solidFill>
                <a:latin typeface="Verdana"/>
                <a:cs typeface="Verdana"/>
              </a:rPr>
              <a:t>-&gt; </a:t>
            </a:r>
            <a:r>
              <a:rPr b="1" spc="5" dirty="0">
                <a:solidFill>
                  <a:srgbClr val="000066"/>
                </a:solidFill>
                <a:latin typeface="Verdana"/>
                <a:cs typeface="Verdana"/>
              </a:rPr>
              <a:t>Có  </a:t>
            </a:r>
            <a:r>
              <a:rPr b="1" spc="-5" dirty="0">
                <a:solidFill>
                  <a:srgbClr val="000066"/>
                </a:solidFill>
                <a:latin typeface="Verdana"/>
                <a:cs typeface="Verdana"/>
              </a:rPr>
              <a:t>tính </a:t>
            </a:r>
            <a:r>
              <a:rPr b="1" dirty="0">
                <a:solidFill>
                  <a:srgbClr val="000066"/>
                </a:solidFill>
                <a:latin typeface="Verdana"/>
                <a:cs typeface="Verdana"/>
              </a:rPr>
              <a:t>mở</a:t>
            </a:r>
            <a:r>
              <a:rPr b="1" spc="-5" dirty="0">
                <a:solidFill>
                  <a:srgbClr val="000066"/>
                </a:solidFill>
                <a:latin typeface="Verdana"/>
                <a:cs typeface="Verdana"/>
              </a:rPr>
              <a:t> cao</a:t>
            </a:r>
            <a:endParaRPr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1638" y="1609153"/>
            <a:ext cx="3209925" cy="933450"/>
            <a:chOff x="5100637" y="1609153"/>
            <a:chExt cx="3209925" cy="933450"/>
          </a:xfrm>
        </p:grpSpPr>
        <p:sp>
          <p:nvSpPr>
            <p:cNvPr id="6" name="object 6"/>
            <p:cNvSpPr/>
            <p:nvPr/>
          </p:nvSpPr>
          <p:spPr>
            <a:xfrm>
              <a:off x="5105400" y="1613916"/>
              <a:ext cx="3200400" cy="923925"/>
            </a:xfrm>
            <a:custGeom>
              <a:avLst/>
              <a:gdLst/>
              <a:ahLst/>
              <a:cxnLst/>
              <a:rect l="l" t="t" r="r" b="b"/>
              <a:pathLst>
                <a:path w="3200400" h="923925">
                  <a:moveTo>
                    <a:pt x="3200400" y="0"/>
                  </a:moveTo>
                  <a:lnTo>
                    <a:pt x="0" y="0"/>
                  </a:lnTo>
                  <a:lnTo>
                    <a:pt x="0" y="923543"/>
                  </a:lnTo>
                  <a:lnTo>
                    <a:pt x="3200400" y="923543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5400" y="1613916"/>
              <a:ext cx="3200400" cy="923925"/>
            </a:xfrm>
            <a:custGeom>
              <a:avLst/>
              <a:gdLst/>
              <a:ahLst/>
              <a:cxnLst/>
              <a:rect l="l" t="t" r="r" b="b"/>
              <a:pathLst>
                <a:path w="3200400" h="923925">
                  <a:moveTo>
                    <a:pt x="0" y="923543"/>
                  </a:moveTo>
                  <a:lnTo>
                    <a:pt x="3200400" y="923543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923543"/>
                  </a:lnTo>
                  <a:close/>
                </a:path>
              </a:pathLst>
            </a:custGeom>
            <a:ln w="9144">
              <a:solidFill>
                <a:srgbClr val="00006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78729" y="1646301"/>
            <a:ext cx="3030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spcBef>
                <a:spcPts val="100"/>
              </a:spcBef>
              <a:tabLst>
                <a:tab pos="614045" algn="l"/>
                <a:tab pos="1220470" algn="l"/>
                <a:tab pos="1850389" algn="l"/>
                <a:tab pos="2715895" algn="l"/>
              </a:tabLst>
            </a:pP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Lớp	che	</a:t>
            </a:r>
            <a:r>
              <a:rPr spc="-10" dirty="0">
                <a:solidFill>
                  <a:srgbClr val="000066"/>
                </a:solidFill>
                <a:latin typeface="Verdana"/>
                <a:cs typeface="Verdana"/>
              </a:rPr>
              <a:t>d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ấu	</a:t>
            </a:r>
            <a:r>
              <a:rPr spc="-5" dirty="0">
                <a:solidFill>
                  <a:srgbClr val="000066"/>
                </a:solidFill>
                <a:latin typeface="Verdana"/>
                <a:cs typeface="Verdana"/>
              </a:rPr>
              <a:t>thôn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g	</a:t>
            </a:r>
            <a:r>
              <a:rPr spc="-5" dirty="0">
                <a:solidFill>
                  <a:srgbClr val="000066"/>
                </a:solidFill>
                <a:latin typeface="Verdana"/>
                <a:cs typeface="Verdana"/>
              </a:rPr>
              <a:t>t</a:t>
            </a:r>
            <a:r>
              <a:rPr spc="10" dirty="0">
                <a:solidFill>
                  <a:srgbClr val="000066"/>
                </a:solidFill>
                <a:latin typeface="Verdana"/>
                <a:cs typeface="Verdana"/>
              </a:rPr>
              <a:t>i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n</a:t>
            </a:r>
            <a:endParaRPr>
              <a:latin typeface="Verdana"/>
              <a:cs typeface="Verdana"/>
            </a:endParaRPr>
          </a:p>
          <a:p>
            <a:pPr marR="5080" algn="r"/>
            <a:r>
              <a:rPr b="1" spc="10" dirty="0">
                <a:solidFill>
                  <a:srgbClr val="000066"/>
                </a:solidFill>
                <a:latin typeface="Verdana"/>
                <a:cs typeface="Verdana"/>
              </a:rPr>
              <a:t>ổn</a:t>
            </a:r>
            <a:endParaRPr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2000" y="1879092"/>
            <a:ext cx="2590800" cy="2862580"/>
          </a:xfrm>
          <a:custGeom>
            <a:avLst/>
            <a:gdLst/>
            <a:ahLst/>
            <a:cxnLst/>
            <a:rect l="l" t="t" r="r" b="b"/>
            <a:pathLst>
              <a:path w="2590800" h="2862579">
                <a:moveTo>
                  <a:pt x="2590800" y="0"/>
                </a:moveTo>
                <a:lnTo>
                  <a:pt x="0" y="0"/>
                </a:lnTo>
                <a:lnTo>
                  <a:pt x="0" y="2862072"/>
                </a:lnTo>
                <a:lnTo>
                  <a:pt x="2590800" y="2862072"/>
                </a:lnTo>
                <a:lnTo>
                  <a:pt x="2590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2000" y="1879092"/>
            <a:ext cx="2590800" cy="2862580"/>
          </a:xfrm>
          <a:prstGeom prst="rect">
            <a:avLst/>
          </a:prstGeom>
          <a:ln w="9144">
            <a:solidFill>
              <a:srgbClr val="000066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1440" marR="82550" algn="just">
              <a:spcBef>
                <a:spcPts val="355"/>
              </a:spcBef>
            </a:pPr>
            <a:r>
              <a:rPr spc="-5" dirty="0">
                <a:solidFill>
                  <a:srgbClr val="000066"/>
                </a:solidFill>
                <a:latin typeface="Verdana"/>
                <a:cs typeface="Verdana"/>
              </a:rPr>
              <a:t>Phương thức 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khác  nhau </a:t>
            </a:r>
            <a:r>
              <a:rPr spc="-5" dirty="0">
                <a:solidFill>
                  <a:srgbClr val="000066"/>
                </a:solidFill>
                <a:latin typeface="Verdana"/>
                <a:cs typeface="Verdana"/>
              </a:rPr>
              <a:t>cho cùng 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một  yêu </a:t>
            </a:r>
            <a:r>
              <a:rPr spc="-5" dirty="0">
                <a:solidFill>
                  <a:srgbClr val="000066"/>
                </a:solidFill>
                <a:latin typeface="Verdana"/>
                <a:cs typeface="Verdana"/>
              </a:rPr>
              <a:t>cầu. </a:t>
            </a:r>
            <a:r>
              <a:rPr i="1" spc="-10" dirty="0">
                <a:solidFill>
                  <a:srgbClr val="000066"/>
                </a:solidFill>
                <a:latin typeface="Verdana"/>
                <a:cs typeface="Verdana"/>
              </a:rPr>
              <a:t>VD: </a:t>
            </a:r>
            <a:r>
              <a:rPr i="1" spc="-5" dirty="0">
                <a:solidFill>
                  <a:srgbClr val="000066"/>
                </a:solidFill>
                <a:latin typeface="Verdana"/>
                <a:cs typeface="Verdana"/>
              </a:rPr>
              <a:t>Cùng  một </a:t>
            </a:r>
            <a:r>
              <a:rPr i="1" dirty="0">
                <a:solidFill>
                  <a:srgbClr val="000066"/>
                </a:solidFill>
                <a:latin typeface="Verdana"/>
                <a:cs typeface="Verdana"/>
              </a:rPr>
              <a:t>yêu cầu </a:t>
            </a:r>
            <a:r>
              <a:rPr i="1" spc="-5" dirty="0">
                <a:solidFill>
                  <a:srgbClr val="000066"/>
                </a:solidFill>
                <a:latin typeface="Verdana"/>
                <a:cs typeface="Verdana"/>
              </a:rPr>
              <a:t>tính  diện tích </a:t>
            </a:r>
            <a:r>
              <a:rPr i="1" spc="5" dirty="0">
                <a:solidFill>
                  <a:srgbClr val="000066"/>
                </a:solidFill>
                <a:latin typeface="Verdana"/>
                <a:cs typeface="Verdana"/>
              </a:rPr>
              <a:t>sẽ </a:t>
            </a:r>
            <a:r>
              <a:rPr i="1" spc="-5" dirty="0">
                <a:solidFill>
                  <a:srgbClr val="000066"/>
                </a:solidFill>
                <a:latin typeface="Verdana"/>
                <a:cs typeface="Verdana"/>
              </a:rPr>
              <a:t>được lớp  </a:t>
            </a:r>
            <a:r>
              <a:rPr i="1" dirty="0">
                <a:solidFill>
                  <a:srgbClr val="000066"/>
                </a:solidFill>
                <a:latin typeface="Verdana"/>
                <a:cs typeface="Verdana"/>
              </a:rPr>
              <a:t>hình vuông, hình  </a:t>
            </a:r>
            <a:r>
              <a:rPr i="1" spc="-5" dirty="0">
                <a:solidFill>
                  <a:srgbClr val="000066"/>
                </a:solidFill>
                <a:latin typeface="Verdana"/>
                <a:cs typeface="Verdana"/>
              </a:rPr>
              <a:t>tam giác </a:t>
            </a:r>
            <a:r>
              <a:rPr i="1" dirty="0">
                <a:solidFill>
                  <a:srgbClr val="000066"/>
                </a:solidFill>
                <a:latin typeface="Verdana"/>
                <a:cs typeface="Verdana"/>
              </a:rPr>
              <a:t>thực </a:t>
            </a:r>
            <a:r>
              <a:rPr i="1" spc="-5" dirty="0">
                <a:solidFill>
                  <a:srgbClr val="000066"/>
                </a:solidFill>
                <a:latin typeface="Verdana"/>
                <a:cs typeface="Verdana"/>
              </a:rPr>
              <a:t>hiện  </a:t>
            </a:r>
            <a:r>
              <a:rPr i="1" dirty="0">
                <a:solidFill>
                  <a:srgbClr val="000066"/>
                </a:solidFill>
                <a:latin typeface="Verdana"/>
                <a:cs typeface="Verdana"/>
              </a:rPr>
              <a:t>khác nhau </a:t>
            </a:r>
            <a:r>
              <a:rPr b="1" spc="-10" dirty="0">
                <a:solidFill>
                  <a:srgbClr val="000066"/>
                </a:solidFill>
                <a:latin typeface="Verdana"/>
                <a:cs typeface="Verdana"/>
              </a:rPr>
              <a:t>-&gt; </a:t>
            </a:r>
            <a:r>
              <a:rPr b="1" spc="-5" dirty="0">
                <a:solidFill>
                  <a:srgbClr val="000066"/>
                </a:solidFill>
                <a:latin typeface="Verdana"/>
                <a:cs typeface="Verdana"/>
              </a:rPr>
              <a:t>Linh  hoạt với </a:t>
            </a:r>
            <a:r>
              <a:rPr b="1" dirty="0">
                <a:solidFill>
                  <a:srgbClr val="000066"/>
                </a:solidFill>
                <a:latin typeface="Verdana"/>
                <a:cs typeface="Verdana"/>
              </a:rPr>
              <a:t>yêu </a:t>
            </a:r>
            <a:r>
              <a:rPr b="1" spc="-5" dirty="0">
                <a:solidFill>
                  <a:srgbClr val="000066"/>
                </a:solidFill>
                <a:latin typeface="Verdana"/>
                <a:cs typeface="Verdana"/>
              </a:rPr>
              <a:t>cầu  thực</a:t>
            </a:r>
            <a:r>
              <a:rPr b="1" spc="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b="1" spc="-10" dirty="0">
                <a:solidFill>
                  <a:srgbClr val="000066"/>
                </a:solidFill>
                <a:latin typeface="Verdana"/>
                <a:cs typeface="Verdana"/>
              </a:rPr>
              <a:t>tế</a:t>
            </a:r>
            <a:endParaRPr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31564" y="3421379"/>
            <a:ext cx="1509522" cy="14897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19092" y="3577844"/>
            <a:ext cx="916305" cy="10198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indent="86360">
              <a:lnSpc>
                <a:spcPts val="3620"/>
              </a:lnSpc>
              <a:spcBef>
                <a:spcPts val="705"/>
              </a:spcBef>
            </a:pPr>
            <a:r>
              <a:rPr sz="3500" spc="-5" dirty="0">
                <a:solidFill>
                  <a:srgbClr val="FFFFFF"/>
                </a:solidFill>
                <a:latin typeface="Times New Roman"/>
                <a:cs typeface="Times New Roman"/>
              </a:rPr>
              <a:t>Đặc  </a:t>
            </a:r>
            <a:r>
              <a:rPr sz="3500" dirty="0">
                <a:solidFill>
                  <a:srgbClr val="FFFFFF"/>
                </a:solidFill>
                <a:latin typeface="Times New Roman"/>
                <a:cs typeface="Times New Roman"/>
              </a:rPr>
              <a:t>điểm</a:t>
            </a:r>
            <a:endParaRPr sz="35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45280" y="1632205"/>
            <a:ext cx="1461135" cy="1824355"/>
            <a:chOff x="3764279" y="1632204"/>
            <a:chExt cx="1461135" cy="1824355"/>
          </a:xfrm>
        </p:grpSpPr>
        <p:sp>
          <p:nvSpPr>
            <p:cNvPr id="14" name="object 14"/>
            <p:cNvSpPr/>
            <p:nvPr/>
          </p:nvSpPr>
          <p:spPr>
            <a:xfrm>
              <a:off x="4497069" y="3029331"/>
              <a:ext cx="0" cy="414655"/>
            </a:xfrm>
            <a:custGeom>
              <a:avLst/>
              <a:gdLst/>
              <a:ahLst/>
              <a:cxnLst/>
              <a:rect l="l" t="t" r="r" b="b"/>
              <a:pathLst>
                <a:path h="414654">
                  <a:moveTo>
                    <a:pt x="0" y="414147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48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64279" y="1632204"/>
              <a:ext cx="1460753" cy="146075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46092" y="1856614"/>
            <a:ext cx="3587115" cy="9474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610">
              <a:lnSpc>
                <a:spcPts val="2460"/>
              </a:lnSpc>
              <a:spcBef>
                <a:spcPts val="105"/>
              </a:spcBef>
              <a:tabLst>
                <a:tab pos="1032510" algn="l"/>
                <a:tab pos="1792605" algn="l"/>
                <a:tab pos="2277110" algn="l"/>
                <a:tab pos="2800350" algn="l"/>
              </a:tabLst>
            </a:pPr>
            <a:r>
              <a:rPr sz="3450" spc="-7" baseline="6038" dirty="0">
                <a:solidFill>
                  <a:srgbClr val="FFFFFF"/>
                </a:solidFill>
                <a:latin typeface="Times New Roman"/>
                <a:cs typeface="Times New Roman"/>
              </a:rPr>
              <a:t>Tính	</a:t>
            </a:r>
            <a:r>
              <a:rPr dirty="0">
                <a:solidFill>
                  <a:srgbClr val="000066"/>
                </a:solidFill>
                <a:latin typeface="Verdana"/>
                <a:cs typeface="Verdana"/>
              </a:rPr>
              <a:t>riêng	</a:t>
            </a:r>
            <a:r>
              <a:rPr b="1" dirty="0">
                <a:solidFill>
                  <a:srgbClr val="000066"/>
                </a:solidFill>
                <a:latin typeface="Verdana"/>
                <a:cs typeface="Verdana"/>
              </a:rPr>
              <a:t>-&gt;	</a:t>
            </a:r>
            <a:r>
              <a:rPr b="1" spc="5" dirty="0">
                <a:solidFill>
                  <a:srgbClr val="000066"/>
                </a:solidFill>
                <a:latin typeface="Verdana"/>
                <a:cs typeface="Verdana"/>
              </a:rPr>
              <a:t>Hệ	</a:t>
            </a:r>
            <a:r>
              <a:rPr b="1" dirty="0">
                <a:solidFill>
                  <a:srgbClr val="000066"/>
                </a:solidFill>
                <a:latin typeface="Verdana"/>
                <a:cs typeface="Verdana"/>
              </a:rPr>
              <a:t>thống</a:t>
            </a:r>
            <a:endParaRPr dirty="0">
              <a:latin typeface="Verdana"/>
              <a:cs typeface="Verdana"/>
            </a:endParaRPr>
          </a:p>
          <a:p>
            <a:pPr marL="38100">
              <a:lnSpc>
                <a:spcPts val="2245"/>
              </a:lnSpc>
              <a:tabLst>
                <a:tab pos="1032510" algn="l"/>
              </a:tabLst>
            </a:pPr>
            <a:r>
              <a:rPr sz="3450" baseline="1207" dirty="0">
                <a:solidFill>
                  <a:srgbClr val="FFFFFF"/>
                </a:solidFill>
                <a:latin typeface="Times New Roman"/>
                <a:cs typeface="Times New Roman"/>
              </a:rPr>
              <a:t>đóng	</a:t>
            </a:r>
            <a:r>
              <a:rPr b="1" spc="-5" dirty="0">
                <a:solidFill>
                  <a:srgbClr val="000066"/>
                </a:solidFill>
                <a:latin typeface="Verdana"/>
                <a:cs typeface="Verdana"/>
              </a:rPr>
              <a:t>định</a:t>
            </a:r>
            <a:r>
              <a:rPr b="1" spc="5" dirty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b="1" spc="-5" dirty="0">
                <a:solidFill>
                  <a:srgbClr val="000066"/>
                </a:solidFill>
                <a:latin typeface="Verdana"/>
                <a:cs typeface="Verdana"/>
              </a:rPr>
              <a:t>hơn</a:t>
            </a:r>
            <a:endParaRPr dirty="0">
              <a:latin typeface="Verdana"/>
              <a:cs typeface="Verdana"/>
            </a:endParaRPr>
          </a:p>
          <a:p>
            <a:pPr marL="144780">
              <a:lnSpc>
                <a:spcPts val="2545"/>
              </a:lnSpc>
            </a:pPr>
            <a:r>
              <a:rPr sz="2300" dirty="0">
                <a:solidFill>
                  <a:srgbClr val="FFFFFF"/>
                </a:solidFill>
                <a:latin typeface="Times New Roman"/>
                <a:cs typeface="Times New Roman"/>
              </a:rPr>
              <a:t>gói</a:t>
            </a:r>
            <a:endParaRPr sz="2300" dirty="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59603" y="4315968"/>
            <a:ext cx="1701164" cy="1461135"/>
            <a:chOff x="5078603" y="4315967"/>
            <a:chExt cx="1701164" cy="1461135"/>
          </a:xfrm>
        </p:grpSpPr>
        <p:sp>
          <p:nvSpPr>
            <p:cNvPr id="18" name="object 18"/>
            <p:cNvSpPr/>
            <p:nvPr/>
          </p:nvSpPr>
          <p:spPr>
            <a:xfrm>
              <a:off x="5091303" y="4474082"/>
              <a:ext cx="358775" cy="207645"/>
            </a:xfrm>
            <a:custGeom>
              <a:avLst/>
              <a:gdLst/>
              <a:ahLst/>
              <a:cxnLst/>
              <a:rect l="l" t="t" r="r" b="b"/>
              <a:pathLst>
                <a:path w="358775" h="207645">
                  <a:moveTo>
                    <a:pt x="0" y="0"/>
                  </a:moveTo>
                  <a:lnTo>
                    <a:pt x="358648" y="207137"/>
                  </a:lnTo>
                </a:path>
              </a:pathLst>
            </a:custGeom>
            <a:ln w="25400">
              <a:solidFill>
                <a:srgbClr val="448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14188" y="4315967"/>
              <a:ext cx="1465325" cy="146075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964429" y="4658106"/>
            <a:ext cx="926465" cy="6788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04470" marR="5080" indent="-192405">
              <a:lnSpc>
                <a:spcPts val="2380"/>
              </a:lnSpc>
              <a:spcBef>
                <a:spcPts val="500"/>
              </a:spcBef>
            </a:pPr>
            <a:r>
              <a:rPr sz="2300" spc="-5" dirty="0">
                <a:solidFill>
                  <a:srgbClr val="FFFFFF"/>
                </a:solidFill>
                <a:latin typeface="Times New Roman"/>
                <a:cs typeface="Times New Roman"/>
              </a:rPr>
              <a:t>Tính</a:t>
            </a:r>
            <a:r>
              <a:rPr sz="23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FFFF"/>
                </a:solidFill>
                <a:latin typeface="Times New Roman"/>
                <a:cs typeface="Times New Roman"/>
              </a:rPr>
              <a:t>kế  thừa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95373" y="4315968"/>
            <a:ext cx="1698625" cy="1461135"/>
            <a:chOff x="2214372" y="4315967"/>
            <a:chExt cx="1698625" cy="1461135"/>
          </a:xfrm>
        </p:grpSpPr>
        <p:sp>
          <p:nvSpPr>
            <p:cNvPr id="22" name="object 22"/>
            <p:cNvSpPr/>
            <p:nvPr/>
          </p:nvSpPr>
          <p:spPr>
            <a:xfrm>
              <a:off x="3541649" y="4474082"/>
              <a:ext cx="358775" cy="207645"/>
            </a:xfrm>
            <a:custGeom>
              <a:avLst/>
              <a:gdLst/>
              <a:ahLst/>
              <a:cxnLst/>
              <a:rect l="l" t="t" r="r" b="b"/>
              <a:pathLst>
                <a:path w="358775" h="207645">
                  <a:moveTo>
                    <a:pt x="358648" y="0"/>
                  </a:moveTo>
                  <a:lnTo>
                    <a:pt x="0" y="207137"/>
                  </a:lnTo>
                </a:path>
              </a:pathLst>
            </a:custGeom>
            <a:ln w="25400">
              <a:solidFill>
                <a:srgbClr val="448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14372" y="4315967"/>
              <a:ext cx="1465326" cy="146075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64612" y="4658106"/>
            <a:ext cx="926465" cy="6788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03200" marR="5080" indent="-190500">
              <a:lnSpc>
                <a:spcPts val="2380"/>
              </a:lnSpc>
              <a:spcBef>
                <a:spcPts val="500"/>
              </a:spcBef>
            </a:pPr>
            <a:r>
              <a:rPr sz="2300" spc="-5" dirty="0">
                <a:solidFill>
                  <a:srgbClr val="FFFFFF"/>
                </a:solidFill>
                <a:latin typeface="Times New Roman"/>
                <a:cs typeface="Times New Roman"/>
              </a:rPr>
              <a:t>Tính</a:t>
            </a:r>
            <a:r>
              <a:rPr sz="23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FFFF"/>
                </a:solidFill>
                <a:latin typeface="Times New Roman"/>
                <a:cs typeface="Times New Roman"/>
              </a:rPr>
              <a:t>đa  hình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41</a:t>
            </a:fld>
            <a:endParaRPr spc="-5" dirty="0"/>
          </a:p>
        </p:txBody>
      </p:sp>
      <p:sp>
        <p:nvSpPr>
          <p:cNvPr id="25" name="object 25"/>
          <p:cNvSpPr txBox="1"/>
          <p:nvPr/>
        </p:nvSpPr>
        <p:spPr>
          <a:xfrm>
            <a:off x="952907" y="1176019"/>
            <a:ext cx="301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5" dirty="0">
                <a:solidFill>
                  <a:srgbClr val="00072A"/>
                </a:solidFill>
                <a:latin typeface="Times New Roman"/>
                <a:cs typeface="Times New Roman"/>
              </a:rPr>
              <a:t>1.5.1 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Các khái</a:t>
            </a:r>
            <a:r>
              <a:rPr sz="2800" b="1" spc="-1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niệm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2480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1446" y="212571"/>
            <a:ext cx="894016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52907" y="1176020"/>
            <a:ext cx="8110855" cy="2698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lvl="2" algn="just">
              <a:spcBef>
                <a:spcPts val="95"/>
              </a:spcBef>
              <a:tabLst>
                <a:tab pos="812800" algn="l"/>
              </a:tabLst>
            </a:pPr>
            <a:r>
              <a:rPr lang="en-US"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1.5.1. </a:t>
            </a:r>
            <a:r>
              <a:rPr sz="2800" b="1" spc="-10" dirty="0" err="1">
                <a:solidFill>
                  <a:srgbClr val="00072A"/>
                </a:solidFill>
                <a:latin typeface="Times New Roman"/>
                <a:cs typeface="Times New Roman"/>
              </a:rPr>
              <a:t>Các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 khái</a:t>
            </a:r>
            <a:r>
              <a:rPr sz="2800" b="1" spc="15" dirty="0">
                <a:solidFill>
                  <a:srgbClr val="00072A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72A"/>
                </a:solidFill>
                <a:latin typeface="Times New Roman"/>
                <a:cs typeface="Times New Roman"/>
              </a:rPr>
              <a:t>niệm</a:t>
            </a:r>
            <a:endParaRPr sz="2800" dirty="0">
              <a:latin typeface="Times New Roman"/>
              <a:cs typeface="Times New Roman"/>
            </a:endParaRPr>
          </a:p>
          <a:p>
            <a:pPr marL="421640" marR="5080" lvl="3" indent="-358140" algn="just">
              <a:lnSpc>
                <a:spcPct val="150000"/>
              </a:lnSpc>
              <a:spcBef>
                <a:spcPts val="400"/>
              </a:spcBef>
              <a:buClr>
                <a:srgbClr val="35BAE4"/>
              </a:buClr>
              <a:buFont typeface="Wingdings"/>
              <a:buChar char=""/>
              <a:tabLst>
                <a:tab pos="422275" algn="l"/>
              </a:tabLst>
            </a:pP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Bản chất của phân tích và thiết kế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hướng đối tượng </a:t>
            </a:r>
            <a:r>
              <a:rPr sz="2400" spc="5" dirty="0">
                <a:solidFill>
                  <a:srgbClr val="000080"/>
                </a:solidFill>
                <a:latin typeface="Times New Roman"/>
                <a:cs typeface="Times New Roman"/>
              </a:rPr>
              <a:t>là 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nhấn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mạnh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việc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xem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xét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một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vấn đề và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giải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pháp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logic 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từ 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quan điểm </a:t>
            </a:r>
            <a:r>
              <a:rPr sz="2400" dirty="0">
                <a:solidFill>
                  <a:srgbClr val="000080"/>
                </a:solidFill>
                <a:latin typeface="Times New Roman"/>
                <a:cs typeface="Times New Roman"/>
              </a:rPr>
              <a:t>các </a:t>
            </a:r>
            <a:r>
              <a:rPr sz="2400" spc="-10" dirty="0">
                <a:solidFill>
                  <a:srgbClr val="000080"/>
                </a:solidFill>
                <a:latin typeface="Times New Roman"/>
                <a:cs typeface="Times New Roman"/>
              </a:rPr>
              <a:t>đối </a:t>
            </a:r>
            <a:r>
              <a:rPr sz="2400" spc="-5" dirty="0">
                <a:solidFill>
                  <a:srgbClr val="000080"/>
                </a:solidFill>
                <a:latin typeface="Times New Roman"/>
                <a:cs typeface="Times New Roman"/>
              </a:rPr>
              <a:t>tượng </a:t>
            </a:r>
            <a:r>
              <a:rPr sz="2400" i="1" dirty="0">
                <a:solidFill>
                  <a:srgbClr val="000080"/>
                </a:solidFill>
                <a:latin typeface="Times New Roman"/>
                <a:cs typeface="Times New Roman"/>
              </a:rPr>
              <a:t>(các </a:t>
            </a:r>
            <a:r>
              <a:rPr sz="2400" i="1" spc="-5" dirty="0">
                <a:solidFill>
                  <a:srgbClr val="000080"/>
                </a:solidFill>
                <a:latin typeface="Times New Roman"/>
                <a:cs typeface="Times New Roman"/>
              </a:rPr>
              <a:t>sự </a:t>
            </a:r>
            <a:r>
              <a:rPr sz="2400" i="1" dirty="0">
                <a:solidFill>
                  <a:srgbClr val="000080"/>
                </a:solidFill>
                <a:latin typeface="Times New Roman"/>
                <a:cs typeface="Times New Roman"/>
              </a:rPr>
              <a:t>vật, </a:t>
            </a:r>
            <a:r>
              <a:rPr sz="2400" i="1" spc="-5" dirty="0">
                <a:solidFill>
                  <a:srgbClr val="000080"/>
                </a:solidFill>
                <a:latin typeface="Times New Roman"/>
                <a:cs typeface="Times New Roman"/>
              </a:rPr>
              <a:t>các </a:t>
            </a:r>
            <a:r>
              <a:rPr sz="2400" i="1" dirty="0">
                <a:solidFill>
                  <a:srgbClr val="000080"/>
                </a:solidFill>
                <a:latin typeface="Times New Roman"/>
                <a:cs typeface="Times New Roman"/>
              </a:rPr>
              <a:t>khái </a:t>
            </a:r>
            <a:r>
              <a:rPr sz="2400" i="1" spc="-5" dirty="0">
                <a:solidFill>
                  <a:srgbClr val="000080"/>
                </a:solidFill>
                <a:latin typeface="Times New Roman"/>
                <a:cs typeface="Times New Roman"/>
              </a:rPr>
              <a:t>niệm, các  </a:t>
            </a:r>
            <a:r>
              <a:rPr sz="2400" i="1" dirty="0">
                <a:solidFill>
                  <a:srgbClr val="000080"/>
                </a:solidFill>
                <a:latin typeface="Times New Roman"/>
                <a:cs typeface="Times New Roman"/>
              </a:rPr>
              <a:t>thực</a:t>
            </a:r>
            <a:r>
              <a:rPr sz="2400" i="1" spc="-15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80"/>
                </a:solidFill>
                <a:latin typeface="Times New Roman"/>
                <a:cs typeface="Times New Roman"/>
              </a:rPr>
              <a:t>thể…).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1026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84FE1-A193-8902-70DB-B74B9C390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61" y="2543549"/>
            <a:ext cx="8951622" cy="3753400"/>
          </a:xfrm>
        </p:spPr>
        <p:txBody>
          <a:bodyPr/>
          <a:lstStyle/>
          <a:p>
            <a:pPr algn="just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400" b="1" i="0">
                <a:solidFill>
                  <a:srgbClr val="000000"/>
                </a:solidFill>
                <a:effectLst/>
                <a:latin typeface="+mj-lt"/>
              </a:rPr>
              <a:t>Phân tích hướng đối tượng: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xây dựng một mô hình chính xác để mô tả hệ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thống cần xây dựng là gì. Thành phần của mô hình này là các đối tượng gắn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với hệ thống thực.</a:t>
            </a:r>
            <a:endParaRPr lang="en-US" sz="2400" b="0" i="0">
              <a:solidFill>
                <a:srgbClr val="000000"/>
              </a:solidFill>
              <a:effectLst/>
              <a:latin typeface="+mj-lt"/>
            </a:endParaRPr>
          </a:p>
          <a:p>
            <a:pPr algn="just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400" b="1" i="0">
                <a:solidFill>
                  <a:srgbClr val="000000"/>
                </a:solidFill>
                <a:effectLst/>
                <a:latin typeface="+mj-lt"/>
              </a:rPr>
              <a:t>Thiết kế hướng đối tượng: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Là giai đoạn tổ chức chương trình thành các tập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hợp đối tượng cộng tác, mỗi đối tượng trong đó là thực thể của một lớp. Kết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quả của pha thiết kế cho biết hệ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thống sẽ được xây dựng như thế nào qua các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bản thiết kế kiến trúc và thiết kế chi tiết.</a:t>
            </a:r>
            <a:endParaRPr lang="en-US" sz="2400" b="0" i="0">
              <a:solidFill>
                <a:srgbClr val="000000"/>
              </a:solidFill>
              <a:effectLst/>
              <a:latin typeface="+mj-lt"/>
            </a:endParaRPr>
          </a:p>
          <a:p>
            <a:pPr algn="just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400" b="1" i="0">
                <a:solidFill>
                  <a:srgbClr val="000000"/>
                </a:solidFill>
                <a:effectLst/>
                <a:latin typeface="+mj-lt"/>
              </a:rPr>
              <a:t>Lập trình và tích hợp: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Thực hiện bản thiết kế hướng đối tượng bằng cách sử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j-lt"/>
              </a:rPr>
              <a:t>dụng các ngôn ngữ lập trình hướng đối tượng (C++, Java, …).</a:t>
            </a:r>
            <a:r>
              <a:rPr lang="vi-VN" sz="2400">
                <a:latin typeface="+mj-lt"/>
              </a:rPr>
              <a:t> </a:t>
            </a:r>
            <a:endParaRPr lang="en-US" sz="2400"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6DE0A-8D85-9974-E51A-217BEE5A61B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94217" y="1586845"/>
            <a:ext cx="8517565" cy="664797"/>
          </a:xfrm>
        </p:spPr>
        <p:txBody>
          <a:bodyPr/>
          <a:lstStyle/>
          <a:p>
            <a:pPr marL="0" indent="0" algn="just">
              <a:buNone/>
            </a:pP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Các pha cơ bản đặc trưng trong phát</a:t>
            </a:r>
            <a:r>
              <a:rPr lang="en-US" sz="2400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triển phần mềm hướng đối tượng bao gồm:</a:t>
            </a:r>
            <a:r>
              <a:rPr lang="vi-VN" sz="2400"/>
              <a:t> </a:t>
            </a: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BCFF4-660C-C6F0-17F2-83CABD4E6E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43</a:t>
            </a:fld>
            <a:endParaRPr lang="en-US" spc="-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5DE90-4F06-A2B6-1525-731825E9B93A}"/>
              </a:ext>
            </a:extLst>
          </p:cNvPr>
          <p:cNvSpPr txBox="1"/>
          <p:nvPr/>
        </p:nvSpPr>
        <p:spPr>
          <a:xfrm>
            <a:off x="495300" y="956019"/>
            <a:ext cx="941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>
                <a:solidFill>
                  <a:srgbClr val="000000"/>
                </a:solidFill>
                <a:effectLst/>
                <a:latin typeface="TimesNewRomanPSMT"/>
              </a:rPr>
              <a:t>1.5.2 </a:t>
            </a:r>
            <a:r>
              <a:rPr lang="vi-VN" sz="2800" b="1" i="0">
                <a:solidFill>
                  <a:srgbClr val="000000"/>
                </a:solidFill>
                <a:effectLst/>
                <a:latin typeface="TimesNewRomanPSMT"/>
              </a:rPr>
              <a:t>Vòng đời phát triển phần mềm hướng đối tượng</a:t>
            </a:r>
            <a:r>
              <a:rPr lang="vi-VN" sz="2800" b="1"/>
              <a:t> </a:t>
            </a:r>
            <a:endParaRPr lang="en-US" sz="2800" b="1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5FE27C45-8F0B-77AF-5319-19B9FBB6C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1292" y="213748"/>
            <a:ext cx="788049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</p:spTree>
    <p:extLst>
      <p:ext uri="{BB962C8B-B14F-4D97-AF65-F5344CB8AC3E}">
        <p14:creationId xmlns:p14="http://schemas.microsoft.com/office/powerpoint/2010/main" val="7162827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917" y="206626"/>
            <a:ext cx="894016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7912" y="922158"/>
            <a:ext cx="8058150" cy="4535170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 algn="just">
              <a:spcBef>
                <a:spcPts val="1895"/>
              </a:spcBef>
            </a:pPr>
            <a:r>
              <a:rPr sz="2800" b="1" spc="-5">
                <a:solidFill>
                  <a:srgbClr val="000033"/>
                </a:solidFill>
                <a:latin typeface="Times New Roman"/>
                <a:cs typeface="Times New Roman"/>
              </a:rPr>
              <a:t>1.5.</a:t>
            </a:r>
            <a:r>
              <a:rPr lang="en-US" sz="2800" b="1" spc="-5">
                <a:solidFill>
                  <a:srgbClr val="000033"/>
                </a:solidFill>
                <a:latin typeface="Times New Roman"/>
                <a:cs typeface="Times New Roman"/>
              </a:rPr>
              <a:t>3</a:t>
            </a:r>
            <a:r>
              <a:rPr sz="2800" b="1" spc="-5">
                <a:solidFill>
                  <a:srgbClr val="000033"/>
                </a:solidFill>
                <a:latin typeface="Times New Roman"/>
                <a:cs typeface="Times New Roman"/>
              </a:rPr>
              <a:t>.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Phân tích hướng </a:t>
            </a:r>
            <a:r>
              <a:rPr sz="2800" b="1" dirty="0">
                <a:solidFill>
                  <a:srgbClr val="000033"/>
                </a:solidFill>
                <a:latin typeface="Times New Roman"/>
                <a:cs typeface="Times New Roman"/>
              </a:rPr>
              <a:t>đối</a:t>
            </a:r>
            <a:r>
              <a:rPr sz="2800" b="1" spc="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tượng</a:t>
            </a:r>
            <a:endParaRPr sz="2800"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Dùng phương pháp phân tích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Use case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để nắm bắt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các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yêu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cầu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của khách</a:t>
            </a:r>
            <a:r>
              <a:rPr sz="2400" spc="-2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hàng</a:t>
            </a:r>
            <a:endParaRPr sz="2400">
              <a:latin typeface="Times New Roman"/>
              <a:cs typeface="Times New Roman"/>
            </a:endParaRPr>
          </a:p>
          <a:p>
            <a:pPr marL="789305" marR="5080" lvl="1" indent="-297180" algn="just">
              <a:lnSpc>
                <a:spcPct val="150000"/>
              </a:lnSpc>
              <a:buClr>
                <a:srgbClr val="0066FF"/>
              </a:buClr>
              <a:buFont typeface="Wingdings"/>
              <a:buChar char=""/>
              <a:tabLst>
                <a:tab pos="78994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Đây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là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bước quan trọng và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sự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thành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công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của bước  này sẽ quyết định sự thành công của dự</a:t>
            </a:r>
            <a:r>
              <a:rPr sz="2400" spc="-8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án.</a:t>
            </a:r>
            <a:endParaRPr sz="2400">
              <a:latin typeface="Times New Roman"/>
              <a:cs typeface="Times New Roman"/>
            </a:endParaRPr>
          </a:p>
          <a:p>
            <a:pPr marL="789305" marR="5715" lvl="1" indent="-297180" algn="just">
              <a:lnSpc>
                <a:spcPct val="150000"/>
              </a:lnSpc>
              <a:spcBef>
                <a:spcPts val="5"/>
              </a:spcBef>
              <a:buClr>
                <a:srgbClr val="0066FF"/>
              </a:buClr>
              <a:buFont typeface="Wingdings"/>
              <a:buChar char=""/>
              <a:tabLst>
                <a:tab pos="789940" algn="l"/>
              </a:tabLst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Bởi vì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hệ thống dù có xây dựng tốt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đến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đâu nhưng  không đáp ứng được những nhu cầu của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khách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hàng hệ  thống sẽ thất</a:t>
            </a:r>
            <a:r>
              <a:rPr sz="2400" spc="-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bại.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14453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4FC75-94F6-4441-DEB2-C03D7B357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10" y="1610088"/>
            <a:ext cx="8962942" cy="1037419"/>
          </a:xfrm>
        </p:spPr>
        <p:txBody>
          <a:bodyPr/>
          <a:lstStyle/>
          <a:p>
            <a:pPr algn="just"/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ây dựng dựa trên biểu đồ các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ký hiệu UML. Đó là ngôn ngữ mô hình hoá thống nhất được xây dựng để mô hình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hoá quá trình phát triển hệ thống phần mềm hướng đối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tượng.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B1FDC-7AE2-88C7-EBC7-CAE1A4FE00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00"/>
                </a:spcBef>
              </a:pPr>
              <a:t>45</a:t>
            </a:fld>
            <a:endParaRPr lang="en-US" spc="-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98087-4057-D9D9-A674-9ED531EF9284}"/>
              </a:ext>
            </a:extLst>
          </p:cNvPr>
          <p:cNvSpPr txBox="1"/>
          <p:nvPr/>
        </p:nvSpPr>
        <p:spPr>
          <a:xfrm>
            <a:off x="393709" y="1005453"/>
            <a:ext cx="9118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>
                <a:solidFill>
                  <a:srgbClr val="000000"/>
                </a:solidFill>
                <a:effectLst/>
                <a:latin typeface="TimesNewRomanPSMT"/>
              </a:rPr>
              <a:t>1.5.3 </a:t>
            </a:r>
            <a:r>
              <a:rPr lang="vi-VN" sz="2800" b="1" i="0">
                <a:solidFill>
                  <a:srgbClr val="000000"/>
                </a:solidFill>
                <a:effectLst/>
                <a:latin typeface="TimesNewRomanPSMT"/>
              </a:rPr>
              <a:t>Các bước phân tích thiết kế hướng đối tượng</a:t>
            </a:r>
            <a:endParaRPr lang="en-US" sz="28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99E59-F7A0-5662-DBD0-16FC56306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72" y="2703163"/>
            <a:ext cx="6187157" cy="3732028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0FD25272-3BB1-2E44-FDFB-0F2F416F32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916" y="224036"/>
            <a:ext cx="894016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1.5. 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</p:spTree>
    <p:extLst>
      <p:ext uri="{BB962C8B-B14F-4D97-AF65-F5344CB8AC3E}">
        <p14:creationId xmlns:p14="http://schemas.microsoft.com/office/powerpoint/2010/main" val="39356168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914" y="182690"/>
            <a:ext cx="8095086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48855" y="922158"/>
            <a:ext cx="9548037" cy="5570051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12700" algn="just">
              <a:spcBef>
                <a:spcPts val="1895"/>
              </a:spcBef>
            </a:pPr>
            <a:r>
              <a:rPr sz="2400" b="1" spc="-5">
                <a:solidFill>
                  <a:srgbClr val="000033"/>
                </a:solidFill>
                <a:latin typeface="Times New Roman"/>
                <a:cs typeface="Times New Roman"/>
              </a:rPr>
              <a:t>1.5.</a:t>
            </a:r>
            <a:r>
              <a:rPr lang="en-US" sz="2400" b="1" spc="-5">
                <a:solidFill>
                  <a:srgbClr val="000033"/>
                </a:solidFill>
                <a:latin typeface="Times New Roman"/>
                <a:cs typeface="Times New Roman"/>
              </a:rPr>
              <a:t>4</a:t>
            </a:r>
            <a:r>
              <a:rPr sz="2400" b="1" spc="-5">
                <a:solidFill>
                  <a:srgbClr val="000033"/>
                </a:solidFill>
                <a:latin typeface="Times New Roman"/>
                <a:cs typeface="Times New Roman"/>
              </a:rPr>
              <a:t>. </a:t>
            </a: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Phân tích hướng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đối</a:t>
            </a:r>
            <a:r>
              <a:rPr sz="2400" b="1" spc="3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tượng</a:t>
            </a:r>
            <a:endParaRPr sz="2400" dirty="0">
              <a:latin typeface="Times New Roman"/>
              <a:cs typeface="Times New Roman"/>
            </a:endParaRPr>
          </a:p>
          <a:p>
            <a:pPr marL="370205" marR="6350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sz="2400" b="1" i="1">
                <a:solidFill>
                  <a:srgbClr val="000000"/>
                </a:solidFill>
                <a:effectLst/>
                <a:latin typeface="TimesNewRomanPS-BoldItalicMT"/>
              </a:rPr>
              <a:t>Xây dựng Biểu đồ use case: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Dựa trên tập yêu cầu ban đầu, người phân tích tiến</a:t>
            </a:r>
            <a:r>
              <a:rPr lang="en-US" sz="2400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hành xác định các tác nhân, use case và các quan hệ giữa các use case để mô tả</a:t>
            </a:r>
            <a:r>
              <a:rPr lang="en-US" sz="2400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lại các chức năng của hệ thống. Một thành phần quan trọng trong biểu đồ use</a:t>
            </a:r>
            <a:r>
              <a:rPr lang="en-US" sz="2400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case là các kịch bản mô tả hoạt động của hệ thống trong mỗi use case cụ thể.</a:t>
            </a:r>
            <a:endParaRPr lang="en-US" sz="2400" b="0" i="0">
              <a:solidFill>
                <a:srgbClr val="000000"/>
              </a:solidFill>
              <a:effectLst/>
              <a:latin typeface="TimesNewRomanPSMT"/>
            </a:endParaRPr>
          </a:p>
          <a:p>
            <a:pPr marL="370205" marR="6350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sz="2400" b="1" i="1">
                <a:solidFill>
                  <a:srgbClr val="000000"/>
                </a:solidFill>
                <a:effectLst/>
                <a:latin typeface="TimesNewRomanPS-BoldItalicMT"/>
              </a:rPr>
              <a:t>Xây dựng Biểu đồ lớp: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Xác định tên các lớp, các thuộc tính của lớp, một số</a:t>
            </a:r>
            <a:r>
              <a:rPr lang="en-US" sz="2400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phương thức và mối quan hệ cơ bản trong sơ đồ lớp.</a:t>
            </a:r>
            <a:endParaRPr lang="en-US" sz="2400" b="0" i="0">
              <a:solidFill>
                <a:srgbClr val="000000"/>
              </a:solidFill>
              <a:effectLst/>
              <a:latin typeface="TimesNewRomanPSMT"/>
            </a:endParaRPr>
          </a:p>
          <a:p>
            <a:pPr marL="370205" marR="6350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sz="2400" b="1" i="1">
                <a:solidFill>
                  <a:srgbClr val="000000"/>
                </a:solidFill>
                <a:effectLst/>
                <a:latin typeface="TimesNewRomanPS-BoldItalicMT"/>
              </a:rPr>
              <a:t>Xây dựng biểu đồ trạng thái: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Mô tả các trạng thái và chuyển tiếp</a:t>
            </a:r>
            <a:r>
              <a:rPr lang="en-US" sz="2400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trạng thái</a:t>
            </a:r>
            <a:r>
              <a:rPr lang="en-US" sz="2400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TimesNewRomanPSMT"/>
              </a:rPr>
              <a:t>trong hoạt động của một đối tượng thuộc một lớp nào đó.</a:t>
            </a:r>
            <a:r>
              <a:rPr lang="vi-VN" sz="2400"/>
              <a:t> 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4779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1723" y="208080"/>
            <a:ext cx="893953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</a:t>
            </a:r>
            <a:r>
              <a:rPr sz="2500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ĐỐI</a:t>
            </a:r>
            <a:r>
              <a:rPr sz="2500" spc="-8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25303" y="667426"/>
            <a:ext cx="9016409" cy="5614422"/>
          </a:xfrm>
          <a:prstGeom prst="rect">
            <a:avLst/>
          </a:prstGeom>
        </p:spPr>
        <p:txBody>
          <a:bodyPr vert="horz" wrap="square" lIns="0" tIns="208915" rIns="0" bIns="0" rtlCol="0">
            <a:spAutoFit/>
          </a:bodyPr>
          <a:lstStyle/>
          <a:p>
            <a:pPr marL="12700" algn="just">
              <a:spcBef>
                <a:spcPts val="1645"/>
              </a:spcBef>
            </a:pPr>
            <a:r>
              <a:rPr b="1" spc="-5">
                <a:solidFill>
                  <a:srgbClr val="000033"/>
                </a:solidFill>
                <a:latin typeface="Times New Roman"/>
                <a:cs typeface="Times New Roman"/>
              </a:rPr>
              <a:t>1.5.</a:t>
            </a:r>
            <a:r>
              <a:rPr lang="en-US" b="1" spc="-5">
                <a:solidFill>
                  <a:srgbClr val="000033"/>
                </a:solidFill>
                <a:latin typeface="Times New Roman"/>
                <a:cs typeface="Times New Roman"/>
              </a:rPr>
              <a:t>5</a:t>
            </a:r>
            <a:r>
              <a:rPr b="1" spc="-5">
                <a:solidFill>
                  <a:srgbClr val="000033"/>
                </a:solidFill>
                <a:latin typeface="Times New Roman"/>
                <a:cs typeface="Times New Roman"/>
              </a:rPr>
              <a:t>. </a:t>
            </a: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Thiết </a:t>
            </a:r>
            <a:r>
              <a:rPr b="1" spc="-15" dirty="0">
                <a:solidFill>
                  <a:srgbClr val="000033"/>
                </a:solidFill>
                <a:latin typeface="Times New Roman"/>
                <a:cs typeface="Times New Roman"/>
              </a:rPr>
              <a:t>kế </a:t>
            </a: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hướng đối</a:t>
            </a:r>
            <a:r>
              <a:rPr b="1" spc="5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000033"/>
                </a:solidFill>
                <a:latin typeface="Times New Roman"/>
                <a:cs typeface="Times New Roman"/>
              </a:rPr>
              <a:t>tượng</a:t>
            </a:r>
            <a:endParaRPr dirty="0">
              <a:latin typeface="Times New Roman"/>
              <a:cs typeface="Times New Roman"/>
            </a:endParaRPr>
          </a:p>
          <a:p>
            <a:pPr marL="370205" marR="6350" indent="-358140" algn="just">
              <a:lnSpc>
                <a:spcPct val="140000"/>
              </a:lnSpc>
              <a:spcBef>
                <a:spcPts val="17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b="1" i="1">
                <a:solidFill>
                  <a:srgbClr val="000000"/>
                </a:solidFill>
                <a:effectLst/>
                <a:latin typeface="TimesNewRomanPS-BoldItalicMT"/>
              </a:rPr>
              <a:t>Xây dựng các biểu đồ tương tác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(gồm biểu đồ cộng tác và biểu đồ tuần tự): mô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tả chi tiết hoạt động của các use case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dựa trên các scenario đã có và các lớp đã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xác định trong pha phân tích.</a:t>
            </a:r>
            <a:endParaRPr lang="en-US" b="0" i="0">
              <a:solidFill>
                <a:srgbClr val="000000"/>
              </a:solidFill>
              <a:effectLst/>
              <a:latin typeface="TimesNewRomanPSMT"/>
            </a:endParaRPr>
          </a:p>
          <a:p>
            <a:pPr marL="370205" marR="6350" indent="-358140" algn="just">
              <a:lnSpc>
                <a:spcPct val="140000"/>
              </a:lnSpc>
              <a:spcBef>
                <a:spcPts val="17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b="1" i="1">
                <a:solidFill>
                  <a:srgbClr val="000000"/>
                </a:solidFill>
                <a:effectLst/>
                <a:latin typeface="TimesNewRomanPS-BoldItalicMT"/>
              </a:rPr>
              <a:t>Xây dựng biểu đồ lớp chi tiết: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tiếp tục hoàn thiện biểu đồ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lớp bao gồm bổ sung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các lớp còn thiếu, dựa trên biểu đồ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trạng thái để bổ sung các thuộc tính, dựa trên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biểu đồ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tương tác để xác định các phương thức và mối quan hệ giữa các lớp.</a:t>
            </a:r>
            <a:r>
              <a:rPr lang="vi-VN"/>
              <a:t> </a:t>
            </a:r>
            <a:endParaRPr lang="en-US"/>
          </a:p>
          <a:p>
            <a:pPr marL="370205" marR="6350" indent="-358140" algn="just">
              <a:lnSpc>
                <a:spcPct val="140000"/>
              </a:lnSpc>
              <a:spcBef>
                <a:spcPts val="17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b="1" i="1">
                <a:solidFill>
                  <a:srgbClr val="000000"/>
                </a:solidFill>
                <a:effectLst/>
                <a:latin typeface="TimesNewRomanPS-BoldItalicMT"/>
              </a:rPr>
              <a:t>Xây dựng biểu đồ hoạt động: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mô tả hoạt động của các phương thức phức tạp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trong mỗi lớp hoặc các hoạt động hệ thống có sự liên quan của nhiều lớp. Biểu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đồ hoạt động là cơ sở để cài đặt các phương thức trong các lớp.</a:t>
            </a:r>
            <a:endParaRPr lang="en-US" b="0" i="0">
              <a:solidFill>
                <a:srgbClr val="000000"/>
              </a:solidFill>
              <a:effectLst/>
              <a:latin typeface="TimesNewRomanPSMT"/>
            </a:endParaRPr>
          </a:p>
          <a:p>
            <a:pPr marL="370205" marR="6350" indent="-358140" algn="just">
              <a:lnSpc>
                <a:spcPct val="140000"/>
              </a:lnSpc>
              <a:spcBef>
                <a:spcPts val="17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b="1" i="1">
                <a:solidFill>
                  <a:srgbClr val="000000"/>
                </a:solidFill>
                <a:effectLst/>
                <a:latin typeface="TimesNewRomanPS-BoldItalicMT"/>
              </a:rPr>
              <a:t>Xây dựng biểu đồ thành phần: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xác định các gói, các thành phần và tổ chức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phần mềm theo các thành phần đó.</a:t>
            </a:r>
            <a:endParaRPr lang="en-US" b="0" i="0">
              <a:solidFill>
                <a:srgbClr val="000000"/>
              </a:solidFill>
              <a:effectLst/>
              <a:latin typeface="TimesNewRomanPSMT"/>
            </a:endParaRPr>
          </a:p>
          <a:p>
            <a:pPr marL="370205" marR="6350" indent="-358140" algn="just">
              <a:lnSpc>
                <a:spcPct val="140000"/>
              </a:lnSpc>
              <a:spcBef>
                <a:spcPts val="175"/>
              </a:spcBef>
              <a:buClr>
                <a:srgbClr val="35BAE4"/>
              </a:buClr>
              <a:buFont typeface="Wingdings"/>
              <a:buChar char=""/>
              <a:tabLst>
                <a:tab pos="370840" algn="l"/>
              </a:tabLst>
            </a:pPr>
            <a:r>
              <a:rPr lang="vi-VN" b="1" i="1">
                <a:solidFill>
                  <a:srgbClr val="000000"/>
                </a:solidFill>
                <a:effectLst/>
                <a:latin typeface="TimesNewRomanPS-BoldItalicMT"/>
              </a:rPr>
              <a:t>Xây dựng biểu đồ triển khai hệ thống: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xác định các thành phần và các thiết bị</a:t>
            </a:r>
            <a:r>
              <a:rPr lang="en-US" b="0" i="0">
                <a:solidFill>
                  <a:srgbClr val="000000"/>
                </a:solidFill>
                <a:effectLst/>
                <a:latin typeface="TimesNewRomanPSMT"/>
              </a:rPr>
              <a:t> </a:t>
            </a:r>
            <a:r>
              <a:rPr lang="vi-VN" b="0" i="0">
                <a:solidFill>
                  <a:srgbClr val="000000"/>
                </a:solidFill>
                <a:effectLst/>
                <a:latin typeface="TimesNewRomanPSMT"/>
              </a:rPr>
              <a:t>cần thiết để triển khai hệ thống, các giao thức và dịch vụ hỗ trợ.</a:t>
            </a:r>
            <a:r>
              <a:rPr lang="vi-VN"/>
              <a:t> </a:t>
            </a:r>
            <a:endParaRPr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74183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809" y="31812"/>
            <a:ext cx="9162415" cy="6871970"/>
            <a:chOff x="-10667" y="0"/>
            <a:chExt cx="9162415" cy="6871970"/>
          </a:xfrm>
        </p:grpSpPr>
        <p:sp>
          <p:nvSpPr>
            <p:cNvPr id="3" name="object 3"/>
            <p:cNvSpPr/>
            <p:nvPr/>
          </p:nvSpPr>
          <p:spPr>
            <a:xfrm>
              <a:off x="0" y="562570"/>
              <a:ext cx="9143999" cy="62954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576" y="80772"/>
              <a:ext cx="9076944" cy="15464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1524" y="6382511"/>
              <a:ext cx="9145905" cy="475615"/>
            </a:xfrm>
            <a:custGeom>
              <a:avLst/>
              <a:gdLst/>
              <a:ahLst/>
              <a:cxnLst/>
              <a:rect l="l" t="t" r="r" b="b"/>
              <a:pathLst>
                <a:path w="9145905" h="475615">
                  <a:moveTo>
                    <a:pt x="440436" y="473964"/>
                  </a:moveTo>
                  <a:lnTo>
                    <a:pt x="178892" y="337566"/>
                  </a:lnTo>
                  <a:lnTo>
                    <a:pt x="44145" y="203454"/>
                  </a:lnTo>
                  <a:lnTo>
                    <a:pt x="0" y="0"/>
                  </a:lnTo>
                  <a:lnTo>
                    <a:pt x="1143" y="473964"/>
                  </a:lnTo>
                  <a:lnTo>
                    <a:pt x="355523" y="472833"/>
                  </a:lnTo>
                  <a:lnTo>
                    <a:pt x="440436" y="473964"/>
                  </a:lnTo>
                  <a:close/>
                </a:path>
                <a:path w="9145905" h="475615">
                  <a:moveTo>
                    <a:pt x="9145524" y="470763"/>
                  </a:moveTo>
                  <a:lnTo>
                    <a:pt x="9140190" y="18288"/>
                  </a:lnTo>
                  <a:lnTo>
                    <a:pt x="9024874" y="245313"/>
                  </a:lnTo>
                  <a:lnTo>
                    <a:pt x="8907907" y="417156"/>
                  </a:lnTo>
                  <a:lnTo>
                    <a:pt x="8734044" y="475488"/>
                  </a:lnTo>
                  <a:lnTo>
                    <a:pt x="9145524" y="470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32520" y="6400800"/>
              <a:ext cx="411480" cy="457200"/>
            </a:xfrm>
            <a:custGeom>
              <a:avLst/>
              <a:gdLst/>
              <a:ahLst/>
              <a:cxnLst/>
              <a:rect l="l" t="t" r="r" b="b"/>
              <a:pathLst>
                <a:path w="411479" h="457200">
                  <a:moveTo>
                    <a:pt x="406146" y="0"/>
                  </a:moveTo>
                  <a:lnTo>
                    <a:pt x="290829" y="227025"/>
                  </a:lnTo>
                  <a:lnTo>
                    <a:pt x="173862" y="398867"/>
                  </a:lnTo>
                  <a:lnTo>
                    <a:pt x="0" y="457199"/>
                  </a:lnTo>
                  <a:lnTo>
                    <a:pt x="411479" y="452470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" y="47244"/>
              <a:ext cx="9086215" cy="6786880"/>
            </a:xfrm>
            <a:custGeom>
              <a:avLst/>
              <a:gdLst/>
              <a:ahLst/>
              <a:cxnLst/>
              <a:rect l="l" t="t" r="r" b="b"/>
              <a:pathLst>
                <a:path w="9086215" h="6786880">
                  <a:moveTo>
                    <a:pt x="0" y="422528"/>
                  </a:moveTo>
                  <a:lnTo>
                    <a:pt x="2843" y="373263"/>
                  </a:lnTo>
                  <a:lnTo>
                    <a:pt x="11161" y="325665"/>
                  </a:lnTo>
                  <a:lnTo>
                    <a:pt x="24636" y="280050"/>
                  </a:lnTo>
                  <a:lnTo>
                    <a:pt x="42953" y="236736"/>
                  </a:lnTo>
                  <a:lnTo>
                    <a:pt x="65793" y="196041"/>
                  </a:lnTo>
                  <a:lnTo>
                    <a:pt x="92839" y="158282"/>
                  </a:lnTo>
                  <a:lnTo>
                    <a:pt x="123775" y="123777"/>
                  </a:lnTo>
                  <a:lnTo>
                    <a:pt x="158283" y="92842"/>
                  </a:lnTo>
                  <a:lnTo>
                    <a:pt x="196047" y="65796"/>
                  </a:lnTo>
                  <a:lnTo>
                    <a:pt x="236748" y="42956"/>
                  </a:lnTo>
                  <a:lnTo>
                    <a:pt x="280070" y="24639"/>
                  </a:lnTo>
                  <a:lnTo>
                    <a:pt x="325697" y="11162"/>
                  </a:lnTo>
                  <a:lnTo>
                    <a:pt x="373309" y="2843"/>
                  </a:lnTo>
                  <a:lnTo>
                    <a:pt x="422592" y="0"/>
                  </a:lnTo>
                  <a:lnTo>
                    <a:pt x="8663559" y="0"/>
                  </a:lnTo>
                  <a:lnTo>
                    <a:pt x="8712824" y="2843"/>
                  </a:lnTo>
                  <a:lnTo>
                    <a:pt x="8760422" y="11162"/>
                  </a:lnTo>
                  <a:lnTo>
                    <a:pt x="8806037" y="24639"/>
                  </a:lnTo>
                  <a:lnTo>
                    <a:pt x="8849351" y="42956"/>
                  </a:lnTo>
                  <a:lnTo>
                    <a:pt x="8890046" y="65796"/>
                  </a:lnTo>
                  <a:lnTo>
                    <a:pt x="8927805" y="92842"/>
                  </a:lnTo>
                  <a:lnTo>
                    <a:pt x="8962310" y="123777"/>
                  </a:lnTo>
                  <a:lnTo>
                    <a:pt x="8993245" y="158282"/>
                  </a:lnTo>
                  <a:lnTo>
                    <a:pt x="9020291" y="196041"/>
                  </a:lnTo>
                  <a:lnTo>
                    <a:pt x="9043131" y="236736"/>
                  </a:lnTo>
                  <a:lnTo>
                    <a:pt x="9061448" y="280050"/>
                  </a:lnTo>
                  <a:lnTo>
                    <a:pt x="9074925" y="325665"/>
                  </a:lnTo>
                  <a:lnTo>
                    <a:pt x="9083244" y="373263"/>
                  </a:lnTo>
                  <a:lnTo>
                    <a:pt x="9086088" y="422528"/>
                  </a:lnTo>
                  <a:lnTo>
                    <a:pt x="9086088" y="6363779"/>
                  </a:lnTo>
                  <a:lnTo>
                    <a:pt x="9083244" y="6413062"/>
                  </a:lnTo>
                  <a:lnTo>
                    <a:pt x="9074925" y="6460674"/>
                  </a:lnTo>
                  <a:lnTo>
                    <a:pt x="9061448" y="6506301"/>
                  </a:lnTo>
                  <a:lnTo>
                    <a:pt x="9043131" y="6549623"/>
                  </a:lnTo>
                  <a:lnTo>
                    <a:pt x="9020291" y="6590324"/>
                  </a:lnTo>
                  <a:lnTo>
                    <a:pt x="8993245" y="6628088"/>
                  </a:lnTo>
                  <a:lnTo>
                    <a:pt x="8962310" y="6662596"/>
                  </a:lnTo>
                  <a:lnTo>
                    <a:pt x="8927805" y="6693532"/>
                  </a:lnTo>
                  <a:lnTo>
                    <a:pt x="8890046" y="6720578"/>
                  </a:lnTo>
                  <a:lnTo>
                    <a:pt x="8849351" y="6743418"/>
                  </a:lnTo>
                  <a:lnTo>
                    <a:pt x="8806037" y="6761735"/>
                  </a:lnTo>
                  <a:lnTo>
                    <a:pt x="8760422" y="6775210"/>
                  </a:lnTo>
                  <a:lnTo>
                    <a:pt x="8712824" y="6783528"/>
                  </a:lnTo>
                  <a:lnTo>
                    <a:pt x="8663559" y="6786372"/>
                  </a:lnTo>
                  <a:lnTo>
                    <a:pt x="422592" y="6786372"/>
                  </a:lnTo>
                  <a:lnTo>
                    <a:pt x="373309" y="6783528"/>
                  </a:lnTo>
                  <a:lnTo>
                    <a:pt x="325697" y="6775210"/>
                  </a:lnTo>
                  <a:lnTo>
                    <a:pt x="280070" y="6761735"/>
                  </a:lnTo>
                  <a:lnTo>
                    <a:pt x="236748" y="6743418"/>
                  </a:lnTo>
                  <a:lnTo>
                    <a:pt x="196047" y="6720578"/>
                  </a:lnTo>
                  <a:lnTo>
                    <a:pt x="158283" y="6693532"/>
                  </a:lnTo>
                  <a:lnTo>
                    <a:pt x="123775" y="6662596"/>
                  </a:lnTo>
                  <a:lnTo>
                    <a:pt x="92839" y="6628088"/>
                  </a:lnTo>
                  <a:lnTo>
                    <a:pt x="65793" y="6590324"/>
                  </a:lnTo>
                  <a:lnTo>
                    <a:pt x="42953" y="6549623"/>
                  </a:lnTo>
                  <a:lnTo>
                    <a:pt x="24636" y="6506301"/>
                  </a:lnTo>
                  <a:lnTo>
                    <a:pt x="11161" y="6460674"/>
                  </a:lnTo>
                  <a:lnTo>
                    <a:pt x="2843" y="6413062"/>
                  </a:lnTo>
                  <a:lnTo>
                    <a:pt x="0" y="6363779"/>
                  </a:lnTo>
                  <a:lnTo>
                    <a:pt x="0" y="422528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380" y="0"/>
              <a:ext cx="9138285" cy="522605"/>
            </a:xfrm>
            <a:custGeom>
              <a:avLst/>
              <a:gdLst/>
              <a:ahLst/>
              <a:cxnLst/>
              <a:rect l="l" t="t" r="r" b="b"/>
              <a:pathLst>
                <a:path w="9138285" h="522605">
                  <a:moveTo>
                    <a:pt x="437197" y="15240"/>
                  </a:moveTo>
                  <a:lnTo>
                    <a:pt x="0" y="15240"/>
                  </a:lnTo>
                  <a:lnTo>
                    <a:pt x="1117" y="515112"/>
                  </a:lnTo>
                  <a:lnTo>
                    <a:pt x="7404" y="492810"/>
                  </a:lnTo>
                  <a:lnTo>
                    <a:pt x="11912" y="467220"/>
                  </a:lnTo>
                  <a:lnTo>
                    <a:pt x="17843" y="436156"/>
                  </a:lnTo>
                  <a:lnTo>
                    <a:pt x="28422" y="397459"/>
                  </a:lnTo>
                  <a:lnTo>
                    <a:pt x="46837" y="348919"/>
                  </a:lnTo>
                  <a:lnTo>
                    <a:pt x="76301" y="288366"/>
                  </a:lnTo>
                  <a:lnTo>
                    <a:pt x="120040" y="213626"/>
                  </a:lnTo>
                  <a:lnTo>
                    <a:pt x="163512" y="156972"/>
                  </a:lnTo>
                  <a:lnTo>
                    <a:pt x="211289" y="113436"/>
                  </a:lnTo>
                  <a:lnTo>
                    <a:pt x="260667" y="81102"/>
                  </a:lnTo>
                  <a:lnTo>
                    <a:pt x="308889" y="58064"/>
                  </a:lnTo>
                  <a:lnTo>
                    <a:pt x="353225" y="42392"/>
                  </a:lnTo>
                  <a:lnTo>
                    <a:pt x="390956" y="32194"/>
                  </a:lnTo>
                  <a:lnTo>
                    <a:pt x="419354" y="25539"/>
                  </a:lnTo>
                  <a:lnTo>
                    <a:pt x="435673" y="20523"/>
                  </a:lnTo>
                  <a:lnTo>
                    <a:pt x="437197" y="15240"/>
                  </a:lnTo>
                  <a:close/>
                </a:path>
                <a:path w="9138285" h="522605">
                  <a:moveTo>
                    <a:pt x="9138285" y="0"/>
                  </a:moveTo>
                  <a:lnTo>
                    <a:pt x="8604885" y="4572"/>
                  </a:lnTo>
                  <a:lnTo>
                    <a:pt x="8632304" y="14566"/>
                  </a:lnTo>
                  <a:lnTo>
                    <a:pt x="8669731" y="26479"/>
                  </a:lnTo>
                  <a:lnTo>
                    <a:pt x="8714562" y="40398"/>
                  </a:lnTo>
                  <a:lnTo>
                    <a:pt x="8764181" y="56375"/>
                  </a:lnTo>
                  <a:lnTo>
                    <a:pt x="8815997" y="74485"/>
                  </a:lnTo>
                  <a:lnTo>
                    <a:pt x="8867394" y="94830"/>
                  </a:lnTo>
                  <a:lnTo>
                    <a:pt x="8915756" y="117475"/>
                  </a:lnTo>
                  <a:lnTo>
                    <a:pt x="8958491" y="142481"/>
                  </a:lnTo>
                  <a:lnTo>
                    <a:pt x="8992997" y="169926"/>
                  </a:lnTo>
                  <a:lnTo>
                    <a:pt x="9029573" y="220129"/>
                  </a:lnTo>
                  <a:lnTo>
                    <a:pt x="9058389" y="274370"/>
                  </a:lnTo>
                  <a:lnTo>
                    <a:pt x="9080589" y="329730"/>
                  </a:lnTo>
                  <a:lnTo>
                    <a:pt x="9097277" y="383311"/>
                  </a:lnTo>
                  <a:lnTo>
                    <a:pt x="9109621" y="432181"/>
                  </a:lnTo>
                  <a:lnTo>
                    <a:pt x="9118752" y="473430"/>
                  </a:lnTo>
                  <a:lnTo>
                    <a:pt x="9125814" y="504126"/>
                  </a:lnTo>
                  <a:lnTo>
                    <a:pt x="9131948" y="521360"/>
                  </a:lnTo>
                  <a:lnTo>
                    <a:pt x="9138285" y="522224"/>
                  </a:lnTo>
                  <a:lnTo>
                    <a:pt x="9138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4611" y="6501384"/>
              <a:ext cx="8568055" cy="0"/>
            </a:xfrm>
            <a:custGeom>
              <a:avLst/>
              <a:gdLst/>
              <a:ahLst/>
              <a:cxnLst/>
              <a:rect l="l" t="t" r="r" b="b"/>
              <a:pathLst>
                <a:path w="8568055">
                  <a:moveTo>
                    <a:pt x="0" y="0"/>
                  </a:moveTo>
                  <a:lnTo>
                    <a:pt x="8567928" y="0"/>
                  </a:lnTo>
                </a:path>
              </a:pathLst>
            </a:custGeom>
            <a:ln w="9144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56610" y="888491"/>
              <a:ext cx="2438400" cy="53340"/>
            </a:xfrm>
            <a:custGeom>
              <a:avLst/>
              <a:gdLst/>
              <a:ahLst/>
              <a:cxnLst/>
              <a:rect l="l" t="t" r="r" b="b"/>
              <a:pathLst>
                <a:path w="2438400" h="53340">
                  <a:moveTo>
                    <a:pt x="2438400" y="42672"/>
                  </a:moveTo>
                  <a:lnTo>
                    <a:pt x="0" y="42672"/>
                  </a:lnTo>
                  <a:lnTo>
                    <a:pt x="0" y="53340"/>
                  </a:lnTo>
                  <a:lnTo>
                    <a:pt x="2438400" y="53340"/>
                  </a:lnTo>
                  <a:lnTo>
                    <a:pt x="2438400" y="42672"/>
                  </a:lnTo>
                  <a:close/>
                </a:path>
                <a:path w="2438400" h="53340">
                  <a:moveTo>
                    <a:pt x="2438400" y="0"/>
                  </a:moveTo>
                  <a:lnTo>
                    <a:pt x="0" y="0"/>
                  </a:lnTo>
                  <a:lnTo>
                    <a:pt x="0" y="32004"/>
                  </a:lnTo>
                  <a:lnTo>
                    <a:pt x="2438400" y="32004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59697" y="112455"/>
            <a:ext cx="79508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chemeClr val="bg1"/>
                </a:solidFill>
                <a:latin typeface="Times New Roman"/>
                <a:cs typeface="Times New Roman"/>
              </a:rPr>
              <a:t>* </a:t>
            </a:r>
            <a:r>
              <a:rPr sz="2800" i="1" dirty="0">
                <a:solidFill>
                  <a:schemeClr val="bg1"/>
                </a:solidFill>
                <a:latin typeface="Times New Roman"/>
                <a:cs typeface="Times New Roman"/>
              </a:rPr>
              <a:t>So </a:t>
            </a:r>
            <a:r>
              <a:rPr sz="2800" i="1" spc="-5" dirty="0">
                <a:solidFill>
                  <a:schemeClr val="bg1"/>
                </a:solidFill>
                <a:latin typeface="Times New Roman"/>
                <a:cs typeface="Times New Roman"/>
              </a:rPr>
              <a:t>sánh giữa hướng chức </a:t>
            </a:r>
            <a:r>
              <a:rPr sz="2800" i="1" dirty="0">
                <a:solidFill>
                  <a:schemeClr val="bg1"/>
                </a:solidFill>
                <a:latin typeface="Times New Roman"/>
                <a:cs typeface="Times New Roman"/>
              </a:rPr>
              <a:t>năng </a:t>
            </a:r>
            <a:r>
              <a:rPr sz="2800" i="1" spc="-10" dirty="0">
                <a:solidFill>
                  <a:schemeClr val="bg1"/>
                </a:solidFill>
                <a:latin typeface="Times New Roman"/>
                <a:cs typeface="Times New Roman"/>
              </a:rPr>
              <a:t>và </a:t>
            </a:r>
            <a:r>
              <a:rPr sz="2800" i="1" spc="-5" dirty="0">
                <a:solidFill>
                  <a:schemeClr val="bg1"/>
                </a:solidFill>
                <a:latin typeface="Times New Roman"/>
                <a:cs typeface="Times New Roman"/>
              </a:rPr>
              <a:t>hướng </a:t>
            </a:r>
            <a:r>
              <a:rPr sz="2800" i="1" dirty="0">
                <a:solidFill>
                  <a:schemeClr val="bg1"/>
                </a:solidFill>
                <a:latin typeface="Times New Roman"/>
                <a:cs typeface="Times New Roman"/>
              </a:rPr>
              <a:t>đối</a:t>
            </a:r>
            <a:r>
              <a:rPr sz="2800" i="1" spc="4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chemeClr val="bg1"/>
                </a:solidFill>
                <a:latin typeface="Times New Roman"/>
                <a:cs typeface="Times New Roman"/>
              </a:rPr>
              <a:t>tượng</a:t>
            </a:r>
            <a:endParaRPr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7991" y="914400"/>
            <a:ext cx="8798052" cy="54635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48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598062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6503" y="251022"/>
            <a:ext cx="8128000" cy="5132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*. MỘT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SỐ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KỸ </a:t>
            </a:r>
            <a:r>
              <a:rPr sz="2400" b="1" spc="-10" dirty="0">
                <a:solidFill>
                  <a:schemeClr val="bg1"/>
                </a:solidFill>
                <a:latin typeface="Times New Roman"/>
                <a:cs typeface="Times New Roman"/>
              </a:rPr>
              <a:t>NĂNG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CẦN CÓ CỦA NGƯỜI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PT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VÀ</a:t>
            </a:r>
            <a:r>
              <a:rPr sz="2400" b="1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TKHT</a:t>
            </a:r>
            <a:endParaRPr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sz="3800" dirty="0">
              <a:latin typeface="Times New Roman"/>
              <a:cs typeface="Times New Roman"/>
            </a:endParaRPr>
          </a:p>
          <a:p>
            <a:pPr marL="375285" indent="-358775">
              <a:buClr>
                <a:srgbClr val="35BAE4"/>
              </a:buClr>
              <a:buFont typeface="Wingdings"/>
              <a:buChar char=""/>
              <a:tabLst>
                <a:tab pos="37592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Có</a:t>
            </a:r>
            <a:r>
              <a:rPr sz="2400" spc="8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kiến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thức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kỹ</a:t>
            </a:r>
            <a:r>
              <a:rPr sz="2400" spc="8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thuật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về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phần</a:t>
            </a:r>
            <a:r>
              <a:rPr sz="2400" spc="8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cứng</a:t>
            </a:r>
            <a:r>
              <a:rPr sz="2400" spc="7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hiện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hành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và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đặc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tính</a:t>
            </a:r>
            <a:r>
              <a:rPr sz="2400" spc="8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của</a:t>
            </a:r>
            <a:endParaRPr sz="2400" dirty="0">
              <a:latin typeface="Times New Roman"/>
              <a:cs typeface="Times New Roman"/>
            </a:endParaRPr>
          </a:p>
          <a:p>
            <a:pPr marL="375285">
              <a:spcBef>
                <a:spcPts val="1445"/>
              </a:spcBef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chúng.</a:t>
            </a:r>
            <a:endParaRPr sz="2400" dirty="0">
              <a:latin typeface="Times New Roman"/>
              <a:cs typeface="Times New Roman"/>
            </a:endParaRPr>
          </a:p>
          <a:p>
            <a:pPr marL="375285" indent="-358775">
              <a:spcBef>
                <a:spcPts val="1440"/>
              </a:spcBef>
              <a:buClr>
                <a:srgbClr val="35BAE4"/>
              </a:buClr>
              <a:buFont typeface="Wingdings"/>
              <a:buChar char=""/>
              <a:tabLst>
                <a:tab pos="375920" algn="l"/>
              </a:tabLst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Biết các phần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mềm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và ngôn ngữ lập trình viên sử</a:t>
            </a:r>
            <a:r>
              <a:rPr sz="2400" spc="-1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dụng.</a:t>
            </a:r>
            <a:endParaRPr sz="2400" dirty="0">
              <a:latin typeface="Times New Roman"/>
              <a:cs typeface="Times New Roman"/>
            </a:endParaRPr>
          </a:p>
          <a:p>
            <a:pPr marL="375285" marR="69850" indent="-358140">
              <a:lnSpc>
                <a:spcPct val="150000"/>
              </a:lnSpc>
              <a:buClr>
                <a:srgbClr val="35BAE4"/>
              </a:buClr>
              <a:buFont typeface="Wingdings"/>
              <a:buChar char=""/>
              <a:tabLst>
                <a:tab pos="37592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Có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khả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năng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sáng tạo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và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khả năng hình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dạng tốt khi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tạo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bản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thiết</a:t>
            </a:r>
            <a:r>
              <a:rPr sz="2400" spc="-3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kế</a:t>
            </a:r>
            <a:endParaRPr sz="2400" dirty="0">
              <a:latin typeface="Times New Roman"/>
              <a:cs typeface="Times New Roman"/>
            </a:endParaRPr>
          </a:p>
          <a:p>
            <a:pPr marL="375285" indent="-358775">
              <a:spcBef>
                <a:spcPts val="1445"/>
              </a:spcBef>
              <a:buClr>
                <a:srgbClr val="35BAE4"/>
              </a:buClr>
              <a:buFont typeface="Wingdings"/>
              <a:buChar char=""/>
              <a:tabLst>
                <a:tab pos="37592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Phải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có kiên thức thực tế</a:t>
            </a:r>
            <a:r>
              <a:rPr sz="2400" spc="-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rộng.</a:t>
            </a:r>
            <a:endParaRPr sz="2400" dirty="0">
              <a:latin typeface="Times New Roman"/>
              <a:cs typeface="Times New Roman"/>
            </a:endParaRPr>
          </a:p>
          <a:p>
            <a:pPr marL="375285" marR="69850" indent="-358140">
              <a:lnSpc>
                <a:spcPct val="150000"/>
              </a:lnSpc>
              <a:buClr>
                <a:srgbClr val="35BAE4"/>
              </a:buClr>
              <a:buFont typeface="Wingdings"/>
              <a:buChar char=""/>
              <a:tabLst>
                <a:tab pos="37592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Có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khả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năng diễn đạt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và truyền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đạt tốt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cho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nhà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quản lý và 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những người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chưa biết.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49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6423844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1036" y="205867"/>
            <a:ext cx="8128000" cy="2964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*. MỘT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SỐ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KỸ </a:t>
            </a:r>
            <a:r>
              <a:rPr sz="2400" b="1" spc="-10" dirty="0">
                <a:solidFill>
                  <a:schemeClr val="bg1"/>
                </a:solidFill>
                <a:latin typeface="Times New Roman"/>
                <a:cs typeface="Times New Roman"/>
              </a:rPr>
              <a:t>NĂNG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CẦN CÓ CỦA NGƯỜI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PT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VÀ</a:t>
            </a:r>
            <a:r>
              <a:rPr sz="2400" b="1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TKHT</a:t>
            </a:r>
            <a:endParaRPr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375285" marR="69850" indent="-358140" algn="just">
              <a:lnSpc>
                <a:spcPct val="150100"/>
              </a:lnSpc>
              <a:buClr>
                <a:srgbClr val="35BAE4"/>
              </a:buClr>
              <a:buFont typeface="Wingdings"/>
              <a:buChar char=""/>
              <a:tabLst>
                <a:tab pos="37592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Có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ý thức </a:t>
            </a:r>
            <a:r>
              <a:rPr sz="2400" spc="5" dirty="0">
                <a:solidFill>
                  <a:srgbClr val="000033"/>
                </a:solidFill>
                <a:latin typeface="Times New Roman"/>
                <a:cs typeface="Times New Roman"/>
              </a:rPr>
              <a:t>kỷ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luật cao, kiên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định để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bám sát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một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cách tiếp cận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nhưng đủ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mềm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dẻo để tiếp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cận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và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vận dụng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những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ý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tưởng </a:t>
            </a:r>
            <a:r>
              <a:rPr sz="2400" spc="59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mới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tiếp cận.</a:t>
            </a:r>
            <a:endParaRPr sz="2400" dirty="0">
              <a:latin typeface="Times New Roman"/>
              <a:cs typeface="Times New Roman"/>
            </a:endParaRPr>
          </a:p>
          <a:p>
            <a:pPr marL="375285" indent="-358775" algn="just">
              <a:spcBef>
                <a:spcPts val="1445"/>
              </a:spcBef>
              <a:buClr>
                <a:srgbClr val="35BAE4"/>
              </a:buClr>
              <a:buFont typeface="Wingdings"/>
              <a:buChar char=""/>
              <a:tabLst>
                <a:tab pos="375920" algn="l"/>
              </a:tabLst>
            </a:pP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Có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khả năng điều hoà, giao tiếp tốt với cán bộ, nhân</a:t>
            </a:r>
            <a:r>
              <a:rPr sz="2400" spc="-12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viên.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9276" y="3502152"/>
            <a:ext cx="5563362" cy="2897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31723" y="6490848"/>
            <a:ext cx="337079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spc="-5" dirty="0"/>
              <a:pPr marL="38100">
                <a:spcBef>
                  <a:spcPts val="100"/>
                </a:spcBef>
              </a:pPr>
              <a:t>50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7922686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8268" y="812800"/>
            <a:ext cx="7981244" cy="5717822"/>
            <a:chOff x="-13716" y="0"/>
            <a:chExt cx="917321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3999" cy="6857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2708910"/>
              <a:ext cx="9144000" cy="8747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2708910"/>
              <a:ext cx="9144000" cy="875030"/>
            </a:xfrm>
            <a:custGeom>
              <a:avLst/>
              <a:gdLst/>
              <a:ahLst/>
              <a:cxnLst/>
              <a:rect l="l" t="t" r="r" b="b"/>
              <a:pathLst>
                <a:path w="9144000" h="875029">
                  <a:moveTo>
                    <a:pt x="0" y="874776"/>
                  </a:moveTo>
                  <a:lnTo>
                    <a:pt x="9144000" y="87477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874776"/>
                  </a:lnTo>
                  <a:close/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46732" y="2773667"/>
              <a:ext cx="5159502" cy="77191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22463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7256" y="167768"/>
            <a:ext cx="149923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bg1"/>
                </a:solidFill>
              </a:rPr>
              <a:t>BÀI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847" y="6490847"/>
            <a:ext cx="419100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spcBef>
                <a:spcPts val="100"/>
              </a:spcBef>
            </a:pPr>
            <a:fld id="{81D60167-4931-47E6-BA6A-407CBD079E47}" type="slidenum">
              <a:rPr sz="1300" b="1" spc="-5" dirty="0">
                <a:solidFill>
                  <a:srgbClr val="000066"/>
                </a:solidFill>
                <a:latin typeface="Verdana"/>
                <a:cs typeface="Verdana"/>
              </a:rPr>
              <a:pPr marL="146050">
                <a:spcBef>
                  <a:spcPts val="100"/>
                </a:spcBef>
              </a:pPr>
              <a:t>52</a:t>
            </a:fld>
            <a:endParaRPr sz="13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7912" y="1103711"/>
            <a:ext cx="7830184" cy="386778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70840" indent="-358140">
              <a:spcBef>
                <a:spcPts val="154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Câu</a:t>
            </a:r>
            <a:r>
              <a:rPr sz="2400" b="1" spc="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1:</a:t>
            </a:r>
            <a:r>
              <a:rPr sz="2400" b="1" spc="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Tại</a:t>
            </a:r>
            <a:r>
              <a:rPr sz="2400" spc="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sao</a:t>
            </a:r>
            <a:r>
              <a:rPr sz="2400" spc="5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cần</a:t>
            </a:r>
            <a:r>
              <a:rPr sz="2400" spc="5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phải</a:t>
            </a:r>
            <a:r>
              <a:rPr sz="2400" spc="5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thiết</a:t>
            </a:r>
            <a:r>
              <a:rPr sz="2400" spc="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kế</a:t>
            </a:r>
            <a:r>
              <a:rPr sz="2400" spc="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và</a:t>
            </a:r>
            <a:r>
              <a:rPr sz="2400" spc="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phân</a:t>
            </a:r>
            <a:r>
              <a:rPr sz="2400" spc="5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tích</a:t>
            </a:r>
            <a:r>
              <a:rPr sz="2400" spc="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hệ</a:t>
            </a:r>
            <a:r>
              <a:rPr sz="2400" spc="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r>
              <a:rPr sz="2400" spc="5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trước</a:t>
            </a:r>
            <a:endParaRPr sz="2400">
              <a:latin typeface="Times New Roman"/>
              <a:cs typeface="Times New Roman"/>
            </a:endParaRPr>
          </a:p>
          <a:p>
            <a:pPr marL="370205">
              <a:spcBef>
                <a:spcPts val="1440"/>
              </a:spcBef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khi bắt tay vào xây</a:t>
            </a:r>
            <a:r>
              <a:rPr sz="2400" spc="-4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dựng?</a:t>
            </a:r>
            <a:endParaRPr sz="2400">
              <a:latin typeface="Times New Roman"/>
              <a:cs typeface="Times New Roman"/>
            </a:endParaRPr>
          </a:p>
          <a:p>
            <a:pPr marL="370840" indent="-358140">
              <a:spcBef>
                <a:spcPts val="1440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Câu 2: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Lớp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và đối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tượng khác nhau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như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thế</a:t>
            </a:r>
            <a:r>
              <a:rPr sz="2400" spc="-4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nào?</a:t>
            </a:r>
            <a:endParaRPr sz="2400">
              <a:latin typeface="Times New Roman"/>
              <a:cs typeface="Times New Roman"/>
            </a:endParaRPr>
          </a:p>
          <a:p>
            <a:pPr marL="370205" marR="5080" indent="-358140">
              <a:lnSpc>
                <a:spcPct val="150000"/>
              </a:lnSpc>
              <a:spcBef>
                <a:spcPts val="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Câu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3: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Ưu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điểm của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phân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tích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thiết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kế hướng đối tượng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so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với thiết kế hướng chức năng là</a:t>
            </a:r>
            <a:r>
              <a:rPr sz="2400" spc="-7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gì?</a:t>
            </a:r>
            <a:endParaRPr sz="2400">
              <a:latin typeface="Times New Roman"/>
              <a:cs typeface="Times New Roman"/>
            </a:endParaRPr>
          </a:p>
          <a:p>
            <a:pPr marL="370205" marR="5715" indent="-358140">
              <a:lnSpc>
                <a:spcPct val="150000"/>
              </a:lnSpc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Câu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4: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Mô tả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3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mô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hình cơ bản được ứng dụng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để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phát triển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hệ thống hiện nay và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ưu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điểm của</a:t>
            </a:r>
            <a:r>
              <a:rPr sz="2400" spc="-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chúng.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00749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7256" y="167768"/>
            <a:ext cx="149923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bg1"/>
                </a:solidFill>
              </a:rPr>
              <a:t>BÀI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TẬP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913" y="1103710"/>
            <a:ext cx="764222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70840" indent="-358140">
              <a:spcBef>
                <a:spcPts val="154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  <a:tab pos="5798185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Câu</a:t>
            </a:r>
            <a:r>
              <a:rPr sz="2400" b="1" spc="15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5:</a:t>
            </a:r>
            <a:r>
              <a:rPr sz="2400" b="1" spc="17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Điền</a:t>
            </a:r>
            <a:r>
              <a:rPr sz="2400" spc="1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các</a:t>
            </a:r>
            <a:r>
              <a:rPr sz="2400" spc="16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bước</a:t>
            </a:r>
            <a:r>
              <a:rPr sz="2400" spc="15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phát</a:t>
            </a:r>
            <a:r>
              <a:rPr sz="2400" spc="15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triển</a:t>
            </a:r>
            <a:r>
              <a:rPr sz="2400" spc="1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hệ</a:t>
            </a:r>
            <a:r>
              <a:rPr sz="2400" spc="15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thống	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phần mềm</a:t>
            </a:r>
            <a:r>
              <a:rPr sz="2400" spc="21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còn</a:t>
            </a:r>
            <a:endParaRPr sz="2400">
              <a:latin typeface="Times New Roman"/>
              <a:cs typeface="Times New Roman"/>
            </a:endParaRPr>
          </a:p>
          <a:p>
            <a:pPr marL="370205">
              <a:spcBef>
                <a:spcPts val="1440"/>
              </a:spcBef>
            </a:pP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thiếu?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600" y="2363723"/>
            <a:ext cx="7391400" cy="3884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8847" y="6490847"/>
            <a:ext cx="419100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spcBef>
                <a:spcPts val="100"/>
              </a:spcBef>
            </a:pPr>
            <a:fld id="{81D60167-4931-47E6-BA6A-407CBD079E47}" type="slidenum">
              <a:rPr sz="1300" b="1" spc="-5" dirty="0">
                <a:solidFill>
                  <a:srgbClr val="000066"/>
                </a:solidFill>
                <a:latin typeface="Verdana"/>
                <a:cs typeface="Verdana"/>
              </a:rPr>
              <a:pPr marL="146050">
                <a:spcBef>
                  <a:spcPts val="100"/>
                </a:spcBef>
              </a:pPr>
              <a:t>53</a:t>
            </a:fld>
            <a:endParaRPr sz="13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850630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7256" y="167768"/>
            <a:ext cx="149923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bg1"/>
                </a:solidFill>
              </a:rPr>
              <a:t>BÀI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847" y="6490847"/>
            <a:ext cx="419100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spcBef>
                <a:spcPts val="100"/>
              </a:spcBef>
            </a:pPr>
            <a:fld id="{81D60167-4931-47E6-BA6A-407CBD079E47}" type="slidenum">
              <a:rPr sz="1300" b="1" spc="-5" dirty="0">
                <a:solidFill>
                  <a:srgbClr val="000066"/>
                </a:solidFill>
                <a:latin typeface="Verdana"/>
                <a:cs typeface="Verdana"/>
              </a:rPr>
              <a:pPr marL="146050">
                <a:spcBef>
                  <a:spcPts val="100"/>
                </a:spcBef>
              </a:pPr>
              <a:t>54</a:t>
            </a:fld>
            <a:endParaRPr sz="13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7912" y="1103711"/>
            <a:ext cx="7830820" cy="4999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0205" marR="6350" indent="-358140" algn="just">
              <a:lnSpc>
                <a:spcPct val="150000"/>
              </a:lnSpc>
              <a:spcBef>
                <a:spcPts val="105"/>
              </a:spcBef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Câu 6: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Khi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phân tích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thống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quản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lý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trường học theo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hướng đối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tượng,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hãy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liệt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kê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5 lớp đối tượng quan trọng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có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thể xuất hiện trong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hệ</a:t>
            </a:r>
            <a:r>
              <a:rPr sz="2400" spc="-7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 err="1">
                <a:solidFill>
                  <a:srgbClr val="000033"/>
                </a:solidFill>
                <a:latin typeface="Times New Roman"/>
                <a:cs typeface="Times New Roman"/>
              </a:rPr>
              <a:t>thống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?</a:t>
            </a:r>
            <a:endParaRPr lang="en-US" sz="2400" dirty="0">
              <a:solidFill>
                <a:srgbClr val="000033"/>
              </a:solidFill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50000"/>
              </a:lnSpc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>
                <a:solidFill>
                  <a:srgbClr val="000033"/>
                </a:solidFill>
                <a:latin typeface="Times New Roman"/>
                <a:cs typeface="Times New Roman"/>
              </a:rPr>
              <a:t>Câu</a:t>
            </a: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7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: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Khi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phân tích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hệ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thống quản lý trường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học,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với </a:t>
            </a:r>
            <a:r>
              <a:rPr sz="2400" spc="5" dirty="0">
                <a:solidFill>
                  <a:srgbClr val="000033"/>
                </a:solidFill>
                <a:latin typeface="Times New Roman"/>
                <a:cs typeface="Times New Roman"/>
              </a:rPr>
              <a:t>lớp 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đối tượng sinh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viên, hãy liệt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kê 5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thuộc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tính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và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5 phương  thức quan trọng có thể</a:t>
            </a:r>
            <a:r>
              <a:rPr sz="2400" spc="-5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 err="1">
                <a:solidFill>
                  <a:srgbClr val="000033"/>
                </a:solidFill>
                <a:latin typeface="Times New Roman"/>
                <a:cs typeface="Times New Roman"/>
              </a:rPr>
              <a:t>có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?</a:t>
            </a:r>
            <a:endParaRPr lang="en-US" sz="2400" dirty="0">
              <a:solidFill>
                <a:srgbClr val="000033"/>
              </a:solidFill>
              <a:latin typeface="Times New Roman"/>
              <a:cs typeface="Times New Roman"/>
            </a:endParaRPr>
          </a:p>
          <a:p>
            <a:pPr marL="370205" marR="5080" indent="-358140" algn="just">
              <a:lnSpc>
                <a:spcPct val="150000"/>
              </a:lnSpc>
              <a:buClr>
                <a:srgbClr val="35BAE4"/>
              </a:buClr>
              <a:buFont typeface="Wingdings"/>
              <a:buChar char=""/>
              <a:tabLst>
                <a:tab pos="370840" algn="l"/>
              </a:tabLst>
            </a:pPr>
            <a:r>
              <a:rPr sz="2400" b="1" spc="-5" dirty="0" err="1">
                <a:solidFill>
                  <a:srgbClr val="000033"/>
                </a:solidFill>
                <a:latin typeface="Times New Roman"/>
                <a:cs typeface="Times New Roman"/>
              </a:rPr>
              <a:t>Câu</a:t>
            </a:r>
            <a:r>
              <a:rPr sz="2400" b="1" spc="-5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33"/>
                </a:solidFill>
                <a:latin typeface="Times New Roman"/>
                <a:cs typeface="Times New Roman"/>
              </a:rPr>
              <a:t>8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: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Để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xây dựng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một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hệ thống phần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mềm,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ví dụ </a:t>
            </a:r>
            <a:r>
              <a:rPr sz="2400" spc="-10" dirty="0">
                <a:solidFill>
                  <a:srgbClr val="000033"/>
                </a:solidFill>
                <a:latin typeface="Times New Roman"/>
                <a:cs typeface="Times New Roman"/>
              </a:rPr>
              <a:t>một 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website bán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hàng, theo em cần có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những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nhân </a:t>
            </a:r>
            <a:r>
              <a:rPr sz="2400" spc="-5" dirty="0">
                <a:solidFill>
                  <a:srgbClr val="000033"/>
                </a:solidFill>
                <a:latin typeface="Times New Roman"/>
                <a:cs typeface="Times New Roman"/>
              </a:rPr>
              <a:t>lực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nào tham  gia và nhiệm vụ của họ là</a:t>
            </a:r>
            <a:r>
              <a:rPr sz="2400" spc="-60" dirty="0">
                <a:solidFill>
                  <a:srgbClr val="00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33"/>
                </a:solidFill>
                <a:latin typeface="Times New Roman"/>
                <a:cs typeface="Times New Roman"/>
              </a:rPr>
              <a:t>gì?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01512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4772</TotalTime>
  <Words>3890</Words>
  <Application>Microsoft Office PowerPoint</Application>
  <PresentationFormat>A4 Paper (210x297 mm)</PresentationFormat>
  <Paragraphs>362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54</vt:i4>
      </vt:variant>
    </vt:vector>
  </HeadingPairs>
  <TitlesOfParts>
    <vt:vector size="68" baseType="lpstr">
      <vt:lpstr>Arial</vt:lpstr>
      <vt:lpstr>Bahnschrift SemiBold Condensed</vt:lpstr>
      <vt:lpstr>Calibri</vt:lpstr>
      <vt:lpstr>Calibri Light</vt:lpstr>
      <vt:lpstr>Carlito</vt:lpstr>
      <vt:lpstr>Tahoma</vt:lpstr>
      <vt:lpstr>Times New Roman</vt:lpstr>
      <vt:lpstr>TimesNewRomanPS-BoldItalicMT</vt:lpstr>
      <vt:lpstr>TimesNewRomanPSMT</vt:lpstr>
      <vt:lpstr>Verdana</vt:lpstr>
      <vt:lpstr>Wingdings</vt:lpstr>
      <vt:lpstr>Custom Design</vt:lpstr>
      <vt:lpstr>1_Custom Design</vt:lpstr>
      <vt:lpstr>2_Custom Design</vt:lpstr>
      <vt:lpstr>PowerPoint Presentation</vt:lpstr>
      <vt:lpstr>PowerPoint Presentation</vt:lpstr>
      <vt:lpstr>XÉT VÍ DỤ: Quan sát 1 chiếc ô tô</vt:lpstr>
      <vt:lpstr>1.1. KHÁI NIỆM CHUNG VỀ HỆ THỐNG</vt:lpstr>
      <vt:lpstr>PowerPoint Presentation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1.1. KHÁI NIỆM CHUNG VỀ HỆ THỐNG</vt:lpstr>
      <vt:lpstr>1.2. VÒNG ĐỜI HỆ THỐNG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1.4. PHÂN TÍCH VÀ THIẾT KẾ HƯỚNG CHỨC NĂNG</vt:lpstr>
      <vt:lpstr>1.4. PHÂN TÍCH VÀ THIẾT KẾ HƯỚNG CHỨC NĂNG</vt:lpstr>
      <vt:lpstr>1.4. PHÂN TÍCH VÀ THIẾT KẾ HƯỚNG CHỨC NĂNG</vt:lpstr>
      <vt:lpstr>Ví dụ: Hệ thống quản lý thư viện</vt:lpstr>
      <vt:lpstr>Ví dụ: Hệ thống quản lý thư viện</vt:lpstr>
      <vt:lpstr>1.4. PHÂN TÍCH VÀ THIẾT KẾ HƯỚNG CHỨC NĂNG</vt:lpstr>
      <vt:lpstr>1.5. PHÂN TÍCH VÀ THIẾT KẾ HƯỚNG ĐỐI TƯỢNG</vt:lpstr>
      <vt:lpstr>1.5. PHÂN TÍCH VÀ THIẾT KẾ HƯỚNG ĐỐI TƯỢNG</vt:lpstr>
      <vt:lpstr>1.5. PHÂN TÍCH VÀ THIẾT KẾ HƯỚNG ĐỐI TƯỢNG</vt:lpstr>
      <vt:lpstr>1.5. PHÂN TÍCH VÀ THIẾT KẾ HƯỚNG ĐỐI TƯỢNG</vt:lpstr>
      <vt:lpstr>1.5. PHÂN TÍCH VÀ THIẾT KẾ HƯỚNG ĐỐI TƯỢNG</vt:lpstr>
      <vt:lpstr>1.5. PHÂN TÍCH VÀ THIẾT KẾ HƯỚNG ĐỐI TƯỢNG</vt:lpstr>
      <vt:lpstr>1.5. PHÂN TÍCH VÀ THIẾT KẾ HƯỚNG ĐỐI TƯỢNG</vt:lpstr>
      <vt:lpstr>1.5. PHÂN TÍCH VÀ THIẾT KẾ HƯỚNG ĐỐI TƯỢNG</vt:lpstr>
      <vt:lpstr>1.5. PHÂN TÍCH VÀ THIẾT KẾ HƯỚNG ĐỐI TƯỢNG</vt:lpstr>
      <vt:lpstr>* So sánh giữa hướng chức năng và hướng đối tượng</vt:lpstr>
      <vt:lpstr>PowerPoint Presentation</vt:lpstr>
      <vt:lpstr>PowerPoint Presentation</vt:lpstr>
      <vt:lpstr>PowerPoint Presentation</vt:lpstr>
      <vt:lpstr>BÀI TẬP</vt:lpstr>
      <vt:lpstr>BÀI TẬP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BON BEN</cp:lastModifiedBy>
  <cp:revision>66</cp:revision>
  <dcterms:created xsi:type="dcterms:W3CDTF">2022-07-06T14:01:26Z</dcterms:created>
  <dcterms:modified xsi:type="dcterms:W3CDTF">2024-05-08T00:15:15Z</dcterms:modified>
</cp:coreProperties>
</file>