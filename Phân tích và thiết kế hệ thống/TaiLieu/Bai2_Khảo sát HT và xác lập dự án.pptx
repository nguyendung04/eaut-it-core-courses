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31"/>
  </p:handoutMasterIdLst>
  <p:sldIdLst>
    <p:sldId id="257" r:id="rId4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328" r:id="rId26"/>
    <p:sldId id="329" r:id="rId27"/>
    <p:sldId id="330" r:id="rId28"/>
    <p:sldId id="332" r:id="rId29"/>
    <p:sldId id="262" r:id="rId30"/>
  </p:sldIdLst>
  <p:sldSz cx="9906000" cy="6858000" type="A4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  <a:srgbClr val="336699"/>
    <a:srgbClr val="006666"/>
    <a:srgbClr val="FF66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79" autoAdjust="0"/>
    <p:restoredTop sz="94660"/>
  </p:normalViewPr>
  <p:slideViewPr>
    <p:cSldViewPr snapToGrid="0">
      <p:cViewPr varScale="1">
        <p:scale>
          <a:sx n="60" d="100"/>
          <a:sy n="60" d="100"/>
        </p:scale>
        <p:origin x="10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C6ACCB-CCB7-4462-B83C-947C39700331}" type="doc">
      <dgm:prSet loTypeId="urn:microsoft.com/office/officeart/2008/layout/VerticalCurved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vi-VN"/>
        </a:p>
      </dgm:t>
    </dgm:pt>
    <dgm:pt modelId="{1CC5B58A-4682-4F14-8516-AADD32840BB7}">
      <dgm:prSet phldrT="[Text]" custT="1"/>
      <dgm:spPr/>
      <dgm:t>
        <a:bodyPr/>
        <a:lstStyle/>
        <a:p>
          <a:r>
            <a:rPr lang="en-US" sz="3200" b="1" i="0"/>
            <a:t>Khảo sát hệ thống</a:t>
          </a:r>
          <a:endParaRPr lang="vi-VN" sz="3200" dirty="0"/>
        </a:p>
      </dgm:t>
    </dgm:pt>
    <dgm:pt modelId="{1B26A3A5-7E6F-4735-A2C0-8773690EDB55}" cxnId="{56223C2A-21D4-4890-A2E1-FBECE51F58A8}" type="parTrans">
      <dgm:prSet/>
      <dgm:spPr/>
      <dgm:t>
        <a:bodyPr/>
        <a:lstStyle/>
        <a:p>
          <a:endParaRPr lang="vi-VN" sz="2400"/>
        </a:p>
      </dgm:t>
    </dgm:pt>
    <dgm:pt modelId="{65B8229F-4446-4766-90B2-D963204C3694}" cxnId="{56223C2A-21D4-4890-A2E1-FBECE51F58A8}" type="sibTrans">
      <dgm:prSet/>
      <dgm:spPr/>
      <dgm:t>
        <a:bodyPr/>
        <a:lstStyle/>
        <a:p>
          <a:endParaRPr lang="vi-VN" sz="2400"/>
        </a:p>
      </dgm:t>
    </dgm:pt>
    <dgm:pt modelId="{DFEA1647-96A5-47AD-98F8-2D955A035A38}">
      <dgm:prSet phldrT="[Text]" custT="1"/>
      <dgm:spPr>
        <a:solidFill>
          <a:srgbClr val="CC3300"/>
        </a:solidFill>
      </dgm:spPr>
      <dgm:t>
        <a:bodyPr/>
        <a:lstStyle/>
        <a:p>
          <a:r>
            <a:rPr lang="en-US" sz="3200" b="1" i="0"/>
            <a:t>Xác lập dự án</a:t>
          </a:r>
          <a:endParaRPr lang="vi-VN" sz="3200" dirty="0"/>
        </a:p>
      </dgm:t>
    </dgm:pt>
    <dgm:pt modelId="{0562B51A-DA49-46F1-984C-A86D423D0069}" cxnId="{E6F92AE3-AEB7-40A8-9FB2-34064DC1DD0D}" type="parTrans">
      <dgm:prSet/>
      <dgm:spPr/>
      <dgm:t>
        <a:bodyPr/>
        <a:lstStyle/>
        <a:p>
          <a:endParaRPr lang="vi-VN" sz="2400"/>
        </a:p>
      </dgm:t>
    </dgm:pt>
    <dgm:pt modelId="{82BCC4E8-0331-4919-9663-BAB15AE99C8E}" cxnId="{E6F92AE3-AEB7-40A8-9FB2-34064DC1DD0D}" type="sibTrans">
      <dgm:prSet/>
      <dgm:spPr/>
      <dgm:t>
        <a:bodyPr/>
        <a:lstStyle/>
        <a:p>
          <a:endParaRPr lang="vi-VN" sz="2400"/>
        </a:p>
      </dgm:t>
    </dgm:pt>
    <dgm:pt modelId="{55820467-CBF7-4FF0-866D-758DD75096E2}" type="pres">
      <dgm:prSet presAssocID="{FFC6ACCB-CCB7-4462-B83C-947C39700331}" presName="Name0" presStyleCnt="0">
        <dgm:presLayoutVars>
          <dgm:chMax val="7"/>
          <dgm:chPref val="7"/>
          <dgm:dir/>
        </dgm:presLayoutVars>
      </dgm:prSet>
      <dgm:spPr/>
    </dgm:pt>
    <dgm:pt modelId="{625A1B63-5B0D-455B-978F-98DB5D4ECDDB}" type="pres">
      <dgm:prSet presAssocID="{FFC6ACCB-CCB7-4462-B83C-947C39700331}" presName="Name1" presStyleCnt="0"/>
      <dgm:spPr/>
    </dgm:pt>
    <dgm:pt modelId="{B35BA6B8-44CC-4F8E-8872-F44741C8740A}" type="pres">
      <dgm:prSet presAssocID="{FFC6ACCB-CCB7-4462-B83C-947C39700331}" presName="cycle" presStyleCnt="0"/>
      <dgm:spPr/>
    </dgm:pt>
    <dgm:pt modelId="{DFBCC43C-5AD5-43A3-9500-637105EF40F4}" type="pres">
      <dgm:prSet presAssocID="{FFC6ACCB-CCB7-4462-B83C-947C39700331}" presName="srcNode" presStyleLbl="node1" presStyleIdx="0" presStyleCnt="2"/>
      <dgm:spPr/>
    </dgm:pt>
    <dgm:pt modelId="{15EA5C8F-BA3E-4A20-B359-D95AD5D04D7F}" type="pres">
      <dgm:prSet presAssocID="{FFC6ACCB-CCB7-4462-B83C-947C39700331}" presName="conn" presStyleLbl="parChTrans1D2" presStyleIdx="0" presStyleCnt="1"/>
      <dgm:spPr/>
    </dgm:pt>
    <dgm:pt modelId="{F6370CD4-538E-4707-8220-150412759AD3}" type="pres">
      <dgm:prSet presAssocID="{FFC6ACCB-CCB7-4462-B83C-947C39700331}" presName="extraNode" presStyleLbl="node1" presStyleIdx="0" presStyleCnt="2"/>
      <dgm:spPr/>
    </dgm:pt>
    <dgm:pt modelId="{A559906C-4ABA-4DD6-985B-E41ED1BEBD22}" type="pres">
      <dgm:prSet presAssocID="{FFC6ACCB-CCB7-4462-B83C-947C39700331}" presName="dstNode" presStyleLbl="node1" presStyleIdx="0" presStyleCnt="2"/>
      <dgm:spPr/>
    </dgm:pt>
    <dgm:pt modelId="{EF26CA92-7ED5-48C6-9A23-14EC95BFC7C2}" type="pres">
      <dgm:prSet presAssocID="{1CC5B58A-4682-4F14-8516-AADD32840BB7}" presName="text_1" presStyleLbl="node1" presStyleIdx="0" presStyleCnt="2">
        <dgm:presLayoutVars>
          <dgm:bulletEnabled val="1"/>
        </dgm:presLayoutVars>
      </dgm:prSet>
      <dgm:spPr/>
    </dgm:pt>
    <dgm:pt modelId="{B27173BE-7800-4789-8576-BFE125BA270F}" type="pres">
      <dgm:prSet presAssocID="{1CC5B58A-4682-4F14-8516-AADD32840BB7}" presName="accent_1" presStyleCnt="0"/>
      <dgm:spPr/>
    </dgm:pt>
    <dgm:pt modelId="{0AB70952-9AC7-4314-AFFF-93FAA8D4D151}" type="pres">
      <dgm:prSet presAssocID="{1CC5B58A-4682-4F14-8516-AADD32840BB7}" presName="accentRepeatNode" presStyleLbl="solidFgAcc1" presStyleIdx="0" presStyleCnt="2">
        <dgm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dgm:style>
      </dgm:prSet>
      <dgm:spPr/>
    </dgm:pt>
    <dgm:pt modelId="{14DE79B5-9F73-45ED-9D42-6FE63690DCB9}" type="pres">
      <dgm:prSet presAssocID="{DFEA1647-96A5-47AD-98F8-2D955A035A38}" presName="text_2" presStyleLbl="node1" presStyleIdx="1" presStyleCnt="2">
        <dgm:presLayoutVars>
          <dgm:bulletEnabled val="1"/>
        </dgm:presLayoutVars>
      </dgm:prSet>
      <dgm:spPr/>
    </dgm:pt>
    <dgm:pt modelId="{5CB4A20E-E8A0-41F2-815E-3F23DA6FD88A}" type="pres">
      <dgm:prSet presAssocID="{DFEA1647-96A5-47AD-98F8-2D955A035A38}" presName="accent_2" presStyleCnt="0"/>
      <dgm:spPr/>
    </dgm:pt>
    <dgm:pt modelId="{55258A59-197F-4080-A6E0-F0DBFF7F90EE}" type="pres">
      <dgm:prSet presAssocID="{DFEA1647-96A5-47AD-98F8-2D955A035A38}" presName="accentRepeatNode" presStyleLbl="solidFgAcc1" presStyleIdx="1" presStyleCnt="2">
        <dgm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dgm:style>
      </dgm:prSet>
      <dgm:spPr>
        <a:solidFill>
          <a:srgbClr val="CC3300"/>
        </a:solidFill>
      </dgm:spPr>
    </dgm:pt>
  </dgm:ptLst>
  <dgm:cxnLst>
    <dgm:cxn modelId="{56223C2A-21D4-4890-A2E1-FBECE51F58A8}" srcId="{FFC6ACCB-CCB7-4462-B83C-947C39700331}" destId="{1CC5B58A-4682-4F14-8516-AADD32840BB7}" srcOrd="0" destOrd="0" parTransId="{1B26A3A5-7E6F-4735-A2C0-8773690EDB55}" sibTransId="{65B8229F-4446-4766-90B2-D963204C3694}"/>
    <dgm:cxn modelId="{8D841965-4148-44B0-8B94-7F4524F94F26}" type="presOf" srcId="{1CC5B58A-4682-4F14-8516-AADD32840BB7}" destId="{EF26CA92-7ED5-48C6-9A23-14EC95BFC7C2}" srcOrd="0" destOrd="0" presId="urn:microsoft.com/office/officeart/2008/layout/VerticalCurvedList"/>
    <dgm:cxn modelId="{E3111E6D-1195-46D6-A99A-04F7C494BD3E}" type="presOf" srcId="{DFEA1647-96A5-47AD-98F8-2D955A035A38}" destId="{14DE79B5-9F73-45ED-9D42-6FE63690DCB9}" srcOrd="0" destOrd="0" presId="urn:microsoft.com/office/officeart/2008/layout/VerticalCurvedList"/>
    <dgm:cxn modelId="{42C2A9DA-5150-4F83-84FD-0D7A9AF5EDBF}" type="presOf" srcId="{65B8229F-4446-4766-90B2-D963204C3694}" destId="{15EA5C8F-BA3E-4A20-B359-D95AD5D04D7F}" srcOrd="0" destOrd="0" presId="urn:microsoft.com/office/officeart/2008/layout/VerticalCurvedList"/>
    <dgm:cxn modelId="{E6F92AE3-AEB7-40A8-9FB2-34064DC1DD0D}" srcId="{FFC6ACCB-CCB7-4462-B83C-947C39700331}" destId="{DFEA1647-96A5-47AD-98F8-2D955A035A38}" srcOrd="1" destOrd="0" parTransId="{0562B51A-DA49-46F1-984C-A86D423D0069}" sibTransId="{82BCC4E8-0331-4919-9663-BAB15AE99C8E}"/>
    <dgm:cxn modelId="{009392E9-27C6-49CA-A49A-2FAB166FDF80}" type="presOf" srcId="{FFC6ACCB-CCB7-4462-B83C-947C39700331}" destId="{55820467-CBF7-4FF0-866D-758DD75096E2}" srcOrd="0" destOrd="0" presId="urn:microsoft.com/office/officeart/2008/layout/VerticalCurvedList"/>
    <dgm:cxn modelId="{1E6005F1-7C7D-4BB8-B9E6-87F9A3B5837C}" type="presParOf" srcId="{55820467-CBF7-4FF0-866D-758DD75096E2}" destId="{625A1B63-5B0D-455B-978F-98DB5D4ECDDB}" srcOrd="0" destOrd="0" presId="urn:microsoft.com/office/officeart/2008/layout/VerticalCurvedList"/>
    <dgm:cxn modelId="{2872E5CB-46B6-4D8C-9654-B9FF0CDCCF2F}" type="presParOf" srcId="{625A1B63-5B0D-455B-978F-98DB5D4ECDDB}" destId="{B35BA6B8-44CC-4F8E-8872-F44741C8740A}" srcOrd="0" destOrd="0" presId="urn:microsoft.com/office/officeart/2008/layout/VerticalCurvedList"/>
    <dgm:cxn modelId="{A09D6073-688A-4210-9317-692AE481BA01}" type="presParOf" srcId="{B35BA6B8-44CC-4F8E-8872-F44741C8740A}" destId="{DFBCC43C-5AD5-43A3-9500-637105EF40F4}" srcOrd="0" destOrd="0" presId="urn:microsoft.com/office/officeart/2008/layout/VerticalCurvedList"/>
    <dgm:cxn modelId="{F05A5143-716A-4627-9441-7DF3702C9E8A}" type="presParOf" srcId="{B35BA6B8-44CC-4F8E-8872-F44741C8740A}" destId="{15EA5C8F-BA3E-4A20-B359-D95AD5D04D7F}" srcOrd="1" destOrd="0" presId="urn:microsoft.com/office/officeart/2008/layout/VerticalCurvedList"/>
    <dgm:cxn modelId="{C7EDC7E1-4C1E-457E-9D3C-59AEA0F2A217}" type="presParOf" srcId="{B35BA6B8-44CC-4F8E-8872-F44741C8740A}" destId="{F6370CD4-538E-4707-8220-150412759AD3}" srcOrd="2" destOrd="0" presId="urn:microsoft.com/office/officeart/2008/layout/VerticalCurvedList"/>
    <dgm:cxn modelId="{EE33BF33-CED4-49AC-81DA-F6AD28252AD3}" type="presParOf" srcId="{B35BA6B8-44CC-4F8E-8872-F44741C8740A}" destId="{A559906C-4ABA-4DD6-985B-E41ED1BEBD22}" srcOrd="3" destOrd="0" presId="urn:microsoft.com/office/officeart/2008/layout/VerticalCurvedList"/>
    <dgm:cxn modelId="{FCD8B495-0A2A-44D0-962B-D61BF00BBCCD}" type="presParOf" srcId="{625A1B63-5B0D-455B-978F-98DB5D4ECDDB}" destId="{EF26CA92-7ED5-48C6-9A23-14EC95BFC7C2}" srcOrd="1" destOrd="0" presId="urn:microsoft.com/office/officeart/2008/layout/VerticalCurvedList"/>
    <dgm:cxn modelId="{E12005FF-0519-491E-9A23-8CA78B20D691}" type="presParOf" srcId="{625A1B63-5B0D-455B-978F-98DB5D4ECDDB}" destId="{B27173BE-7800-4789-8576-BFE125BA270F}" srcOrd="2" destOrd="0" presId="urn:microsoft.com/office/officeart/2008/layout/VerticalCurvedList"/>
    <dgm:cxn modelId="{DA7211A3-0412-4A5B-988D-17033F7232EE}" type="presParOf" srcId="{B27173BE-7800-4789-8576-BFE125BA270F}" destId="{0AB70952-9AC7-4314-AFFF-93FAA8D4D151}" srcOrd="0" destOrd="0" presId="urn:microsoft.com/office/officeart/2008/layout/VerticalCurvedList"/>
    <dgm:cxn modelId="{D9EDCA3B-908D-47C8-8D91-FAF04A1B1B2E}" type="presParOf" srcId="{625A1B63-5B0D-455B-978F-98DB5D4ECDDB}" destId="{14DE79B5-9F73-45ED-9D42-6FE63690DCB9}" srcOrd="3" destOrd="0" presId="urn:microsoft.com/office/officeart/2008/layout/VerticalCurvedList"/>
    <dgm:cxn modelId="{BC027A6F-869C-4F49-8988-830FF6123AA0}" type="presParOf" srcId="{625A1B63-5B0D-455B-978F-98DB5D4ECDDB}" destId="{5CB4A20E-E8A0-41F2-815E-3F23DA6FD88A}" srcOrd="4" destOrd="0" presId="urn:microsoft.com/office/officeart/2008/layout/VerticalCurvedList"/>
    <dgm:cxn modelId="{C97D483D-530D-4FE9-978F-CC731282A5E7}" type="presParOf" srcId="{5CB4A20E-E8A0-41F2-815E-3F23DA6FD88A}" destId="{55258A59-197F-4080-A6E0-F0DBFF7F90E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7007772" cy="3918223"/>
        <a:chOff x="0" y="0"/>
        <a:chExt cx="7007772" cy="3918223"/>
      </a:xfrm>
    </dsp:grpSpPr>
    <dsp:sp modelId="{15EA5C8F-BA3E-4A20-B359-D95AD5D04D7F}">
      <dsp:nvSpPr>
        <dsp:cNvPr id="4" name="Block Arc 3"/>
        <dsp:cNvSpPr/>
      </dsp:nvSpPr>
      <dsp:spPr bwMode="white">
        <a:xfrm>
          <a:off x="-4389122" y="-691934"/>
          <a:ext cx="5302092" cy="5302092"/>
        </a:xfrm>
        <a:prstGeom prst="blockArc">
          <a:avLst>
            <a:gd name="adj1" fmla="val 18900000"/>
            <a:gd name="adj2" fmla="val 2700000"/>
            <a:gd name="adj3" fmla="val 341"/>
          </a:avLst>
        </a:pr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-4389122" y="-691934"/>
        <a:ext cx="5302092" cy="5302092"/>
      </dsp:txXfrm>
    </dsp:sp>
    <dsp:sp modelId="{EF26CA92-7ED5-48C6-9A23-14EC95BFC7C2}">
      <dsp:nvSpPr>
        <dsp:cNvPr id="7" name="Rectangles 6"/>
        <dsp:cNvSpPr/>
      </dsp:nvSpPr>
      <dsp:spPr bwMode="white">
        <a:xfrm>
          <a:off x="740936" y="559757"/>
          <a:ext cx="6266836" cy="1119358"/>
        </a:xfrm>
        <a:prstGeom prst="rect">
          <a:avLst/>
        </a:prstGeom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888490" tIns="81280" rIns="81280" bIns="8128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i="0"/>
            <a:t>Khảo sát hệ thống</a:t>
          </a:r>
          <a:endParaRPr lang="vi-VN" sz="3200" dirty="0"/>
        </a:p>
      </dsp:txBody>
      <dsp:txXfrm>
        <a:off x="740936" y="559757"/>
        <a:ext cx="6266836" cy="1119358"/>
      </dsp:txXfrm>
    </dsp:sp>
    <dsp:sp modelId="{0AB70952-9AC7-4314-AFFF-93FAA8D4D151}">
      <dsp:nvSpPr>
        <dsp:cNvPr id="8" name="Oval 7"/>
        <dsp:cNvSpPr/>
      </dsp:nvSpPr>
      <dsp:spPr bwMode="white">
        <a:xfrm>
          <a:off x="41337" y="419838"/>
          <a:ext cx="1399197" cy="1399197"/>
        </a:xfrm>
        <a:prstGeom prst="ellipse">
          <a:avLst/>
        </a:prstGeom>
      </dsp:spPr>
      <dsp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dsp:style>
      <dsp:txXfrm>
        <a:off x="41337" y="419838"/>
        <a:ext cx="1399197" cy="1399197"/>
      </dsp:txXfrm>
    </dsp:sp>
    <dsp:sp modelId="{14DE79B5-9F73-45ED-9D42-6FE63690DCB9}">
      <dsp:nvSpPr>
        <dsp:cNvPr id="9" name="Rectangles 8"/>
        <dsp:cNvSpPr/>
      </dsp:nvSpPr>
      <dsp:spPr bwMode="white">
        <a:xfrm>
          <a:off x="740936" y="2239108"/>
          <a:ext cx="6266836" cy="1119358"/>
        </a:xfrm>
        <a:prstGeom prst="rect">
          <a:avLst/>
        </a:prstGeom>
        <a:solidFill>
          <a:srgbClr val="CC3300"/>
        </a:solidFill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888490" tIns="81280" rIns="81280" bIns="8128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i="0"/>
            <a:t>Xác lập dự án</a:t>
          </a:r>
          <a:endParaRPr lang="vi-VN" sz="3200" dirty="0"/>
        </a:p>
      </dsp:txBody>
      <dsp:txXfrm>
        <a:off x="740936" y="2239108"/>
        <a:ext cx="6266836" cy="1119358"/>
      </dsp:txXfrm>
    </dsp:sp>
    <dsp:sp modelId="{55258A59-197F-4080-A6E0-F0DBFF7F90EE}">
      <dsp:nvSpPr>
        <dsp:cNvPr id="10" name="Oval 9"/>
        <dsp:cNvSpPr/>
      </dsp:nvSpPr>
      <dsp:spPr bwMode="white">
        <a:xfrm>
          <a:off x="41337" y="2099188"/>
          <a:ext cx="1399197" cy="1399197"/>
        </a:xfrm>
        <a:prstGeom prst="ellipse">
          <a:avLst/>
        </a:prstGeom>
        <a:solidFill>
          <a:srgbClr val="CC3300"/>
        </a:solidFill>
      </dsp:spPr>
      <dsp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dsp:style>
      <dsp:txXfrm>
        <a:off x="41337" y="2099188"/>
        <a:ext cx="1399197" cy="1399197"/>
      </dsp:txXfrm>
    </dsp:sp>
    <dsp:sp modelId="{DFBCC43C-5AD5-43A3-9500-637105EF40F4}">
      <dsp:nvSpPr>
        <dsp:cNvPr id="3" name="Rectangles 2" hidden="1"/>
        <dsp:cNvSpPr/>
      </dsp:nvSpPr>
      <dsp:spPr bwMode="white">
        <a:xfrm>
          <a:off x="105768" y="79267"/>
          <a:ext cx="36000" cy="36000"/>
        </a:xfrm>
        <a:prstGeom prst="rect">
          <a:avLst/>
        </a:prstGeom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Xfrm>
        <a:off x="105768" y="79267"/>
        <a:ext cx="36000" cy="36000"/>
      </dsp:txXfrm>
    </dsp:sp>
    <dsp:sp modelId="{F6370CD4-538E-4707-8220-150412759AD3}">
      <dsp:nvSpPr>
        <dsp:cNvPr id="5" name="Rectangles 4" hidden="1"/>
        <dsp:cNvSpPr/>
      </dsp:nvSpPr>
      <dsp:spPr bwMode="white">
        <a:xfrm>
          <a:off x="876970" y="1941112"/>
          <a:ext cx="36000" cy="36000"/>
        </a:xfrm>
        <a:prstGeom prst="rect">
          <a:avLst/>
        </a:prstGeom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Xfrm>
        <a:off x="876970" y="1941112"/>
        <a:ext cx="36000" cy="36000"/>
      </dsp:txXfrm>
    </dsp:sp>
    <dsp:sp modelId="{A559906C-4ABA-4DD6-985B-E41ED1BEBD22}">
      <dsp:nvSpPr>
        <dsp:cNvPr id="6" name="Rectangles 5" hidden="1"/>
        <dsp:cNvSpPr/>
      </dsp:nvSpPr>
      <dsp:spPr bwMode="white">
        <a:xfrm>
          <a:off x="105768" y="3802956"/>
          <a:ext cx="36000" cy="36000"/>
        </a:xfrm>
        <a:prstGeom prst="rect">
          <a:avLst/>
        </a:prstGeom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Xfrm>
        <a:off x="105768" y="3802956"/>
        <a:ext cx="36000" cy="36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srcNode" val="srcNode"/>
            <dgm:param type="dstNode" val="dstNode"/>
            <dgm:param type="endSty" val="noArr"/>
            <dgm:param type="connRout" val="curve"/>
            <dgm:param type="begPts" val="ctr"/>
            <dgm:param type="endPts" val="ct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7F06D-B7DD-47AF-B97D-E75B78BBCAC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2B679-2090-4DDA-9535-1FB9CB66C73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A1CCA2-458D-4E9B-94B3-8E61AB262D1B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80C27C-0D3F-4DDC-B0C0-66F4837037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80C27C-0D3F-4DDC-B0C0-66F48370376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2D0CF3-8A77-48AD-BCE7-953807CF9A93}" type="slidenum">
              <a:rPr 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6713" y="6543675"/>
            <a:ext cx="2228850" cy="263525"/>
          </a:xfrm>
          <a:prstGeom prst="rect">
            <a:avLst/>
          </a:prstGeom>
        </p:spPr>
        <p:txBody>
          <a:bodyPr/>
          <a:lstStyle>
            <a:lvl1pPr algn="ctr">
              <a:defRPr sz="1200"/>
            </a:lvl1pPr>
          </a:lstStyle>
          <a:p>
            <a:fld id="{E9B6E23A-4619-4779-8025-A39D56682C1A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87972" y="167768"/>
            <a:ext cx="7330054" cy="467995"/>
          </a:xfrm>
          <a:prstGeom prst="rect">
            <a:avLst/>
          </a:prstGeom>
        </p:spPr>
        <p:txBody>
          <a:bodyPr lIns="0" tIns="0" rIns="0" bIns="0"/>
          <a:lstStyle>
            <a:lvl1pPr>
              <a:defRPr sz="2900" b="1" i="0">
                <a:solidFill>
                  <a:srgbClr val="C00000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77921" y="1833372"/>
            <a:ext cx="4055269" cy="4602480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50722" y="6490848"/>
            <a:ext cx="337079" cy="226059"/>
          </a:xfrm>
          <a:prstGeom prst="rect">
            <a:avLst/>
          </a:prstGeom>
        </p:spPr>
        <p:txBody>
          <a:bodyPr lIns="0" tIns="0" rIns="0" bIns="0"/>
          <a:lstStyle>
            <a:lvl1pPr>
              <a:defRPr sz="1300" b="1" i="0">
                <a:solidFill>
                  <a:srgbClr val="000066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" smtClean="0"/>
            </a:fld>
            <a:endParaRPr lang="en-US" spc="-5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762"/>
            <a:ext cx="9906000" cy="68484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0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82611" y="1343723"/>
            <a:ext cx="569246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cs typeface="Times New Roman" panose="02020603050405020304" pitchFamily="18" charset="0"/>
              </a:rPr>
              <a:t>KHOA CÔNG NGHỆ THÔNG TIN</a:t>
            </a:r>
            <a:endParaRPr lang="en-US" b="1" dirty="0"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cs typeface="Times New Roman" panose="02020603050405020304" pitchFamily="18" charset="0"/>
              </a:rPr>
              <a:t>MÔN HỌC: PHÂN TÍCH THIẾT KẾ HỆ THỐNG</a:t>
            </a:r>
            <a:endParaRPr lang="en-US" b="1" dirty="0">
              <a:cs typeface="Times New Roman" panose="02020603050405020304" pitchFamily="18" charset="0"/>
            </a:endParaRPr>
          </a:p>
          <a:p>
            <a:pPr algn="ctr">
              <a:spcAft>
                <a:spcPts val="600"/>
              </a:spcAft>
            </a:pPr>
            <a:endParaRPr lang="en-US" sz="1100" b="1" dirty="0">
              <a:latin typeface="Bahnschrift SemiBold Condensed" panose="020B0502040204020203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FF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BÀI 2:</a:t>
            </a:r>
            <a:endParaRPr lang="en-US" sz="3200" b="1" dirty="0">
              <a:solidFill>
                <a:srgbClr val="FF6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600"/>
              </a:spcAft>
            </a:pPr>
            <a:r>
              <a:rPr lang="en-US" sz="3200" b="1" i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KHẢO SÁT HỆ THỐNG VÀ XÁC LẬP DỰ ÁN</a:t>
            </a:r>
            <a:r>
              <a:rPr lang="en-US" sz="320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4400"/>
            </a:br>
            <a:endParaRPr lang="en-US" sz="4400"/>
          </a:p>
          <a:p>
            <a:pPr algn="ctr">
              <a:spcAft>
                <a:spcPts val="600"/>
              </a:spcAft>
            </a:pPr>
            <a:r>
              <a:rPr lang="en-US" sz="2400" b="1">
                <a:cs typeface="Times New Roman" panose="02020603050405020304" pitchFamily="18" charset="0"/>
              </a:rPr>
              <a:t>Biên </a:t>
            </a:r>
            <a:r>
              <a:rPr lang="en-US" sz="2400" b="1" dirty="0" err="1">
                <a:cs typeface="Times New Roman" panose="02020603050405020304" pitchFamily="18" charset="0"/>
              </a:rPr>
              <a:t>soạn</a:t>
            </a:r>
            <a:r>
              <a:rPr lang="en-US" sz="2400" b="1" dirty="0">
                <a:cs typeface="Times New Roman" panose="02020603050405020304" pitchFamily="18" charset="0"/>
              </a:rPr>
              <a:t>: </a:t>
            </a:r>
            <a:r>
              <a:rPr lang="en-US" sz="2400" b="1" err="1">
                <a:cs typeface="Times New Roman" panose="02020603050405020304" pitchFamily="18" charset="0"/>
              </a:rPr>
              <a:t>Ths</a:t>
            </a:r>
            <a:r>
              <a:rPr lang="en-US" sz="2400" b="1">
                <a:cs typeface="Times New Roman" panose="02020603050405020304" pitchFamily="18" charset="0"/>
              </a:rPr>
              <a:t>.Lưu Thị Thảo</a:t>
            </a:r>
            <a:endParaRPr lang="en-US" sz="2400" b="1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488950" y="6454776"/>
            <a:ext cx="927100" cy="239713"/>
          </a:xfrm>
          <a:prstGeom prst="rect">
            <a:avLst/>
          </a:prstGeom>
        </p:spPr>
        <p:txBody>
          <a:bodyPr/>
          <a:lstStyle/>
          <a:p>
            <a:fld id="{8F77FC70-716C-40BF-B175-2B48BE74B56A}" type="slidenum">
              <a:rPr lang="en-US" smtClean="0">
                <a:solidFill>
                  <a:srgbClr val="000066"/>
                </a:solidFill>
              </a:rPr>
            </a:fld>
            <a:endParaRPr lang="en-US">
              <a:solidFill>
                <a:srgbClr val="000066"/>
              </a:solidFill>
            </a:endParaRPr>
          </a:p>
        </p:txBody>
      </p:sp>
      <p:graphicFrame>
        <p:nvGraphicFramePr>
          <p:cNvPr id="9" name="Content Placeholder 3"/>
          <p:cNvGraphicFramePr>
            <a:graphicFrameLocks noGrp="1"/>
          </p:cNvGraphicFramePr>
          <p:nvPr>
            <p:ph idx="1"/>
          </p:nvPr>
        </p:nvGraphicFramePr>
        <p:xfrm>
          <a:off x="1831428" y="1639615"/>
          <a:ext cx="7007772" cy="39182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133600" y="2491770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  <a:latin typeface="Fira Sans ExtraBold" panose="020B0903050000020004" pitchFamily="34" charset="0"/>
              </a:rPr>
              <a:t>2.1</a:t>
            </a:r>
            <a:endParaRPr lang="en-US" sz="2800">
              <a:solidFill>
                <a:schemeClr val="bg1"/>
              </a:solidFill>
              <a:latin typeface="Fira Sans ExtraBold" panose="020B09030500000200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62200" y="3362980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  <a:latin typeface="Fira Sans ExtraBold" panose="020B0903050000020004" pitchFamily="34" charset="0"/>
              </a:rPr>
              <a:t>2.2</a:t>
            </a:r>
            <a:endParaRPr lang="en-US" sz="2800">
              <a:solidFill>
                <a:schemeClr val="bg1"/>
              </a:solidFill>
              <a:latin typeface="Fira Sans ExtraBold" panose="020B09030500000200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67270" y="4215135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  <a:latin typeface="Fira Sans ExtraBold" panose="020B0903050000020004" pitchFamily="34" charset="0"/>
              </a:rPr>
              <a:t>2.3</a:t>
            </a:r>
            <a:endParaRPr lang="en-US" sz="2800">
              <a:solidFill>
                <a:schemeClr val="bg1"/>
              </a:solidFill>
              <a:latin typeface="Fira Sans ExtraBold" panose="020B09030500000200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80813" y="174992"/>
            <a:ext cx="81633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	</a:t>
            </a:r>
            <a:r>
              <a:rPr lang="en-US" sz="3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 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QUÁT NỘI DUNG BÀI HỌC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3784" y="176733"/>
            <a:ext cx="7330054" cy="46799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2.1</a:t>
            </a:r>
            <a:r>
              <a:rPr lang="en-US">
                <a:solidFill>
                  <a:schemeClr val="bg1"/>
                </a:solidFill>
              </a:rPr>
              <a:t>. KHẢO SÁT HỆ THỐNG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176" y="955954"/>
            <a:ext cx="9469777" cy="5210929"/>
          </a:xfrm>
        </p:spPr>
        <p:txBody>
          <a:bodyPr/>
          <a:lstStyle/>
          <a:p>
            <a:pPr marL="0" indent="0" algn="just">
              <a:buNone/>
              <a:defRPr/>
            </a:pPr>
            <a:r>
              <a:rPr lang="en-US" sz="2800" b="1" i="1">
                <a:solidFill>
                  <a:srgbClr val="000000"/>
                </a:solidFill>
                <a:effectLst/>
                <a:latin typeface="+mn-lt"/>
              </a:rPr>
              <a:t>2</a:t>
            </a:r>
            <a:r>
              <a:rPr lang="vi-VN" sz="2800" b="1" i="1">
                <a:solidFill>
                  <a:srgbClr val="000000"/>
                </a:solidFill>
                <a:effectLst/>
                <a:latin typeface="+mn-lt"/>
              </a:rPr>
              <a:t>.1.1 Đại cương về khảo sát</a:t>
            </a:r>
            <a:r>
              <a:rPr lang="vi-VN" sz="2800">
                <a:latin typeface="+mn-lt"/>
              </a:rPr>
              <a:t> </a:t>
            </a:r>
            <a:endParaRPr lang="en-US" sz="2800">
              <a:latin typeface="+mn-lt"/>
            </a:endParaRPr>
          </a:p>
          <a:p>
            <a:pPr marL="0" indent="457200" algn="just">
              <a:buNone/>
              <a:defRPr/>
            </a:pPr>
            <a:r>
              <a:rPr lang="vi-VN" sz="2800" b="0" i="0">
                <a:solidFill>
                  <a:srgbClr val="000000"/>
                </a:solidFill>
                <a:effectLst/>
                <a:latin typeface="+mn-lt"/>
              </a:rPr>
              <a:t>Mục đích của công tác khảo sát hiện trạng</a:t>
            </a:r>
            <a:r>
              <a:rPr lang="en-US" sz="2800" b="0" i="0">
                <a:solidFill>
                  <a:srgbClr val="000000"/>
                </a:solidFill>
                <a:effectLst/>
                <a:latin typeface="+mn-lt"/>
              </a:rPr>
              <a:t>: </a:t>
            </a:r>
            <a:r>
              <a:rPr lang="vi-VN" sz="2800" b="0" i="0">
                <a:solidFill>
                  <a:srgbClr val="000000"/>
                </a:solidFill>
                <a:effectLst/>
                <a:latin typeface="+mn-lt"/>
              </a:rPr>
              <a:t>Qua quá trình </a:t>
            </a:r>
            <a:r>
              <a:rPr lang="vi-VN" sz="2800" b="0" i="1">
                <a:solidFill>
                  <a:srgbClr val="3333CC"/>
                </a:solidFill>
                <a:effectLst/>
                <a:latin typeface="+mn-lt"/>
              </a:rPr>
              <a:t>khảo sát từ sơ bộ đến chi tiết hệ thống</a:t>
            </a:r>
            <a:r>
              <a:rPr lang="vi-VN" sz="2800" b="0" i="0">
                <a:solidFill>
                  <a:srgbClr val="000000"/>
                </a:solidFill>
                <a:effectLst/>
                <a:latin typeface="+mn-lt"/>
              </a:rPr>
              <a:t> hiện tại ta phải có được các</a:t>
            </a:r>
            <a:r>
              <a:rPr lang="en-US" sz="2800" b="0" i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vi-VN" sz="2800" b="0" i="0">
                <a:solidFill>
                  <a:srgbClr val="000000"/>
                </a:solidFill>
                <a:effectLst/>
                <a:latin typeface="+mn-lt"/>
              </a:rPr>
              <a:t>thông tin về hệ thống, qua đó đề xuất được các</a:t>
            </a:r>
            <a:r>
              <a:rPr lang="en-US" sz="2800" b="0" i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vi-VN" sz="2800" b="0" i="0">
                <a:solidFill>
                  <a:srgbClr val="000000"/>
                </a:solidFill>
                <a:effectLst/>
                <a:latin typeface="+mn-lt"/>
              </a:rPr>
              <a:t>phương án tối ưu để dự án mang tính khả</a:t>
            </a:r>
            <a:r>
              <a:rPr lang="en-US" sz="2800" b="0" i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vi-VN" sz="2800" b="0" i="0">
                <a:solidFill>
                  <a:srgbClr val="000000"/>
                </a:solidFill>
                <a:effectLst/>
                <a:latin typeface="+mn-lt"/>
              </a:rPr>
              <a:t>thi cao nhất.</a:t>
            </a:r>
            <a:endParaRPr lang="en-US" sz="2800" b="0" i="0">
              <a:solidFill>
                <a:srgbClr val="000000"/>
              </a:solidFill>
              <a:effectLst/>
              <a:latin typeface="+mn-lt"/>
            </a:endParaRPr>
          </a:p>
          <a:p>
            <a:pPr marL="0" indent="0" algn="just">
              <a:buNone/>
              <a:defRPr/>
            </a:pPr>
            <a:r>
              <a:rPr lang="vi-VN" sz="2800" b="1" i="0">
                <a:solidFill>
                  <a:srgbClr val="000000"/>
                </a:solidFill>
                <a:effectLst/>
                <a:latin typeface="+mn-lt"/>
              </a:rPr>
              <a:t>Các bước thực hiện của quá trình khảo sát</a:t>
            </a:r>
            <a:endParaRPr lang="en-US" sz="2800" b="1" i="0">
              <a:solidFill>
                <a:srgbClr val="000000"/>
              </a:solidFill>
              <a:effectLst/>
              <a:latin typeface="+mn-lt"/>
            </a:endParaRPr>
          </a:p>
          <a:p>
            <a:pPr marL="0" indent="457200" algn="just">
              <a:buNone/>
              <a:defRPr/>
            </a:pPr>
            <a:r>
              <a:rPr lang="vi-VN" sz="2800" b="0" i="0">
                <a:solidFill>
                  <a:srgbClr val="000000"/>
                </a:solidFill>
                <a:effectLst/>
                <a:latin typeface="+mn-lt"/>
              </a:rPr>
              <a:t>Khảo sát thường được tiến hành qua </a:t>
            </a:r>
            <a:r>
              <a:rPr lang="vi-VN" sz="2800" b="1" i="0">
                <a:solidFill>
                  <a:srgbClr val="3333CC"/>
                </a:solidFill>
                <a:effectLst/>
                <a:latin typeface="+mn-lt"/>
              </a:rPr>
              <a:t>bốn bước </a:t>
            </a:r>
            <a:r>
              <a:rPr lang="vi-VN" sz="2800" b="0" i="0">
                <a:solidFill>
                  <a:srgbClr val="000000"/>
                </a:solidFill>
                <a:effectLst/>
                <a:latin typeface="+mn-lt"/>
              </a:rPr>
              <a:t>sau:</a:t>
            </a:r>
            <a:endParaRPr lang="en-US" sz="2800" b="0" i="0">
              <a:solidFill>
                <a:srgbClr val="000000"/>
              </a:solidFill>
              <a:effectLst/>
              <a:latin typeface="+mn-lt"/>
            </a:endParaRPr>
          </a:p>
          <a:p>
            <a:pPr algn="just">
              <a:buFont typeface="Wingdings" panose="05000000000000000000" pitchFamily="2" charset="2"/>
              <a:buChar char="§"/>
              <a:defRPr/>
            </a:pPr>
            <a:r>
              <a:rPr lang="vi-VN" sz="2800" b="1" i="0" u="sng">
                <a:solidFill>
                  <a:srgbClr val="3333CC"/>
                </a:solidFill>
                <a:effectLst/>
                <a:latin typeface="+mn-lt"/>
              </a:rPr>
              <a:t>Bước 1:</a:t>
            </a:r>
            <a:r>
              <a:rPr lang="vi-VN" sz="2800" b="0" i="0">
                <a:solidFill>
                  <a:srgbClr val="000000"/>
                </a:solidFill>
                <a:effectLst/>
                <a:latin typeface="+mn-lt"/>
              </a:rPr>
              <a:t> Khảo sát và đánh giá hiện trạng hoạt động của hệ thống cũ</a:t>
            </a:r>
            <a:r>
              <a:rPr lang="en-US" sz="2800" b="0" i="0">
                <a:solidFill>
                  <a:srgbClr val="000000"/>
                </a:solidFill>
                <a:effectLst/>
                <a:latin typeface="+mn-lt"/>
              </a:rPr>
              <a:t>.</a:t>
            </a:r>
            <a:endParaRPr lang="en-US" sz="2800" b="0" i="0">
              <a:solidFill>
                <a:srgbClr val="000000"/>
              </a:solidFill>
              <a:effectLst/>
              <a:latin typeface="+mn-lt"/>
            </a:endParaRPr>
          </a:p>
          <a:p>
            <a:pPr marL="0" indent="0" algn="just">
              <a:buNone/>
              <a:defRPr/>
            </a:pPr>
            <a:r>
              <a:rPr lang="vi-VN" sz="2800" b="0" i="0">
                <a:solidFill>
                  <a:srgbClr val="000000"/>
                </a:solidFill>
                <a:effectLst/>
                <a:latin typeface="+mn-lt"/>
              </a:rPr>
              <a:t>Bước này nhằm tìm hiểu các hoạt động của hệ thống hiện tại để xác định các thế</a:t>
            </a:r>
            <a:r>
              <a:rPr lang="en-US" sz="2800">
                <a:solidFill>
                  <a:srgbClr val="000000"/>
                </a:solidFill>
                <a:latin typeface="+mn-lt"/>
              </a:rPr>
              <a:t> </a:t>
            </a:r>
            <a:r>
              <a:rPr lang="vi-VN" sz="2800" b="0" i="0">
                <a:solidFill>
                  <a:srgbClr val="000000"/>
                </a:solidFill>
                <a:effectLst/>
                <a:latin typeface="+mn-lt"/>
              </a:rPr>
              <a:t>mạnh và các yếu kém của nó.</a:t>
            </a:r>
            <a:endParaRPr lang="en-US" sz="2800" dirty="0">
              <a:latin typeface="+mn-lt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488950" y="6454776"/>
            <a:ext cx="927100" cy="239713"/>
          </a:xfrm>
          <a:prstGeom prst="rect">
            <a:avLst/>
          </a:prstGeom>
        </p:spPr>
        <p:txBody>
          <a:bodyPr/>
          <a:lstStyle/>
          <a:p>
            <a:fld id="{8F77FC70-716C-40BF-B175-2B48BE74B56A}" type="slidenum">
              <a:rPr lang="en-US" smtClean="0">
                <a:solidFill>
                  <a:srgbClr val="000066"/>
                </a:solidFill>
              </a:rPr>
            </a:fld>
            <a:endParaRPr lang="en-US">
              <a:solidFill>
                <a:srgbClr val="000066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4549" y="978196"/>
            <a:ext cx="9526772" cy="5064252"/>
          </a:xfrm>
        </p:spPr>
        <p:txBody>
          <a:bodyPr/>
          <a:lstStyle/>
          <a:p>
            <a:pPr marL="52705" indent="457200"/>
            <a:r>
              <a:rPr lang="vi-VN" sz="2400" b="1" i="0" u="sng">
                <a:solidFill>
                  <a:srgbClr val="3333CC"/>
                </a:solidFill>
                <a:effectLst/>
                <a:latin typeface="+mn-lt"/>
              </a:rPr>
              <a:t>Bước 2:</a:t>
            </a:r>
            <a:r>
              <a:rPr lang="vi-VN" sz="2400" b="0" i="0">
                <a:solidFill>
                  <a:srgbClr val="000000"/>
                </a:solidFill>
                <a:effectLst/>
                <a:latin typeface="+mn-lt"/>
              </a:rPr>
              <a:t> Đề xuất mục tiêu cho hệ thống mới</a:t>
            </a:r>
            <a:endParaRPr lang="en-US" sz="2400">
              <a:solidFill>
                <a:srgbClr val="000000"/>
              </a:solidFill>
              <a:latin typeface="+mn-lt"/>
            </a:endParaRPr>
          </a:p>
          <a:p>
            <a:pPr marL="0" indent="0" algn="just">
              <a:buNone/>
            </a:pPr>
            <a:r>
              <a:rPr lang="vi-VN" sz="2400" b="0" i="0">
                <a:solidFill>
                  <a:srgbClr val="000000"/>
                </a:solidFill>
                <a:effectLst/>
                <a:latin typeface="+mn-lt"/>
              </a:rPr>
              <a:t>Bước này nhằm xác định phạm vi ứng dụng và các ưu nhược điểm của hệ thống dự</a:t>
            </a:r>
            <a:r>
              <a:rPr lang="en-US" sz="2400" b="0" i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  <a:latin typeface="+mn-lt"/>
              </a:rPr>
              <a:t>kiến. Khi thực hiên cần xác định rõ lĩnh vực mà hệ thống mới sẽ làm, những thuận lợi và</a:t>
            </a:r>
            <a:r>
              <a:rPr lang="en-US" sz="2400" b="0" i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  <a:latin typeface="+mn-lt"/>
              </a:rPr>
              <a:t>những khó khăn khi cải tiến hệ thống.</a:t>
            </a:r>
            <a:endParaRPr lang="en-US" sz="2400" b="0" i="0">
              <a:solidFill>
                <a:srgbClr val="000000"/>
              </a:solidFill>
              <a:effectLst/>
              <a:latin typeface="+mn-lt"/>
            </a:endParaRPr>
          </a:p>
          <a:p>
            <a:pPr marL="0" indent="457200"/>
            <a:r>
              <a:rPr lang="vi-VN" sz="2400" b="1" u="sng">
                <a:solidFill>
                  <a:srgbClr val="3333CC"/>
                </a:solidFill>
                <a:latin typeface="+mn-lt"/>
              </a:rPr>
              <a:t>Bước</a:t>
            </a:r>
            <a:r>
              <a:rPr lang="vi-VN" sz="2400" b="1" i="0" u="sng">
                <a:solidFill>
                  <a:srgbClr val="3333CC"/>
                </a:solidFill>
                <a:effectLst/>
                <a:latin typeface="+mn-lt"/>
              </a:rPr>
              <a:t> 3:</a:t>
            </a:r>
            <a:r>
              <a:rPr lang="vi-VN" sz="2400" b="0" i="0">
                <a:solidFill>
                  <a:srgbClr val="000000"/>
                </a:solidFill>
                <a:effectLst/>
                <a:latin typeface="+mn-lt"/>
              </a:rPr>
              <a:t> Đề xuất ý tưởng cho giải pháp mới</a:t>
            </a:r>
            <a:endParaRPr lang="en-US" sz="2400" b="0" i="0">
              <a:solidFill>
                <a:srgbClr val="000000"/>
              </a:solidFill>
              <a:effectLst/>
              <a:latin typeface="+mn-lt"/>
            </a:endParaRPr>
          </a:p>
          <a:p>
            <a:pPr marL="0" indent="0" algn="just">
              <a:buNone/>
            </a:pPr>
            <a:r>
              <a:rPr lang="vi-VN" sz="2400" b="0" i="0">
                <a:solidFill>
                  <a:srgbClr val="000000"/>
                </a:solidFill>
                <a:effectLst/>
                <a:latin typeface="+mn-lt"/>
              </a:rPr>
              <a:t>Bước này phải cân nhắc đến tính khả thi của giải pháp mới, phải phác họa ra các</a:t>
            </a:r>
            <a:r>
              <a:rPr lang="en-US" sz="2400" b="0" i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  <a:latin typeface="+mn-lt"/>
              </a:rPr>
              <a:t>giải pháp để thoả mãn các yêu cầu của hệ thống mới đồng thời đưa ra các đánh giá về mọi</a:t>
            </a:r>
            <a:r>
              <a:rPr lang="en-US" sz="2400" b="0" i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  <a:latin typeface="+mn-lt"/>
              </a:rPr>
              <a:t>mặt như kinh tế, xã hội, thuận tiện.. để có thể đưa ra quyết định lựa chọn cuối cùng.</a:t>
            </a:r>
            <a:endParaRPr lang="en-US" sz="2400" b="0" i="0">
              <a:solidFill>
                <a:srgbClr val="000000"/>
              </a:solidFill>
              <a:effectLst/>
              <a:latin typeface="+mn-lt"/>
            </a:endParaRPr>
          </a:p>
          <a:p>
            <a:pPr marL="0" indent="457200" algn="just"/>
            <a:r>
              <a:rPr lang="vi-VN" sz="2400" b="1" i="0" u="sng">
                <a:solidFill>
                  <a:srgbClr val="3333CC"/>
                </a:solidFill>
                <a:effectLst/>
                <a:latin typeface="+mn-lt"/>
              </a:rPr>
              <a:t>Bước 4:</a:t>
            </a:r>
            <a:r>
              <a:rPr lang="vi-VN" sz="2400" b="1" i="0">
                <a:solidFill>
                  <a:srgbClr val="3333CC"/>
                </a:solidFill>
                <a:effectLst/>
                <a:latin typeface="+mn-lt"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  <a:latin typeface="+mn-lt"/>
              </a:rPr>
              <a:t>Vạch kế hoạch cho dự án cùng với dự trù tổng quát</a:t>
            </a:r>
            <a:br>
              <a:rPr lang="vi-VN" sz="2400" b="0" i="0">
                <a:solidFill>
                  <a:srgbClr val="000000"/>
                </a:solidFill>
                <a:effectLst/>
                <a:latin typeface="+mn-lt"/>
              </a:rPr>
            </a:br>
            <a:r>
              <a:rPr lang="vi-VN" sz="2400" b="0" i="0">
                <a:solidFill>
                  <a:srgbClr val="000000"/>
                </a:solidFill>
                <a:effectLst/>
                <a:latin typeface="+mn-lt"/>
              </a:rPr>
              <a:t>Bước này nhằm xây dựng kế hoạch triển khai cho các giai đoạn tiếp theo, đồng thời</a:t>
            </a:r>
            <a:r>
              <a:rPr lang="en-US" sz="2400" b="0" i="0"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  <a:latin typeface="+mn-lt"/>
              </a:rPr>
              <a:t>dự trù các nguồn tài chính, nhân sự, trang thiết bị... để triển khai dự án.</a:t>
            </a:r>
            <a:r>
              <a:rPr lang="vi-VN" sz="2400">
                <a:latin typeface="+mn-lt"/>
              </a:rPr>
              <a:t> </a:t>
            </a:r>
            <a:endParaRPr lang="en-US" sz="240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" smtClean="0"/>
            </a:fld>
            <a:endParaRPr lang="en-US" spc="-5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843784" y="176733"/>
            <a:ext cx="7330054" cy="46799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2.1</a:t>
            </a:r>
            <a:r>
              <a:rPr lang="en-US">
                <a:solidFill>
                  <a:schemeClr val="bg1"/>
                </a:solidFill>
              </a:rPr>
              <a:t>. KHẢO SÁT HỆ THỐNG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" smtClean="0"/>
            </a:fld>
            <a:endParaRPr lang="en-US" spc="-5" dirty="0"/>
          </a:p>
        </p:txBody>
      </p:sp>
      <p:sp>
        <p:nvSpPr>
          <p:cNvPr id="6" name="TextBox 5"/>
          <p:cNvSpPr txBox="1"/>
          <p:nvPr/>
        </p:nvSpPr>
        <p:spPr>
          <a:xfrm>
            <a:off x="374711" y="936793"/>
            <a:ext cx="92477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sz="2400" b="1" i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.1.2 Chiến lược điều tra khảo sát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8651" y="2252620"/>
            <a:ext cx="6920312" cy="39674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9261" y="1541721"/>
            <a:ext cx="656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0" i="0">
                <a:solidFill>
                  <a:srgbClr val="000000"/>
                </a:solidFill>
                <a:effectLst/>
              </a:rPr>
              <a:t>Các triển khai một chiến lược điều tra:</a:t>
            </a:r>
            <a:r>
              <a:rPr lang="vi-VN" sz="2400"/>
              <a:t> </a:t>
            </a:r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3784" y="176733"/>
            <a:ext cx="7330054" cy="46799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2.1</a:t>
            </a:r>
            <a:r>
              <a:rPr lang="en-US">
                <a:solidFill>
                  <a:schemeClr val="bg1"/>
                </a:solidFill>
              </a:rPr>
              <a:t>. KHẢO SÁT HỆ THỐNG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" smtClean="0"/>
            </a:fld>
            <a:endParaRPr lang="en-US" spc="-5" dirty="0"/>
          </a:p>
        </p:txBody>
      </p:sp>
      <p:sp>
        <p:nvSpPr>
          <p:cNvPr id="3" name="TextBox 2"/>
          <p:cNvSpPr txBox="1"/>
          <p:nvPr/>
        </p:nvSpPr>
        <p:spPr>
          <a:xfrm>
            <a:off x="450722" y="904896"/>
            <a:ext cx="92036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>
                <a:solidFill>
                  <a:srgbClr val="000000"/>
                </a:solidFill>
                <a:effectLst/>
              </a:rPr>
              <a:t>2</a:t>
            </a:r>
            <a:r>
              <a:rPr lang="vi-VN" sz="2400" b="1" i="1">
                <a:solidFill>
                  <a:srgbClr val="000000"/>
                </a:solidFill>
                <a:effectLst/>
              </a:rPr>
              <a:t>.1.3 Một số phương pháp điều tra khảo sát</a:t>
            </a:r>
            <a:r>
              <a:rPr lang="vi-VN" sz="2400"/>
              <a:t> </a:t>
            </a:r>
            <a:endParaRPr lang="en-US" sz="2400"/>
          </a:p>
        </p:txBody>
      </p:sp>
      <p:sp>
        <p:nvSpPr>
          <p:cNvPr id="5" name="TextBox 4"/>
          <p:cNvSpPr txBox="1"/>
          <p:nvPr/>
        </p:nvSpPr>
        <p:spPr>
          <a:xfrm>
            <a:off x="450722" y="1366561"/>
            <a:ext cx="910794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"/>
            </a:pPr>
            <a:r>
              <a:rPr lang="vi-VN" sz="2000" b="1" i="0">
                <a:solidFill>
                  <a:srgbClr val="000000"/>
                </a:solidFill>
                <a:effectLst/>
              </a:rPr>
              <a:t>Phương pháp quan sát:</a:t>
            </a:r>
            <a:endParaRPr lang="en-US" sz="2000" b="1" i="0">
              <a:solidFill>
                <a:srgbClr val="000000"/>
              </a:solidFill>
              <a:effectLst/>
            </a:endParaRPr>
          </a:p>
          <a:p>
            <a:pPr indent="457200" algn="just"/>
            <a:r>
              <a:rPr lang="vi-VN" sz="2000" b="0" i="1">
                <a:solidFill>
                  <a:srgbClr val="3333CC"/>
                </a:solidFill>
                <a:effectLst/>
              </a:rPr>
              <a:t>Quan sát trực tiếp: </a:t>
            </a:r>
            <a:r>
              <a:rPr lang="vi-VN" sz="2000" b="0" i="0">
                <a:solidFill>
                  <a:srgbClr val="000000"/>
                </a:solidFill>
                <a:effectLst/>
              </a:rPr>
              <a:t>là hình thức quan sát bằng mắt, quan sát tại chỗ, quan sát tỉ mỉ</a:t>
            </a:r>
            <a:r>
              <a:rPr lang="en-US" sz="2000" b="0" i="0">
                <a:solidFill>
                  <a:srgbClr val="000000"/>
                </a:solidFill>
                <a:effectLst/>
              </a:rPr>
              <a:t> </a:t>
            </a:r>
            <a:r>
              <a:rPr lang="vi-VN" sz="2000" b="0" i="0">
                <a:solidFill>
                  <a:srgbClr val="000000"/>
                </a:solidFill>
                <a:effectLst/>
              </a:rPr>
              <a:t>từng chi tiết công việc của hệ thống cũ, của các nhân viên thừa hành.</a:t>
            </a:r>
            <a:endParaRPr lang="en-US" sz="2000">
              <a:solidFill>
                <a:srgbClr val="000000"/>
              </a:solidFill>
            </a:endParaRPr>
          </a:p>
          <a:p>
            <a:pPr indent="457200" algn="just"/>
            <a:r>
              <a:rPr lang="vi-VN" sz="2000" b="0" i="1">
                <a:solidFill>
                  <a:srgbClr val="3333CC"/>
                </a:solidFill>
                <a:effectLst/>
              </a:rPr>
              <a:t>Quan sát gián tiếp: </a:t>
            </a:r>
            <a:r>
              <a:rPr lang="vi-VN" sz="2000" b="0" i="0">
                <a:solidFill>
                  <a:srgbClr val="000000"/>
                </a:solidFill>
                <a:effectLst/>
              </a:rPr>
              <a:t>là hình thức quan sát từ xa hoặc qua phương tiện tổng thể của hệ</a:t>
            </a:r>
            <a:r>
              <a:rPr lang="en-US" sz="2000" b="0" i="0">
                <a:solidFill>
                  <a:srgbClr val="000000"/>
                </a:solidFill>
                <a:effectLst/>
              </a:rPr>
              <a:t> </a:t>
            </a:r>
            <a:r>
              <a:rPr lang="vi-VN" sz="2000" b="0" i="0">
                <a:solidFill>
                  <a:srgbClr val="000000"/>
                </a:solidFill>
                <a:effectLst/>
              </a:rPr>
              <a:t>thống để có được bức tranh khái quát về tổ chức và cách thức hoạt động trong tổ chức đó.</a:t>
            </a:r>
            <a:endParaRPr lang="en-US" sz="2000" b="0" i="0">
              <a:solidFill>
                <a:srgbClr val="000000"/>
              </a:solidFill>
              <a:effectLst/>
            </a:endParaRPr>
          </a:p>
          <a:p>
            <a:pPr indent="457200" algn="just"/>
            <a:r>
              <a:rPr lang="vi-VN" sz="2000" b="0" i="0">
                <a:solidFill>
                  <a:srgbClr val="000000"/>
                </a:solidFill>
                <a:effectLst/>
              </a:rPr>
              <a:t>Tác dụng của phương pháp quan sát:</a:t>
            </a:r>
            <a:endParaRPr lang="en-US" sz="2000" b="0" i="0">
              <a:solidFill>
                <a:srgbClr val="000000"/>
              </a:solidFill>
              <a:effectLst/>
            </a:endParaRPr>
          </a:p>
          <a:p>
            <a:pPr indent="457200" algn="just"/>
            <a:r>
              <a:rPr lang="vi-VN" sz="2000" b="0" i="0">
                <a:solidFill>
                  <a:srgbClr val="000000"/>
                </a:solidFill>
                <a:effectLst/>
              </a:rPr>
              <a:t>Giúp cho người quan sát thấy được cách quản lý các hoạt động của tổ chức cần tìm</a:t>
            </a:r>
            <a:r>
              <a:rPr lang="en-US" sz="2000" b="0" i="0">
                <a:solidFill>
                  <a:srgbClr val="000000"/>
                </a:solidFill>
                <a:effectLst/>
              </a:rPr>
              <a:t> </a:t>
            </a:r>
            <a:r>
              <a:rPr lang="vi-VN" sz="2000" b="0" i="0">
                <a:solidFill>
                  <a:srgbClr val="000000"/>
                </a:solidFill>
                <a:effectLst/>
              </a:rPr>
              <a:t>hiểu</a:t>
            </a:r>
            <a:r>
              <a:rPr lang="vi-VN" sz="2000"/>
              <a:t> </a:t>
            </a:r>
            <a:r>
              <a:rPr lang="en-US" sz="2000"/>
              <a:t>.</a:t>
            </a:r>
            <a:endParaRPr lang="en-US" sz="2000"/>
          </a:p>
        </p:txBody>
      </p:sp>
      <p:sp>
        <p:nvSpPr>
          <p:cNvPr id="6" name="TextBox 5"/>
          <p:cNvSpPr txBox="1"/>
          <p:nvPr/>
        </p:nvSpPr>
        <p:spPr>
          <a:xfrm>
            <a:off x="450722" y="4228883"/>
            <a:ext cx="412127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b="1" i="1">
                <a:solidFill>
                  <a:srgbClr val="3333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Ưu điểm:</a:t>
            </a:r>
            <a:br>
              <a:rPr lang="vi-VN" sz="2000" b="0" i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vi-VN" sz="20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Dễ thực hiện đối với người quan sát</a:t>
            </a:r>
            <a:br>
              <a:rPr lang="vi-VN" sz="20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vi-VN" sz="20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Theo dõi trực tiếp hoạt động của hệ thống trong thực tế</a:t>
            </a:r>
            <a:r>
              <a:rPr lang="vi-VN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953000" y="3995678"/>
            <a:ext cx="489097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>
                <a:solidFill>
                  <a:srgbClr val="33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Nhược điểm:</a:t>
            </a:r>
            <a:endParaRPr lang="en-US" sz="2000" b="1" i="1">
              <a:solidFill>
                <a:srgbClr val="3333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Tx/>
              <a:buChar char="-"/>
            </a:pPr>
            <a:r>
              <a:rPr lang="vi-VN"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 quả mang tính chủ quan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Tx/>
              <a:buChar char="-"/>
            </a:pPr>
            <a:r>
              <a:rPr lang="vi-VN"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Người bị quan sát có những phản ứng nhất định do ảnh hưởng của tâm lý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Tx/>
              <a:buChar char="-"/>
            </a:pPr>
            <a:r>
              <a:rPr lang="vi-VN"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Người quan sát bị động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Tx/>
              <a:buChar char="-"/>
            </a:pPr>
            <a:r>
              <a:rPr lang="vi-VN"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Tốn thời gian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Tx/>
              <a:buChar char="-"/>
            </a:pPr>
            <a:r>
              <a:rPr lang="vi-VN"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 tin mang tính bề ngoài, hạn chế, không thể hiện đầy đủ.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4774019" y="4228883"/>
            <a:ext cx="0" cy="216128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3784" y="176733"/>
            <a:ext cx="7330054" cy="46799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2.1</a:t>
            </a:r>
            <a:r>
              <a:rPr lang="en-US">
                <a:solidFill>
                  <a:schemeClr val="bg1"/>
                </a:solidFill>
              </a:rPr>
              <a:t>. KHẢO SÁT HỆ THỐNG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" smtClean="0"/>
            </a:fld>
            <a:endParaRPr lang="en-US" spc="-5" dirty="0"/>
          </a:p>
        </p:txBody>
      </p:sp>
      <p:sp>
        <p:nvSpPr>
          <p:cNvPr id="2" name="TextBox 1"/>
          <p:cNvSpPr txBox="1"/>
          <p:nvPr/>
        </p:nvSpPr>
        <p:spPr>
          <a:xfrm>
            <a:off x="290623" y="807046"/>
            <a:ext cx="9324753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"/>
            </a:pPr>
            <a:r>
              <a:rPr lang="vi-VN" sz="2000" b="1" i="0">
                <a:solidFill>
                  <a:srgbClr val="000000"/>
                </a:solidFill>
                <a:effectLst/>
              </a:rPr>
              <a:t>Phương pháp phỏng vấn:</a:t>
            </a:r>
            <a:r>
              <a:rPr lang="en-US" sz="2000" b="1" i="0">
                <a:solidFill>
                  <a:srgbClr val="000000"/>
                </a:solidFill>
                <a:effectLst/>
              </a:rPr>
              <a:t> </a:t>
            </a:r>
            <a:r>
              <a:rPr lang="vi-VN" sz="2000" b="0" i="0">
                <a:solidFill>
                  <a:srgbClr val="000000"/>
                </a:solidFill>
                <a:effectLst/>
              </a:rPr>
              <a:t>Là hình thức đối thoại trực tiếp hoặc gián tiếp giữa người phỏng vấn và người được</a:t>
            </a:r>
            <a:r>
              <a:rPr lang="en-US" sz="2000" b="0" i="0">
                <a:solidFill>
                  <a:srgbClr val="000000"/>
                </a:solidFill>
                <a:effectLst/>
              </a:rPr>
              <a:t> </a:t>
            </a:r>
            <a:r>
              <a:rPr lang="vi-VN" sz="2000" b="0" i="0">
                <a:solidFill>
                  <a:srgbClr val="000000"/>
                </a:solidFill>
                <a:effectLst/>
              </a:rPr>
              <a:t>phỏng vấn để thu thập thông tin về một lĩnh vực nào đó.</a:t>
            </a:r>
            <a:r>
              <a:rPr lang="vi-VN" sz="2000"/>
              <a:t> </a:t>
            </a:r>
            <a:endParaRPr lang="en-US" sz="2000"/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vi-VN" sz="2000" b="0" i="0">
                <a:solidFill>
                  <a:srgbClr val="FF0000"/>
                </a:solidFill>
                <a:effectLst/>
              </a:rPr>
              <a:t>Những lưu ý khi tiến hành phỏng vấn:</a:t>
            </a:r>
            <a:endParaRPr lang="en-US" sz="2000">
              <a:solidFill>
                <a:srgbClr val="000000"/>
              </a:solidFill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vi-VN" sz="2000" b="0" i="0">
                <a:solidFill>
                  <a:srgbClr val="000000"/>
                </a:solidFill>
                <a:effectLst/>
              </a:rPr>
              <a:t>Chuẩn bị rõ nội dung chủ đề cuộc phỏng vấn, các câu hỏi, các tài liệu liên quan,</a:t>
            </a:r>
            <a:r>
              <a:rPr lang="en-US" sz="2000" b="0" i="0">
                <a:solidFill>
                  <a:srgbClr val="000000"/>
                </a:solidFill>
                <a:effectLst/>
              </a:rPr>
              <a:t> </a:t>
            </a:r>
            <a:r>
              <a:rPr lang="vi-VN" sz="2000" b="0" i="0">
                <a:solidFill>
                  <a:srgbClr val="000000"/>
                </a:solidFill>
                <a:effectLst/>
              </a:rPr>
              <a:t>mục đích cần thu được các thông tin gì sau phỏng vấn.</a:t>
            </a:r>
            <a:endParaRPr lang="en-US" sz="2000" b="0" i="0">
              <a:solidFill>
                <a:srgbClr val="000000"/>
              </a:solidFill>
              <a:effectLst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vi-VN" sz="2000" b="0" i="0">
                <a:solidFill>
                  <a:srgbClr val="000000"/>
                </a:solidFill>
                <a:effectLst/>
              </a:rPr>
              <a:t>Chọn số người phỏng vấn, thống nhất trước nội dung, chủ đề cuộc phỏng vấn để</a:t>
            </a:r>
            <a:r>
              <a:rPr lang="en-US" sz="2000" b="0" i="0">
                <a:solidFill>
                  <a:srgbClr val="000000"/>
                </a:solidFill>
                <a:effectLst/>
              </a:rPr>
              <a:t> </a:t>
            </a:r>
            <a:r>
              <a:rPr lang="vi-VN" sz="2000" b="0" i="0">
                <a:solidFill>
                  <a:srgbClr val="000000"/>
                </a:solidFill>
                <a:effectLst/>
              </a:rPr>
              <a:t>các bên có thời gian chuẩn bị.</a:t>
            </a:r>
            <a:endParaRPr lang="en-US" sz="2000" b="0" i="0">
              <a:solidFill>
                <a:srgbClr val="000000"/>
              </a:solidFill>
              <a:effectLst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vi-VN" sz="2000" b="0" i="0">
                <a:solidFill>
                  <a:srgbClr val="000000"/>
                </a:solidFill>
                <a:effectLst/>
              </a:rPr>
              <a:t>Lựa chọn các câu hỏi hợp lý: Xác định rõ loại câu hỏi sẽ đưa ra, câu hỏi mở hay</a:t>
            </a:r>
            <a:r>
              <a:rPr lang="en-US" sz="2000" b="0" i="0">
                <a:solidFill>
                  <a:srgbClr val="000000"/>
                </a:solidFill>
                <a:effectLst/>
              </a:rPr>
              <a:t> </a:t>
            </a:r>
            <a:r>
              <a:rPr lang="vi-VN" sz="2000" b="0" i="0">
                <a:solidFill>
                  <a:srgbClr val="000000"/>
                </a:solidFill>
                <a:effectLst/>
              </a:rPr>
              <a:t>câu hỏi đóng tuỳ theo yêu cầu nội dung phỏng vấn. (Câu hỏi mở có nhiều cách trả lời, câu</a:t>
            </a:r>
            <a:r>
              <a:rPr lang="en-US" sz="2000" b="0" i="0">
                <a:solidFill>
                  <a:srgbClr val="000000"/>
                </a:solidFill>
                <a:effectLst/>
              </a:rPr>
              <a:t> </a:t>
            </a:r>
            <a:r>
              <a:rPr lang="vi-VN" sz="2000" b="0" i="0">
                <a:solidFill>
                  <a:srgbClr val="000000"/>
                </a:solidFill>
                <a:effectLst/>
              </a:rPr>
              <a:t>hỏi đóng các câu trả lời xác định trước).</a:t>
            </a:r>
            <a:endParaRPr lang="en-US" sz="2000" b="0" i="0">
              <a:solidFill>
                <a:srgbClr val="000000"/>
              </a:solidFill>
              <a:effectLst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vi-VN" sz="2000" b="0" i="0">
                <a:solidFill>
                  <a:srgbClr val="000000"/>
                </a:solidFill>
                <a:effectLst/>
              </a:rPr>
              <a:t>Luôn giữ tinh thần thoải mái, thái độ đúng mực khi phỏng vấn.</a:t>
            </a:r>
            <a:endParaRPr lang="en-US" sz="2000">
              <a:solidFill>
                <a:srgbClr val="000000"/>
              </a:solidFill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vi-VN" sz="2000" b="0" i="0">
                <a:solidFill>
                  <a:srgbClr val="3333CC"/>
                </a:solidFill>
                <a:effectLst/>
              </a:rPr>
              <a:t>Tác dụng của phương pháp phỏng vấn:</a:t>
            </a:r>
            <a:endParaRPr lang="en-US" sz="2000" b="0" i="0">
              <a:solidFill>
                <a:srgbClr val="3333CC"/>
              </a:solidFill>
              <a:effectLst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vi-VN" sz="2000" b="0" i="0">
                <a:solidFill>
                  <a:srgbClr val="000000"/>
                </a:solidFill>
                <a:effectLst/>
              </a:rPr>
              <a:t>Cho phép chúng ta nắm được nguồn thông tin chính yếu nhất về một hệ thống cần</a:t>
            </a:r>
            <a:r>
              <a:rPr lang="en-US" sz="2000" b="0" i="0">
                <a:solidFill>
                  <a:srgbClr val="000000"/>
                </a:solidFill>
                <a:effectLst/>
              </a:rPr>
              <a:t> </a:t>
            </a:r>
            <a:r>
              <a:rPr lang="vi-VN" sz="2000" b="0" i="0">
                <a:solidFill>
                  <a:srgbClr val="000000"/>
                </a:solidFill>
                <a:effectLst/>
              </a:rPr>
              <a:t>phát triển trong tương lai và hệ thống hiện tại.</a:t>
            </a:r>
            <a:r>
              <a:rPr lang="vi-VN" sz="2000"/>
              <a:t> </a:t>
            </a:r>
            <a:endParaRPr lang="en-US" sz="2000"/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843784" y="176733"/>
            <a:ext cx="7330054" cy="46799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2.1</a:t>
            </a:r>
            <a:r>
              <a:rPr lang="en-US">
                <a:solidFill>
                  <a:schemeClr val="bg1"/>
                </a:solidFill>
              </a:rPr>
              <a:t>. KHẢO SÁT HỆ THỐNG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" smtClean="0"/>
            </a:fld>
            <a:endParaRPr lang="en-US" spc="-5" dirty="0"/>
          </a:p>
        </p:txBody>
      </p:sp>
      <p:sp>
        <p:nvSpPr>
          <p:cNvPr id="2" name="TextBox 1"/>
          <p:cNvSpPr txBox="1"/>
          <p:nvPr/>
        </p:nvSpPr>
        <p:spPr>
          <a:xfrm>
            <a:off x="450722" y="1116419"/>
            <a:ext cx="470606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000" b="1" i="1">
                <a:solidFill>
                  <a:srgbClr val="3333CC"/>
                </a:solidFill>
                <a:effectLst/>
              </a:rPr>
              <a:t>Ưu điểm:</a:t>
            </a:r>
            <a:endParaRPr lang="en-US" sz="2000" b="1" i="1">
              <a:solidFill>
                <a:srgbClr val="3333CC"/>
              </a:solidFill>
              <a:effectLst/>
            </a:endParaRPr>
          </a:p>
          <a:p>
            <a:pPr marL="342900" indent="-342900" algn="just">
              <a:buFontTx/>
              <a:buChar char="-"/>
            </a:pPr>
            <a:r>
              <a:rPr lang="vi-VN" sz="2000" b="0" i="0">
                <a:solidFill>
                  <a:srgbClr val="000000"/>
                </a:solidFill>
                <a:effectLst/>
              </a:rPr>
              <a:t>Thông tin thu thập được trực tiếp nên có độ chính xác cao</a:t>
            </a:r>
            <a:endParaRPr lang="en-US" sz="2000" b="0" i="0">
              <a:solidFill>
                <a:srgbClr val="000000"/>
              </a:solidFill>
              <a:effectLst/>
            </a:endParaRPr>
          </a:p>
          <a:p>
            <a:pPr marL="342900" indent="-342900" algn="just">
              <a:buFontTx/>
              <a:buChar char="-"/>
            </a:pPr>
            <a:r>
              <a:rPr lang="vi-VN" sz="2000" b="0" i="0">
                <a:solidFill>
                  <a:srgbClr val="000000"/>
                </a:solidFill>
                <a:effectLst/>
              </a:rPr>
              <a:t>Biết được khá đầy đủ các yêu cầu của người sử dụng đối với hệ thống mới</a:t>
            </a:r>
            <a:endParaRPr lang="en-US" sz="2000" b="0" i="0">
              <a:solidFill>
                <a:srgbClr val="000000"/>
              </a:solidFill>
              <a:effectLst/>
            </a:endParaRPr>
          </a:p>
          <a:p>
            <a:pPr marL="342900" indent="-342900" algn="just">
              <a:buFontTx/>
              <a:buChar char="-"/>
            </a:pPr>
            <a:r>
              <a:rPr lang="vi-VN" sz="2000" b="0" i="0">
                <a:solidFill>
                  <a:srgbClr val="000000"/>
                </a:solidFill>
                <a:effectLst/>
              </a:rPr>
              <a:t>Nếu có nhiều dự án xây dựng hệ thống thông tin khác nhau đối với cùng một tổ</a:t>
            </a:r>
            <a:r>
              <a:rPr lang="en-US" sz="2000" b="0" i="0">
                <a:solidFill>
                  <a:srgbClr val="000000"/>
                </a:solidFill>
                <a:effectLst/>
              </a:rPr>
              <a:t> </a:t>
            </a:r>
            <a:r>
              <a:rPr lang="vi-VN" sz="2000" b="0" i="0">
                <a:solidFill>
                  <a:srgbClr val="000000"/>
                </a:solidFill>
                <a:effectLst/>
              </a:rPr>
              <a:t>chức thì qua việc phỏng vấn lãnh đạo có thể xác định được</a:t>
            </a:r>
            <a:r>
              <a:rPr lang="en-US" sz="2000" b="0" i="0">
                <a:solidFill>
                  <a:srgbClr val="000000"/>
                </a:solidFill>
                <a:effectLst/>
              </a:rPr>
              <a:t> </a:t>
            </a:r>
            <a:r>
              <a:rPr lang="vi-VN" sz="2000" b="0" i="0">
                <a:solidFill>
                  <a:srgbClr val="000000"/>
                </a:solidFill>
                <a:effectLst/>
              </a:rPr>
              <a:t>quan hệ giữa các dự án này để</a:t>
            </a:r>
            <a:r>
              <a:rPr lang="en-US" sz="2000" b="0" i="0">
                <a:solidFill>
                  <a:srgbClr val="000000"/>
                </a:solidFill>
                <a:effectLst/>
              </a:rPr>
              <a:t> </a:t>
            </a:r>
            <a:r>
              <a:rPr lang="vi-VN" sz="2000" b="0" i="0">
                <a:solidFill>
                  <a:srgbClr val="000000"/>
                </a:solidFill>
                <a:effectLst/>
              </a:rPr>
              <a:t>có thể tận dụng các thành quả đã có</a:t>
            </a:r>
            <a:r>
              <a:rPr lang="en-US" sz="2000" b="0" i="0">
                <a:solidFill>
                  <a:srgbClr val="000000"/>
                </a:solidFill>
                <a:effectLst/>
              </a:rPr>
              <a:t> </a:t>
            </a:r>
            <a:r>
              <a:rPr lang="vi-VN" sz="2000" b="0" i="0">
                <a:solidFill>
                  <a:srgbClr val="000000"/>
                </a:solidFill>
                <a:effectLst/>
              </a:rPr>
              <a:t>hay đảm bảo sự nhất quán cũng như</a:t>
            </a:r>
            <a:r>
              <a:rPr lang="en-US" sz="2000" b="0" i="0">
                <a:solidFill>
                  <a:srgbClr val="000000"/>
                </a:solidFill>
                <a:effectLst/>
              </a:rPr>
              <a:t> </a:t>
            </a:r>
            <a:r>
              <a:rPr lang="vi-VN" sz="2000" b="0" i="0">
                <a:solidFill>
                  <a:srgbClr val="000000"/>
                </a:solidFill>
                <a:effectLst/>
              </a:rPr>
              <a:t>tạo được các giao</a:t>
            </a:r>
            <a:r>
              <a:rPr lang="en-US" sz="2000" b="0" i="0">
                <a:solidFill>
                  <a:srgbClr val="000000"/>
                </a:solidFill>
                <a:effectLst/>
              </a:rPr>
              <a:t> </a:t>
            </a:r>
            <a:r>
              <a:rPr lang="vi-VN" sz="2000" b="0" i="0">
                <a:solidFill>
                  <a:srgbClr val="000000"/>
                </a:solidFill>
                <a:effectLst/>
              </a:rPr>
              <a:t>tiếp với hệ đó.</a:t>
            </a:r>
            <a:r>
              <a:rPr lang="vi-VN" sz="2000"/>
              <a:t> </a:t>
            </a:r>
            <a:endParaRPr lang="en-US" sz="2000"/>
          </a:p>
        </p:txBody>
      </p:sp>
      <p:sp>
        <p:nvSpPr>
          <p:cNvPr id="3" name="TextBox 2"/>
          <p:cNvSpPr txBox="1"/>
          <p:nvPr/>
        </p:nvSpPr>
        <p:spPr>
          <a:xfrm>
            <a:off x="5465134" y="1116419"/>
            <a:ext cx="432745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000" b="1" i="1">
                <a:solidFill>
                  <a:srgbClr val="3333CC"/>
                </a:solidFill>
              </a:rPr>
              <a:t>Nhược điểm:</a:t>
            </a:r>
            <a:endParaRPr lang="en-US" sz="2000" i="1">
              <a:solidFill>
                <a:srgbClr val="000000"/>
              </a:solidFill>
            </a:endParaRPr>
          </a:p>
          <a:p>
            <a:pPr marL="342900" indent="-342900" algn="just">
              <a:buFontTx/>
              <a:buChar char="-"/>
            </a:pPr>
            <a:r>
              <a:rPr lang="vi-VN" sz="2000" b="0" i="0">
                <a:solidFill>
                  <a:srgbClr val="000000"/>
                </a:solidFill>
                <a:effectLst/>
              </a:rPr>
              <a:t>Kết quả thu được phụ thuộc nhiều vào các yếu tố khách quan như sự thân thiện</a:t>
            </a:r>
            <a:r>
              <a:rPr lang="en-US" sz="2000" b="0" i="0">
                <a:solidFill>
                  <a:srgbClr val="000000"/>
                </a:solidFill>
                <a:effectLst/>
              </a:rPr>
              <a:t> </a:t>
            </a:r>
            <a:r>
              <a:rPr lang="vi-VN" sz="2000" b="0" i="0">
                <a:solidFill>
                  <a:srgbClr val="000000"/>
                </a:solidFill>
                <a:effectLst/>
              </a:rPr>
              <a:t>giữa người phỏng vấn và người được phỏng vấn, các yếu tố ngoại cảnh, các yếu tố tình</a:t>
            </a:r>
            <a:r>
              <a:rPr lang="en-US" sz="2000" b="0" i="0">
                <a:solidFill>
                  <a:srgbClr val="000000"/>
                </a:solidFill>
                <a:effectLst/>
              </a:rPr>
              <a:t> </a:t>
            </a:r>
            <a:r>
              <a:rPr lang="vi-VN" sz="2000" b="0" i="0">
                <a:solidFill>
                  <a:srgbClr val="000000"/>
                </a:solidFill>
                <a:effectLst/>
              </a:rPr>
              <a:t>cảm.</a:t>
            </a:r>
            <a:endParaRPr lang="en-US" sz="2000" b="0" i="0">
              <a:solidFill>
                <a:srgbClr val="000000"/>
              </a:solidFill>
              <a:effectLst/>
            </a:endParaRPr>
          </a:p>
          <a:p>
            <a:pPr marL="342900" indent="-342900" algn="just">
              <a:buFontTx/>
              <a:buChar char="-"/>
            </a:pPr>
            <a:r>
              <a:rPr lang="vi-VN" sz="2000" b="0" i="0">
                <a:solidFill>
                  <a:srgbClr val="000000"/>
                </a:solidFill>
                <a:effectLst/>
              </a:rPr>
              <a:t>Nếu công tác phỏng vấn không được chuẩn bị tốt thì dễ dẫn đến thất bại</a:t>
            </a:r>
            <a:r>
              <a:rPr lang="en-US" sz="2000" b="0" i="0">
                <a:solidFill>
                  <a:srgbClr val="000000"/>
                </a:solidFill>
                <a:effectLst/>
              </a:rPr>
              <a:t>.</a:t>
            </a:r>
            <a:endParaRPr lang="en-US" sz="2000" b="0" i="0">
              <a:solidFill>
                <a:srgbClr val="000000"/>
              </a:solidFill>
              <a:effectLst/>
            </a:endParaRPr>
          </a:p>
          <a:p>
            <a:pPr marL="342900" indent="-342900" algn="just">
              <a:buFontTx/>
              <a:buChar char="-"/>
            </a:pPr>
            <a:r>
              <a:rPr lang="vi-VN" sz="2000" b="0" i="0">
                <a:solidFill>
                  <a:srgbClr val="000000"/>
                </a:solidFill>
                <a:effectLst/>
              </a:rPr>
              <a:t>Có thể gặp bất đồng về ngôn ngữ cũng như các khái niệm được đề cập.</a:t>
            </a:r>
            <a:endParaRPr lang="en-US" sz="2000" b="0" i="0">
              <a:solidFill>
                <a:srgbClr val="000000"/>
              </a:solidFill>
              <a:effectLst/>
            </a:endParaRPr>
          </a:p>
          <a:p>
            <a:pPr marL="342900" indent="-342900" algn="just">
              <a:buFontTx/>
              <a:buChar char="-"/>
            </a:pPr>
            <a:r>
              <a:rPr lang="vi-VN" sz="2000" b="0" i="0">
                <a:solidFill>
                  <a:srgbClr val="000000"/>
                </a:solidFill>
                <a:effectLst/>
              </a:rPr>
              <a:t>Cần phải hỏi được trực tiếp</a:t>
            </a:r>
            <a:r>
              <a:rPr lang="en-US" sz="2000" b="0" i="0">
                <a:solidFill>
                  <a:srgbClr val="000000"/>
                </a:solidFill>
                <a:effectLst/>
              </a:rPr>
              <a:t> </a:t>
            </a:r>
            <a:r>
              <a:rPr lang="vi-VN" sz="2000" b="0" i="0">
                <a:solidFill>
                  <a:srgbClr val="000000"/>
                </a:solidFill>
                <a:effectLst/>
              </a:rPr>
              <a:t>người có thông tin của họ.</a:t>
            </a:r>
            <a:r>
              <a:rPr lang="vi-VN" sz="2000"/>
              <a:t> </a:t>
            </a:r>
            <a:endParaRPr lang="en-US" sz="2000"/>
          </a:p>
        </p:txBody>
      </p:sp>
      <p:cxnSp>
        <p:nvCxnSpPr>
          <p:cNvPr id="5" name="Straight Connector 4"/>
          <p:cNvCxnSpPr/>
          <p:nvPr/>
        </p:nvCxnSpPr>
        <p:spPr>
          <a:xfrm>
            <a:off x="5358809" y="890259"/>
            <a:ext cx="0" cy="506397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843784" y="176733"/>
            <a:ext cx="7330054" cy="46799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2.1</a:t>
            </a:r>
            <a:r>
              <a:rPr lang="en-US">
                <a:solidFill>
                  <a:schemeClr val="bg1"/>
                </a:solidFill>
              </a:rPr>
              <a:t>. KHẢO SÁT HỆ THỐNG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" smtClean="0"/>
            </a:fld>
            <a:endParaRPr lang="en-US" spc="-5" dirty="0"/>
          </a:p>
        </p:txBody>
      </p:sp>
      <p:sp>
        <p:nvSpPr>
          <p:cNvPr id="2" name="TextBox 1"/>
          <p:cNvSpPr txBox="1"/>
          <p:nvPr/>
        </p:nvSpPr>
        <p:spPr>
          <a:xfrm>
            <a:off x="297711" y="1031358"/>
            <a:ext cx="9420447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"/>
            </a:pPr>
            <a:r>
              <a:rPr lang="vi-VN" sz="2400" b="1" i="0">
                <a:solidFill>
                  <a:srgbClr val="000000"/>
                </a:solidFill>
                <a:effectLst/>
              </a:rPr>
              <a:t>Phương pháp điều tra thăm dò</a:t>
            </a:r>
            <a:endParaRPr lang="en-US" sz="2400" b="1" i="0">
              <a:solidFill>
                <a:srgbClr val="000000"/>
              </a:solidFill>
              <a:effectLst/>
            </a:endParaRPr>
          </a:p>
          <a:p>
            <a:pPr indent="457200" algn="just">
              <a:spcBef>
                <a:spcPts val="600"/>
              </a:spcBef>
              <a:spcAft>
                <a:spcPts val="600"/>
              </a:spcAft>
            </a:pPr>
            <a:r>
              <a:rPr lang="vi-VN" sz="2400" b="0" i="0">
                <a:solidFill>
                  <a:srgbClr val="000000"/>
                </a:solidFill>
                <a:effectLst/>
              </a:rPr>
              <a:t>Là phương pháp rất thông dụng của thống kê học nhằm mục đích thu thập thông tin</a:t>
            </a:r>
            <a:r>
              <a:rPr lang="en-US" sz="2400" b="0" i="0">
                <a:solidFill>
                  <a:srgbClr val="000000"/>
                </a:solidFill>
                <a:effectLst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</a:rPr>
              <a:t>cho một mục đích nghiên cứu theo một chủ đề</a:t>
            </a:r>
            <a:r>
              <a:rPr lang="en-US" sz="2400" b="0" i="0">
                <a:solidFill>
                  <a:srgbClr val="000000"/>
                </a:solidFill>
                <a:effectLst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</a:rPr>
              <a:t>nào đó. </a:t>
            </a:r>
            <a:endParaRPr lang="en-US" sz="2400" b="0" i="0">
              <a:solidFill>
                <a:srgbClr val="000000"/>
              </a:solidFill>
              <a:effectLst/>
            </a:endParaRPr>
          </a:p>
          <a:p>
            <a:pPr indent="405130" algn="just">
              <a:spcBef>
                <a:spcPts val="600"/>
              </a:spcBef>
              <a:spcAft>
                <a:spcPts val="600"/>
              </a:spcAft>
            </a:pPr>
            <a:r>
              <a:rPr lang="vi-VN" sz="2400" i="1">
                <a:solidFill>
                  <a:srgbClr val="00B0F0"/>
                </a:solidFill>
                <a:effectLst/>
              </a:rPr>
              <a:t>Có 2 hình thức điều tra: </a:t>
            </a:r>
            <a:r>
              <a:rPr lang="vi-VN" sz="2400" b="0" i="0">
                <a:solidFill>
                  <a:srgbClr val="000000"/>
                </a:solidFill>
                <a:effectLst/>
              </a:rPr>
              <a:t>điều tra</a:t>
            </a:r>
            <a:r>
              <a:rPr lang="en-US" sz="2400" b="0" i="0">
                <a:solidFill>
                  <a:srgbClr val="000000"/>
                </a:solidFill>
                <a:effectLst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</a:rPr>
              <a:t>toàn bộ hoặc điều tra chọn mẫu.</a:t>
            </a:r>
            <a:endParaRPr lang="en-US" sz="2400" b="0" i="0">
              <a:solidFill>
                <a:srgbClr val="000000"/>
              </a:solidFill>
              <a:effectLst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vi-VN" sz="2400" b="0" i="0">
                <a:solidFill>
                  <a:srgbClr val="3333CC"/>
                </a:solidFill>
                <a:effectLst/>
              </a:rPr>
              <a:t>Tác dụng của phương pháp điều tra thăm dò:</a:t>
            </a:r>
            <a:endParaRPr lang="en-US" sz="2400" b="0" i="0">
              <a:solidFill>
                <a:srgbClr val="3333CC"/>
              </a:solidFill>
              <a:effectLst/>
            </a:endParaRPr>
          </a:p>
          <a:p>
            <a:pPr indent="405130" algn="just">
              <a:spcBef>
                <a:spcPts val="600"/>
              </a:spcBef>
              <a:spcAft>
                <a:spcPts val="600"/>
              </a:spcAft>
            </a:pPr>
            <a:r>
              <a:rPr lang="vi-VN" sz="2400" b="0" i="0">
                <a:solidFill>
                  <a:srgbClr val="000000"/>
                </a:solidFill>
                <a:effectLst/>
              </a:rPr>
              <a:t>Phương pháp điều tra thăm dò dùng để nắm những thông tin có tính vĩ mô.</a:t>
            </a:r>
            <a:endParaRPr lang="en-US" sz="2400" b="0" i="0">
              <a:solidFill>
                <a:srgbClr val="000000"/>
              </a:solidFill>
              <a:effectLst/>
            </a:endParaRPr>
          </a:p>
          <a:p>
            <a:pPr indent="457200" algn="just">
              <a:spcBef>
                <a:spcPts val="600"/>
              </a:spcBef>
              <a:spcAft>
                <a:spcPts val="600"/>
              </a:spcAft>
            </a:pPr>
            <a:r>
              <a:rPr lang="vi-VN" sz="2400" b="0" i="0">
                <a:solidFill>
                  <a:srgbClr val="000000"/>
                </a:solidFill>
                <a:effectLst/>
              </a:rPr>
              <a:t>Phương pháp này thích hợp với việc điều tra tần suất trong nghiên cứu khả thi.</a:t>
            </a:r>
            <a:r>
              <a:rPr lang="vi-VN" sz="2400"/>
              <a:t> </a:t>
            </a:r>
            <a:endParaRPr lang="en-US" sz="2400"/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843784" y="176733"/>
            <a:ext cx="7330054" cy="46799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2.1</a:t>
            </a:r>
            <a:r>
              <a:rPr lang="en-US">
                <a:solidFill>
                  <a:schemeClr val="bg1"/>
                </a:solidFill>
              </a:rPr>
              <a:t>. KHẢO SÁT HỆ THỐNG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" smtClean="0"/>
            </a:fld>
            <a:endParaRPr lang="en-US" spc="-5" dirty="0"/>
          </a:p>
        </p:txBody>
      </p:sp>
      <p:sp>
        <p:nvSpPr>
          <p:cNvPr id="2" name="TextBox 1"/>
          <p:cNvSpPr txBox="1"/>
          <p:nvPr/>
        </p:nvSpPr>
        <p:spPr>
          <a:xfrm>
            <a:off x="116958" y="871870"/>
            <a:ext cx="947360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400" b="0" i="0">
                <a:solidFill>
                  <a:srgbClr val="000000"/>
                </a:solidFill>
                <a:effectLst/>
              </a:rPr>
              <a:t>Trong phương pháp điều tra thăm dò, việc thiết kế phiếu điều tra có vai trò quyết</a:t>
            </a:r>
            <a:r>
              <a:rPr lang="en-US" sz="2400" b="0" i="0">
                <a:solidFill>
                  <a:srgbClr val="000000"/>
                </a:solidFill>
                <a:effectLst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</a:rPr>
              <a:t>định. Một phiếu điều tra tốt phải đảm bảo được các yêu cầu sau :</a:t>
            </a:r>
            <a:endParaRPr lang="en-US" sz="2400" b="0" i="0">
              <a:solidFill>
                <a:srgbClr val="000000"/>
              </a:solidFill>
              <a:effectLst/>
            </a:endParaRPr>
          </a:p>
          <a:p>
            <a:pPr marL="342900" indent="-342900" algn="just">
              <a:buFontTx/>
              <a:buChar char="-"/>
            </a:pPr>
            <a:r>
              <a:rPr lang="vi-VN" sz="2400" b="0" i="0">
                <a:solidFill>
                  <a:srgbClr val="000000"/>
                </a:solidFill>
                <a:effectLst/>
              </a:rPr>
              <a:t>Thu thập được đầy đủ các thông tin cần thiết</a:t>
            </a:r>
            <a:endParaRPr lang="en-US" sz="2400" b="0" i="0">
              <a:solidFill>
                <a:srgbClr val="000000"/>
              </a:solidFill>
              <a:effectLst/>
            </a:endParaRPr>
          </a:p>
          <a:p>
            <a:pPr marL="342900" indent="-342900" algn="just">
              <a:buFontTx/>
              <a:buChar char="-"/>
            </a:pPr>
            <a:r>
              <a:rPr lang="vi-VN" sz="2400" b="0" i="0">
                <a:solidFill>
                  <a:srgbClr val="000000"/>
                </a:solidFill>
                <a:effectLst/>
              </a:rPr>
              <a:t>Dễ dàng cho người điều tra</a:t>
            </a:r>
            <a:endParaRPr lang="en-US" sz="2400" b="0" i="0">
              <a:solidFill>
                <a:srgbClr val="000000"/>
              </a:solidFill>
              <a:effectLst/>
            </a:endParaRPr>
          </a:p>
          <a:p>
            <a:pPr marL="342900" indent="-342900" algn="just">
              <a:buFontTx/>
              <a:buChar char="-"/>
            </a:pPr>
            <a:r>
              <a:rPr lang="vi-VN" sz="2400" b="0" i="0">
                <a:solidFill>
                  <a:srgbClr val="000000"/>
                </a:solidFill>
                <a:effectLst/>
              </a:rPr>
              <a:t>Câu hỏi phải rõ ràng, không đa nghĩa, không gây hiểu lầm cho</a:t>
            </a:r>
            <a:r>
              <a:rPr lang="en-US" sz="2400" b="0" i="0">
                <a:solidFill>
                  <a:srgbClr val="000000"/>
                </a:solidFill>
                <a:effectLst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</a:rPr>
              <a:t>người được hỏi</a:t>
            </a:r>
            <a:endParaRPr lang="en-US" sz="2400" b="0" i="0">
              <a:solidFill>
                <a:srgbClr val="000000"/>
              </a:solidFill>
              <a:effectLst/>
            </a:endParaRPr>
          </a:p>
          <a:p>
            <a:pPr marL="342900" indent="-342900" algn="just">
              <a:buFontTx/>
              <a:buChar char="-"/>
            </a:pPr>
            <a:r>
              <a:rPr lang="vi-VN" sz="2400" b="0" i="0">
                <a:solidFill>
                  <a:srgbClr val="000000"/>
                </a:solidFill>
                <a:effectLst/>
              </a:rPr>
              <a:t>Câu hỏi phải xác định không mập mờ</a:t>
            </a:r>
            <a:endParaRPr lang="en-US" sz="2400" b="0" i="0">
              <a:solidFill>
                <a:srgbClr val="000000"/>
              </a:solidFill>
              <a:effectLst/>
            </a:endParaRPr>
          </a:p>
          <a:p>
            <a:pPr marL="342900" indent="-342900" algn="just">
              <a:buFontTx/>
              <a:buChar char="-"/>
            </a:pPr>
            <a:r>
              <a:rPr lang="vi-VN" sz="2400" b="0" i="0">
                <a:solidFill>
                  <a:srgbClr val="000000"/>
                </a:solidFill>
                <a:effectLst/>
              </a:rPr>
              <a:t>Các câu hỏi phải tạo điều kiện tốt nhất cho việc xử lý</a:t>
            </a:r>
            <a:endParaRPr lang="en-US" sz="2400"/>
          </a:p>
        </p:txBody>
      </p:sp>
      <p:sp>
        <p:nvSpPr>
          <p:cNvPr id="3" name="TextBox 2"/>
          <p:cNvSpPr txBox="1"/>
          <p:nvPr/>
        </p:nvSpPr>
        <p:spPr>
          <a:xfrm>
            <a:off x="326369" y="4184194"/>
            <a:ext cx="946267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200" b="1" i="1">
                <a:solidFill>
                  <a:srgbClr val="00B0F0"/>
                </a:solidFill>
                <a:effectLst/>
              </a:rPr>
              <a:t>Ưu điểm:</a:t>
            </a:r>
            <a:br>
              <a:rPr lang="vi-VN" sz="2200" b="0" i="1">
                <a:solidFill>
                  <a:srgbClr val="000000"/>
                </a:solidFill>
                <a:effectLst/>
              </a:rPr>
            </a:br>
            <a:r>
              <a:rPr lang="vi-VN" sz="2200" b="0" i="0">
                <a:solidFill>
                  <a:srgbClr val="000000"/>
                </a:solidFill>
                <a:effectLst/>
              </a:rPr>
              <a:t>+ Bổ sung cho 2 phương pháp trên để khẳng định kết quả khảo sát</a:t>
            </a:r>
            <a:br>
              <a:rPr lang="vi-VN" sz="2200" b="0" i="0">
                <a:solidFill>
                  <a:srgbClr val="000000"/>
                </a:solidFill>
                <a:effectLst/>
              </a:rPr>
            </a:br>
            <a:r>
              <a:rPr lang="vi-VN" sz="2200" b="0" i="0">
                <a:solidFill>
                  <a:srgbClr val="000000"/>
                </a:solidFill>
                <a:effectLst/>
              </a:rPr>
              <a:t>+ Là một phương pháp hiệu quả điều tra tần suất trong nghiên cứu khả thi.</a:t>
            </a:r>
            <a:r>
              <a:rPr lang="vi-VN" sz="2200"/>
              <a:t> </a:t>
            </a:r>
            <a:br>
              <a:rPr lang="vi-VN" sz="2200"/>
            </a:br>
            <a:r>
              <a:rPr lang="vi-VN" sz="2200" b="1" i="1">
                <a:solidFill>
                  <a:srgbClr val="00B0F0"/>
                </a:solidFill>
                <a:effectLst/>
              </a:rPr>
              <a:t>Nhược điểm:</a:t>
            </a:r>
            <a:br>
              <a:rPr lang="vi-VN" sz="2200" b="0" i="1">
                <a:solidFill>
                  <a:srgbClr val="000000"/>
                </a:solidFill>
                <a:effectLst/>
              </a:rPr>
            </a:br>
            <a:r>
              <a:rPr lang="vi-VN" sz="2200" b="0" i="0">
                <a:solidFill>
                  <a:srgbClr val="000000"/>
                </a:solidFill>
                <a:effectLst/>
              </a:rPr>
              <a:t>Việc xây dựng bảng hỏi để có thể đáp ứng được nhu cầu thể hiện được các thông</a:t>
            </a:r>
            <a:r>
              <a:rPr lang="en-US" sz="2200" b="0" i="0">
                <a:solidFill>
                  <a:srgbClr val="000000"/>
                </a:solidFill>
                <a:effectLst/>
              </a:rPr>
              <a:t> </a:t>
            </a:r>
            <a:r>
              <a:rPr lang="vi-VN" sz="2200" b="0" i="0">
                <a:solidFill>
                  <a:srgbClr val="000000"/>
                </a:solidFill>
                <a:effectLst/>
              </a:rPr>
              <a:t>tin cần biết là khó khăn</a:t>
            </a:r>
            <a:r>
              <a:rPr lang="vi-VN" sz="2200"/>
              <a:t> </a:t>
            </a:r>
            <a:endParaRPr lang="en-US" sz="220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843784" y="176733"/>
            <a:ext cx="7330054" cy="46799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2.1</a:t>
            </a:r>
            <a:r>
              <a:rPr lang="en-US">
                <a:solidFill>
                  <a:schemeClr val="bg1"/>
                </a:solidFill>
              </a:rPr>
              <a:t>. KHẢO SÁT HỆ THỐNG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" smtClean="0"/>
            </a:fld>
            <a:endParaRPr lang="en-US" spc="-5" dirty="0"/>
          </a:p>
        </p:txBody>
      </p:sp>
      <p:sp>
        <p:nvSpPr>
          <p:cNvPr id="2" name="TextBox 1"/>
          <p:cNvSpPr txBox="1"/>
          <p:nvPr/>
        </p:nvSpPr>
        <p:spPr>
          <a:xfrm>
            <a:off x="306572" y="915060"/>
            <a:ext cx="9292856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vi-VN" sz="2400" b="1" i="0">
                <a:solidFill>
                  <a:srgbClr val="000000"/>
                </a:solidFill>
                <a:effectLst/>
                <a:sym typeface="Wingdings" panose="05000000000000000000" pitchFamily="2" charset="2"/>
              </a:rPr>
              <a:t></a:t>
            </a:r>
            <a:r>
              <a:rPr lang="en-US" sz="2400" b="1" i="0">
                <a:solidFill>
                  <a:srgbClr val="000000"/>
                </a:solidFill>
                <a:effectLst/>
                <a:sym typeface="Wingdings" panose="05000000000000000000" pitchFamily="2" charset="2"/>
              </a:rPr>
              <a:t> </a:t>
            </a:r>
            <a:r>
              <a:rPr lang="vi-VN" sz="2400" b="1" i="0">
                <a:solidFill>
                  <a:srgbClr val="000000"/>
                </a:solidFill>
                <a:effectLst/>
              </a:rPr>
              <a:t>Phương pháp nghiên cứu tài liệu</a:t>
            </a:r>
            <a:endParaRPr lang="en-US" sz="2400" b="1" i="0">
              <a:solidFill>
                <a:srgbClr val="000000"/>
              </a:solidFill>
              <a:effectLst/>
            </a:endParaRPr>
          </a:p>
          <a:p>
            <a:pPr indent="509905" algn="just">
              <a:spcBef>
                <a:spcPts val="600"/>
              </a:spcBef>
              <a:spcAft>
                <a:spcPts val="600"/>
              </a:spcAft>
            </a:pPr>
            <a:r>
              <a:rPr lang="vi-VN" sz="2400" b="0" i="0">
                <a:solidFill>
                  <a:srgbClr val="000000"/>
                </a:solidFill>
                <a:effectLst/>
              </a:rPr>
              <a:t>Nghiên cứu tài liệu về hệ thống thông tin là bước đầu tiên của quá trình phân tích</a:t>
            </a:r>
            <a:r>
              <a:rPr lang="en-US" sz="2400" b="0" i="0">
                <a:solidFill>
                  <a:srgbClr val="000000"/>
                </a:solidFill>
                <a:effectLst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</a:rPr>
              <a:t>hệ thống và cũng là phương pháp thu thập thông tin thường được áp dụng.</a:t>
            </a:r>
            <a:endParaRPr lang="en-US" sz="2400">
              <a:solidFill>
                <a:srgbClr val="000000"/>
              </a:solidFill>
            </a:endParaRPr>
          </a:p>
          <a:p>
            <a:pPr indent="509905" algn="just">
              <a:spcBef>
                <a:spcPts val="600"/>
              </a:spcBef>
              <a:spcAft>
                <a:spcPts val="600"/>
              </a:spcAft>
            </a:pPr>
            <a:r>
              <a:rPr lang="vi-VN" sz="2400" b="0" i="0">
                <a:solidFill>
                  <a:srgbClr val="000000"/>
                </a:solidFill>
                <a:effectLst/>
              </a:rPr>
              <a:t>Mục đích của nghiên cứu tài liệu về hệ thống là thu nhận các thông tin tổng quát về</a:t>
            </a:r>
            <a:r>
              <a:rPr lang="en-US" sz="2400" b="0" i="0">
                <a:solidFill>
                  <a:srgbClr val="000000"/>
                </a:solidFill>
                <a:effectLst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</a:rPr>
              <a:t>cấu trúc tổ chức, cơ chế hoạt động, qui trình vận hành thông tin trong hệ thống. Kết quả</a:t>
            </a:r>
            <a:r>
              <a:rPr lang="en-US" sz="2400" b="0" i="0">
                <a:solidFill>
                  <a:srgbClr val="000000"/>
                </a:solidFill>
                <a:effectLst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</a:rPr>
              <a:t>của nghiên cứu về hệ thống sẽ cho ta cái nhìn tổng thể ban đầu về đối tượng nghiên cứu.</a:t>
            </a:r>
            <a:endParaRPr lang="en-US" sz="2400" b="0" i="0">
              <a:solidFill>
                <a:srgbClr val="000000"/>
              </a:solidFill>
              <a:effectLst/>
            </a:endParaRPr>
          </a:p>
          <a:p>
            <a:pPr indent="509905" algn="just"/>
            <a:r>
              <a:rPr lang="vi-VN" sz="2000">
                <a:solidFill>
                  <a:srgbClr val="000000"/>
                </a:solidFill>
              </a:rPr>
              <a:t>Nghiên cứu hệ thống bắt đầu từ nghiên cứu môi trường của của hệ thống thông tin hiện tại.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vi-VN" sz="2000">
                <a:solidFill>
                  <a:srgbClr val="000000"/>
                </a:solidFill>
              </a:rPr>
              <a:t>Môi trường của của hệ thống thông tin hiện tại bao gồm:</a:t>
            </a:r>
            <a:endParaRPr lang="en-US" sz="2000">
              <a:solidFill>
                <a:srgbClr val="000000"/>
              </a:solidFill>
            </a:endParaRPr>
          </a:p>
          <a:p>
            <a:pPr indent="509905" algn="just"/>
            <a:r>
              <a:rPr lang="vi-VN" sz="2000" b="1" i="1" u="sng">
                <a:solidFill>
                  <a:srgbClr val="00B0F0"/>
                </a:solidFill>
              </a:rPr>
              <a:t>Môi trường bên ngoài:</a:t>
            </a:r>
            <a:endParaRPr lang="en-US" sz="2000" b="1" i="1" u="sng">
              <a:solidFill>
                <a:srgbClr val="00B0F0"/>
              </a:solidFill>
            </a:endParaRPr>
          </a:p>
          <a:p>
            <a:pPr marL="342900" indent="-342900" algn="just">
              <a:buFontTx/>
              <a:buChar char="-"/>
            </a:pPr>
            <a:r>
              <a:rPr lang="vi-VN" sz="2000">
                <a:solidFill>
                  <a:srgbClr val="000000"/>
                </a:solidFill>
              </a:rPr>
              <a:t>Điều kiện cạnh tranh trên thị trường</a:t>
            </a:r>
            <a:endParaRPr lang="en-US" sz="2000">
              <a:solidFill>
                <a:srgbClr val="000000"/>
              </a:solidFill>
            </a:endParaRPr>
          </a:p>
          <a:p>
            <a:pPr marL="342900" indent="-342900" algn="just">
              <a:buFontTx/>
              <a:buChar char="-"/>
            </a:pPr>
            <a:r>
              <a:rPr lang="vi-VN" sz="2000">
                <a:solidFill>
                  <a:srgbClr val="000000"/>
                </a:solidFill>
              </a:rPr>
              <a:t>Xu hướng phát triển công nghệ trong lĩnh vực </a:t>
            </a: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843784" y="176733"/>
            <a:ext cx="7330054" cy="46799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2.1</a:t>
            </a:r>
            <a:r>
              <a:rPr lang="en-US">
                <a:solidFill>
                  <a:schemeClr val="bg1"/>
                </a:solidFill>
              </a:rPr>
              <a:t>. KHẢO SÁT HỆ THỐNG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" smtClean="0"/>
            </a:fld>
            <a:endParaRPr lang="en-US" spc="-5" dirty="0"/>
          </a:p>
        </p:txBody>
      </p:sp>
      <p:sp>
        <p:nvSpPr>
          <p:cNvPr id="2" name="TextBox 1"/>
          <p:cNvSpPr txBox="1"/>
          <p:nvPr/>
        </p:nvSpPr>
        <p:spPr>
          <a:xfrm>
            <a:off x="315432" y="829340"/>
            <a:ext cx="8761228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vi-VN" sz="2400" b="0" i="1" u="sng">
                <a:solidFill>
                  <a:srgbClr val="00B0F0"/>
                </a:solidFill>
                <a:effectLst/>
              </a:rPr>
              <a:t>Môi trường kỹ thuật</a:t>
            </a:r>
            <a:r>
              <a:rPr lang="vi-VN" sz="2400" i="1" u="sng">
                <a:solidFill>
                  <a:srgbClr val="00B0F0"/>
                </a:solidFill>
              </a:rPr>
              <a:t> </a:t>
            </a:r>
            <a:endParaRPr lang="en-US" sz="2400" i="1" u="sng">
              <a:solidFill>
                <a:srgbClr val="00B0F0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0" i="0">
                <a:solidFill>
                  <a:srgbClr val="000000"/>
                </a:solidFill>
                <a:effectLst/>
              </a:rPr>
              <a:t>- </a:t>
            </a:r>
            <a:r>
              <a:rPr lang="vi-VN" sz="2400" b="0" i="0">
                <a:solidFill>
                  <a:srgbClr val="000000"/>
                </a:solidFill>
                <a:effectLst/>
              </a:rPr>
              <a:t>Phần cứng và phần mềm hiện có để xử lý thông tin</a:t>
            </a:r>
            <a:br>
              <a:rPr lang="vi-VN" sz="2400" b="0" i="0">
                <a:solidFill>
                  <a:srgbClr val="000000"/>
                </a:solidFill>
                <a:effectLst/>
              </a:rPr>
            </a:br>
            <a:r>
              <a:rPr lang="vi-VN" sz="2400" b="0" i="0">
                <a:solidFill>
                  <a:srgbClr val="000000"/>
                </a:solidFill>
                <a:effectLst/>
              </a:rPr>
              <a:t>- Các cơ sở dữ liệu hiện đang sử dụng</a:t>
            </a:r>
            <a:br>
              <a:rPr lang="vi-VN" sz="2400" b="0" i="0">
                <a:solidFill>
                  <a:srgbClr val="000000"/>
                </a:solidFill>
                <a:effectLst/>
              </a:rPr>
            </a:br>
            <a:r>
              <a:rPr lang="vi-VN" sz="2400" b="0" i="0">
                <a:solidFill>
                  <a:srgbClr val="000000"/>
                </a:solidFill>
                <a:effectLst/>
              </a:rPr>
              <a:t>- Đội ngũ phát triển hệ thống hiện có</a:t>
            </a:r>
            <a:br>
              <a:rPr lang="vi-VN" sz="2400" b="0" i="0">
                <a:solidFill>
                  <a:srgbClr val="000000"/>
                </a:solidFill>
                <a:effectLst/>
              </a:rPr>
            </a:br>
            <a:r>
              <a:rPr lang="vi-VN" sz="2400" b="0" i="1" u="sng">
                <a:solidFill>
                  <a:srgbClr val="00B0F0"/>
                </a:solidFill>
                <a:effectLst/>
              </a:rPr>
              <a:t>Môi trường vật lý</a:t>
            </a:r>
            <a:br>
              <a:rPr lang="vi-VN" sz="2400" b="0" i="1">
                <a:solidFill>
                  <a:srgbClr val="000000"/>
                </a:solidFill>
                <a:effectLst/>
              </a:rPr>
            </a:br>
            <a:r>
              <a:rPr lang="vi-VN" sz="2400" b="0" i="0">
                <a:solidFill>
                  <a:srgbClr val="000000"/>
                </a:solidFill>
                <a:effectLst/>
              </a:rPr>
              <a:t>- Qui trình tổ chức xử lý số liệu trong quản lý</a:t>
            </a:r>
            <a:br>
              <a:rPr lang="vi-VN" sz="2400" b="0" i="0">
                <a:solidFill>
                  <a:srgbClr val="000000"/>
                </a:solidFill>
                <a:effectLst/>
              </a:rPr>
            </a:br>
            <a:r>
              <a:rPr lang="vi-VN" sz="2400" b="0" i="0">
                <a:solidFill>
                  <a:srgbClr val="000000"/>
                </a:solidFill>
                <a:effectLst/>
              </a:rPr>
              <a:t>- Độ tin cậy trong hoạt động của hệ thống</a:t>
            </a:r>
            <a:br>
              <a:rPr lang="vi-VN" sz="2400" b="0" i="0">
                <a:solidFill>
                  <a:srgbClr val="000000"/>
                </a:solidFill>
                <a:effectLst/>
              </a:rPr>
            </a:br>
            <a:r>
              <a:rPr lang="vi-VN" sz="2400" b="0" i="1" u="sng">
                <a:solidFill>
                  <a:srgbClr val="00B0F0"/>
                </a:solidFill>
                <a:effectLst/>
              </a:rPr>
              <a:t>Môi trường tổ chức</a:t>
            </a:r>
            <a:br>
              <a:rPr lang="vi-VN" sz="2400" b="0" i="1">
                <a:solidFill>
                  <a:srgbClr val="000000"/>
                </a:solidFill>
                <a:effectLst/>
              </a:rPr>
            </a:br>
            <a:r>
              <a:rPr lang="vi-VN" sz="2400" b="0" i="0">
                <a:solidFill>
                  <a:srgbClr val="000000"/>
                </a:solidFill>
                <a:effectLst/>
              </a:rPr>
              <a:t>- Chức năng của hệ thống</a:t>
            </a:r>
            <a:br>
              <a:rPr lang="vi-VN" sz="2400" b="0" i="0">
                <a:solidFill>
                  <a:srgbClr val="000000"/>
                </a:solidFill>
                <a:effectLst/>
              </a:rPr>
            </a:br>
            <a:r>
              <a:rPr lang="vi-VN" sz="2400" b="0" i="0">
                <a:solidFill>
                  <a:srgbClr val="000000"/>
                </a:solidFill>
                <a:effectLst/>
              </a:rPr>
              <a:t>- Qui mô của hệ thống</a:t>
            </a:r>
            <a:br>
              <a:rPr lang="vi-VN" sz="2400" b="0" i="0">
                <a:solidFill>
                  <a:srgbClr val="000000"/>
                </a:solidFill>
                <a:effectLst/>
              </a:rPr>
            </a:br>
            <a:r>
              <a:rPr lang="vi-VN" sz="2400" b="0" i="0">
                <a:solidFill>
                  <a:srgbClr val="000000"/>
                </a:solidFill>
                <a:effectLst/>
              </a:rPr>
              <a:t>- Chính sách dài hạn và ngắn hạn của cơ sở</a:t>
            </a:r>
            <a:br>
              <a:rPr lang="vi-VN" sz="2400" b="0" i="0">
                <a:solidFill>
                  <a:srgbClr val="000000"/>
                </a:solidFill>
                <a:effectLst/>
              </a:rPr>
            </a:br>
            <a:r>
              <a:rPr lang="vi-VN" sz="2400" b="0" i="0">
                <a:solidFill>
                  <a:srgbClr val="000000"/>
                </a:solidFill>
                <a:effectLst/>
              </a:rPr>
              <a:t>- Đặc trưng về nhân sự trong hệ thống quản lý</a:t>
            </a:r>
            <a:br>
              <a:rPr lang="vi-VN" sz="2400" b="0" i="0">
                <a:solidFill>
                  <a:srgbClr val="000000"/>
                </a:solidFill>
                <a:effectLst/>
              </a:rPr>
            </a:br>
            <a:r>
              <a:rPr lang="vi-VN" sz="2400" b="0" i="0">
                <a:solidFill>
                  <a:srgbClr val="000000"/>
                </a:solidFill>
                <a:effectLst/>
              </a:rPr>
              <a:t>- Tình trạng tài chính của cơ sở</a:t>
            </a:r>
            <a:br>
              <a:rPr lang="vi-VN" sz="2400" b="0" i="0">
                <a:solidFill>
                  <a:srgbClr val="000000"/>
                </a:solidFill>
                <a:effectLst/>
              </a:rPr>
            </a:br>
            <a:r>
              <a:rPr lang="vi-VN" sz="2400" b="0" i="0">
                <a:solidFill>
                  <a:srgbClr val="000000"/>
                </a:solidFill>
                <a:effectLst/>
              </a:rPr>
              <a:t>- Các dự án đầu tư hiện tại và tương lai</a:t>
            </a:r>
            <a:r>
              <a:rPr lang="vi-VN" sz="2400"/>
              <a:t> </a:t>
            </a:r>
            <a:endParaRPr lang="en-US" sz="2400"/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843784" y="176733"/>
            <a:ext cx="7330054" cy="46799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2.1</a:t>
            </a:r>
            <a:r>
              <a:rPr lang="en-US">
                <a:solidFill>
                  <a:schemeClr val="bg1"/>
                </a:solidFill>
              </a:rPr>
              <a:t>. KHẢO SÁT HỆ THỐNG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" smtClean="0"/>
            </a:fld>
            <a:endParaRPr lang="en-US" spc="-5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3784" y="176733"/>
            <a:ext cx="7330054" cy="46799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2.1</a:t>
            </a:r>
            <a:r>
              <a:rPr lang="en-US">
                <a:solidFill>
                  <a:schemeClr val="bg1"/>
                </a:solidFill>
              </a:rPr>
              <a:t>. KHẢO SÁT HỆ THỐNG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3916" y="1073888"/>
            <a:ext cx="952677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b="1" i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2.1.4 Quy trình điều tra khảo sát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457200" algn="just">
              <a:spcBef>
                <a:spcPts val="600"/>
              </a:spcBef>
              <a:spcAft>
                <a:spcPts val="600"/>
              </a:spcAft>
            </a:pPr>
            <a: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Một quy trình khảo sát là một kế hoạch xác định việc khai thác các nguồn điều tra</a:t>
            </a:r>
            <a:r>
              <a:rPr lang="en-US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cần được tiến hành theo trật tự nào, với các phương pháp nào và nhằm thu thập những</a:t>
            </a:r>
            <a:r>
              <a:rPr lang="en-US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thông tin nào. Khi vạch ra một quy trình điều tra phải tuân thủ ba nguyên tắc sau:</a:t>
            </a:r>
            <a:endParaRPr lang="en-US" sz="2400" b="0" i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457200" algn="just">
              <a:spcBef>
                <a:spcPts val="600"/>
              </a:spcBef>
              <a:spcAft>
                <a:spcPts val="600"/>
              </a:spcAft>
            </a:pPr>
            <a: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+ Quy trình điều tra phải hỗ trợ một cách đắc lực nhất cho phương pháp mô hình</a:t>
            </a:r>
            <a:r>
              <a:rPr lang="en-US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hoá.</a:t>
            </a:r>
            <a:endParaRPr lang="en-US" sz="2400" b="0" i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457200" algn="just">
              <a:spcBef>
                <a:spcPts val="600"/>
              </a:spcBef>
              <a:spcAft>
                <a:spcPts val="600"/>
              </a:spcAft>
            </a:pPr>
            <a: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+ Quy trình điều tra phải được tiến hành từ tổng thể đến chi tiết và từ phải được tiến</a:t>
            </a:r>
            <a:r>
              <a:rPr lang="en-US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hành từ trên xuống.</a:t>
            </a:r>
            <a:endParaRPr lang="en-US" sz="2400" b="0" i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457200" algn="just">
              <a:spcBef>
                <a:spcPts val="600"/>
              </a:spcBef>
              <a:spcAft>
                <a:spcPts val="600"/>
              </a:spcAft>
            </a:pPr>
            <a: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+ Quá trình điều tra phải được tiến hành lặp đi lặp lại.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" smtClean="0"/>
            </a:fld>
            <a:endParaRPr lang="en-US" spc="-5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843784" y="176733"/>
            <a:ext cx="7330054" cy="556914"/>
          </a:xfrm>
        </p:spPr>
        <p:txBody>
          <a:bodyPr/>
          <a:lstStyle/>
          <a:p>
            <a:pPr algn="ctr"/>
            <a:r>
              <a:rPr lang="en-US">
                <a:solidFill>
                  <a:schemeClr val="bg1"/>
                </a:solidFill>
              </a:rPr>
              <a:t>2.2. XÁC LẬP DỰ ÁN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1628" y="1137684"/>
            <a:ext cx="900577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i="1">
                <a:solidFill>
                  <a:srgbClr val="000000"/>
                </a:solidFill>
                <a:effectLst/>
              </a:rPr>
              <a:t>2</a:t>
            </a:r>
            <a:r>
              <a:rPr lang="vi-VN" sz="2400" b="1" i="1">
                <a:solidFill>
                  <a:srgbClr val="000000"/>
                </a:solidFill>
                <a:effectLst/>
              </a:rPr>
              <a:t>.2.1 Xác định phạm vi dự án</a:t>
            </a:r>
            <a:endParaRPr lang="en-US" sz="2400" b="1" i="1">
              <a:solidFill>
                <a:srgbClr val="000000"/>
              </a:solidFill>
              <a:effectLst/>
            </a:endParaRPr>
          </a:p>
          <a:p>
            <a:pPr algn="just"/>
            <a:r>
              <a:rPr lang="vi-VN" sz="2400" b="0" i="0">
                <a:solidFill>
                  <a:srgbClr val="000000"/>
                </a:solidFill>
                <a:effectLst/>
              </a:rPr>
              <a:t>Thống nhất các mục tiêu trước mắt và lâu dài trong việc phát triển hệ thống. Căn cứ</a:t>
            </a:r>
            <a:r>
              <a:rPr lang="en-US" sz="2400" b="0" i="0">
                <a:solidFill>
                  <a:srgbClr val="000000"/>
                </a:solidFill>
                <a:effectLst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</a:rPr>
              <a:t>vào kết quả khảo sát, đánh giá hệ thống cũ và các phương hướng phát triển đã đề ra, nhà</a:t>
            </a:r>
            <a:r>
              <a:rPr lang="en-US" sz="2400" b="0" i="0">
                <a:solidFill>
                  <a:srgbClr val="000000"/>
                </a:solidFill>
                <a:effectLst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</a:rPr>
              <a:t>phân tích và nhà quản lý cần xác định rõ mục tiêu chung cần đạt được, từ đó</a:t>
            </a:r>
            <a:r>
              <a:rPr lang="en-US" sz="2400" b="0" i="0">
                <a:solidFill>
                  <a:srgbClr val="000000"/>
                </a:solidFill>
                <a:effectLst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</a:rPr>
              <a:t>đi đến thống</a:t>
            </a:r>
            <a:r>
              <a:rPr lang="en-US" sz="2400" b="0" i="0">
                <a:solidFill>
                  <a:srgbClr val="000000"/>
                </a:solidFill>
                <a:effectLst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</a:rPr>
              <a:t>nhất phạm vi của hệ thống tương lai</a:t>
            </a:r>
            <a:r>
              <a:rPr lang="en-US" sz="2400" b="0" i="0">
                <a:solidFill>
                  <a:srgbClr val="000000"/>
                </a:solidFill>
                <a:effectLst/>
              </a:rPr>
              <a:t>.</a:t>
            </a:r>
            <a:endParaRPr 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" smtClean="0"/>
            </a:fld>
            <a:endParaRPr lang="en-US" spc="-5" dirty="0"/>
          </a:p>
        </p:txBody>
      </p:sp>
      <p:sp>
        <p:nvSpPr>
          <p:cNvPr id="2" name="TextBox 1"/>
          <p:cNvSpPr txBox="1"/>
          <p:nvPr/>
        </p:nvSpPr>
        <p:spPr>
          <a:xfrm>
            <a:off x="340242" y="1052623"/>
            <a:ext cx="934601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i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sz="2400" b="1" i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.2.2 Xác định khả năng mục tiêu dự án</a:t>
            </a:r>
            <a:endParaRPr lang="en-US" sz="2400" b="1" i="1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vi-VN" sz="2400" b="0" i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Khoanh vùng dự án: Thực hiện theo các phương pháp sau:</a:t>
            </a:r>
            <a:endParaRPr lang="en-US" sz="2400" b="0" i="0">
              <a:solidFill>
                <a:srgbClr val="00B0F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Khoanh vùng hẹp đi sâu giải quyết vấn đề theo chiều sâu</a:t>
            </a:r>
            <a:endParaRPr lang="en-US" sz="2400" b="0" i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Giải quyết tổng thể toàn bộ vấn đề theo chiều rộng</a:t>
            </a:r>
            <a:endParaRPr lang="en-US" sz="2400" b="0" i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vi-VN" sz="2400" b="0" i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Các yếu tố liên quan đến phạm vi của dự án</a:t>
            </a:r>
            <a:endParaRPr lang="en-US" sz="2400" b="0" i="0">
              <a:solidFill>
                <a:srgbClr val="00B0F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Xác định các lĩnh vực của dự án: Mỗi lĩnh vực là một bộ phận tương đối độc lập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của hệ thống. Ví dụ: Bán hàng, mua hàng</a:t>
            </a:r>
            <a:r>
              <a:rPr lang="en-US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b="0" i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vi-VN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 định các chức năng: Xác định rõ các nhiệm vụ cho trên từng lĩnh vực của dự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án. Ví dụ: Trong bán hàng: tăng cường tiếp thị, cải tiến cơ cấu bán hàng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843784" y="176733"/>
            <a:ext cx="7330054" cy="556914"/>
          </a:xfrm>
        </p:spPr>
        <p:txBody>
          <a:bodyPr/>
          <a:lstStyle/>
          <a:p>
            <a:pPr algn="ctr"/>
            <a:r>
              <a:rPr lang="en-US">
                <a:solidFill>
                  <a:schemeClr val="bg1"/>
                </a:solidFill>
              </a:rPr>
              <a:t>2.2. XÁC LẬP DỰ ÁN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" smtClean="0"/>
            </a:fld>
            <a:endParaRPr lang="en-US" spc="-5" dirty="0"/>
          </a:p>
        </p:txBody>
      </p:sp>
      <p:sp>
        <p:nvSpPr>
          <p:cNvPr id="2" name="TextBox 1"/>
          <p:cNvSpPr txBox="1"/>
          <p:nvPr/>
        </p:nvSpPr>
        <p:spPr>
          <a:xfrm>
            <a:off x="274674" y="866616"/>
            <a:ext cx="9356651" cy="5529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20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sz="20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vi-VN" sz="2000" b="1" i="1">
                <a:solidFill>
                  <a:srgbClr val="000000"/>
                </a:solidFill>
              </a:rPr>
              <a:t>2.3 </a:t>
            </a:r>
            <a:r>
              <a:rPr lang="vi-VN" sz="2000" b="1" i="1">
                <a:solidFill>
                  <a:srgbClr val="000000"/>
                </a:solidFill>
                <a:effectLst/>
              </a:rPr>
              <a:t>Xây dựng giải pháp khả thi</a:t>
            </a:r>
            <a:endParaRPr lang="en-US" sz="2000" b="1" i="1">
              <a:solidFill>
                <a:srgbClr val="000000"/>
              </a:solidFill>
              <a:effectLst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vi-VN" sz="2000" b="0" i="0">
                <a:solidFill>
                  <a:srgbClr val="000000"/>
                </a:solidFill>
                <a:effectLst/>
              </a:rPr>
              <a:t>Để đạt được mục tiêu đề ra, thường có nhiều giải pháp. Thông thường người ta phải</a:t>
            </a:r>
            <a:r>
              <a:rPr lang="en-US" sz="2000" b="0" i="0">
                <a:solidFill>
                  <a:srgbClr val="000000"/>
                </a:solidFill>
                <a:effectLst/>
              </a:rPr>
              <a:t> </a:t>
            </a:r>
            <a:r>
              <a:rPr lang="vi-VN" sz="2000" b="0" i="0">
                <a:solidFill>
                  <a:srgbClr val="000000"/>
                </a:solidFill>
                <a:effectLst/>
              </a:rPr>
              <a:t>tìm ra nhiều giải pháp, sau đó sẽ so sánh, đánh giá, kiểm tra tính khả thi để chọn ra giải</a:t>
            </a:r>
            <a:r>
              <a:rPr lang="en-US" sz="2000" b="0" i="0">
                <a:solidFill>
                  <a:srgbClr val="000000"/>
                </a:solidFill>
                <a:effectLst/>
              </a:rPr>
              <a:t> </a:t>
            </a:r>
            <a:r>
              <a:rPr lang="vi-VN" sz="2000" b="0" i="0">
                <a:solidFill>
                  <a:srgbClr val="000000"/>
                </a:solidFill>
                <a:effectLst/>
              </a:rPr>
              <a:t>pháp tối ưu.</a:t>
            </a:r>
            <a:endParaRPr lang="en-US" sz="2000" b="0" i="0">
              <a:solidFill>
                <a:srgbClr val="000000"/>
              </a:solidFill>
              <a:effectLst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vi-VN" sz="2000" b="0" i="1">
                <a:solidFill>
                  <a:srgbClr val="00B0F0"/>
                </a:solidFill>
                <a:effectLst/>
              </a:rPr>
              <a:t>3.2.3.1. Các tiêu chuẩn để so sánh, đánh giá</a:t>
            </a:r>
            <a:endParaRPr lang="en-US" sz="2000" b="0" i="1">
              <a:solidFill>
                <a:srgbClr val="00B0F0"/>
              </a:solidFill>
              <a:effectLst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vi-VN" sz="2000" b="0" i="0">
                <a:solidFill>
                  <a:srgbClr val="000000"/>
                </a:solidFill>
                <a:effectLst/>
              </a:rPr>
              <a:t>Khi so sánh, đánh giá ta nên dựa vào một số tiêu chuẩn sau:</a:t>
            </a:r>
            <a:endParaRPr lang="en-US" sz="2000" b="0" i="0">
              <a:solidFill>
                <a:srgbClr val="000000"/>
              </a:solidFill>
              <a:effectLst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vi-VN" sz="2000" b="0" i="0">
                <a:solidFill>
                  <a:srgbClr val="00B0F0"/>
                </a:solidFill>
                <a:effectLst/>
              </a:rPr>
              <a:t>✓ Mức tự động hoá</a:t>
            </a:r>
            <a:endParaRPr lang="en-US" sz="2000">
              <a:solidFill>
                <a:srgbClr val="000000"/>
              </a:solidFill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vi-VN" sz="2000" b="0" i="0">
                <a:solidFill>
                  <a:srgbClr val="000000"/>
                </a:solidFill>
                <a:effectLst/>
              </a:rPr>
              <a:t>Tự động hoá có nhiều mức khác nhau như:</a:t>
            </a:r>
            <a:endParaRPr lang="en-US" sz="2000" b="0" i="0">
              <a:solidFill>
                <a:srgbClr val="000000"/>
              </a:solidFill>
              <a:effectLst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2000" b="0" i="0">
                <a:solidFill>
                  <a:srgbClr val="000000"/>
                </a:solidFill>
                <a:effectLst/>
              </a:rPr>
              <a:t>- </a:t>
            </a:r>
            <a:r>
              <a:rPr lang="vi-VN" sz="2000" b="0" i="1">
                <a:solidFill>
                  <a:srgbClr val="000000"/>
                </a:solidFill>
                <a:effectLst/>
              </a:rPr>
              <a:t>Mức thấp (tổ chức lại các hoạt động thủ công): </a:t>
            </a:r>
            <a:r>
              <a:rPr lang="vi-VN" sz="2000" b="0" i="0">
                <a:solidFill>
                  <a:srgbClr val="000000"/>
                </a:solidFill>
                <a:effectLst/>
              </a:rPr>
              <a:t>Không tự động hoá và chỉ cần tổ</a:t>
            </a:r>
            <a:r>
              <a:rPr lang="en-US" sz="2000" b="0" i="0">
                <a:solidFill>
                  <a:srgbClr val="000000"/>
                </a:solidFill>
                <a:effectLst/>
              </a:rPr>
              <a:t> </a:t>
            </a:r>
            <a:r>
              <a:rPr lang="vi-VN" sz="2000" b="0" i="0">
                <a:solidFill>
                  <a:srgbClr val="000000"/>
                </a:solidFill>
                <a:effectLst/>
              </a:rPr>
              <a:t>chức lại hệ thống.</a:t>
            </a:r>
            <a:endParaRPr lang="en-US" sz="2000" b="0" i="0">
              <a:solidFill>
                <a:srgbClr val="000000"/>
              </a:solidFill>
              <a:effectLst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2000" b="0" i="0">
                <a:solidFill>
                  <a:srgbClr val="000000"/>
                </a:solidFill>
                <a:effectLst/>
              </a:rPr>
              <a:t>- </a:t>
            </a:r>
            <a:r>
              <a:rPr lang="vi-VN" sz="2000" b="0" i="1">
                <a:solidFill>
                  <a:srgbClr val="000000"/>
                </a:solidFill>
                <a:effectLst/>
              </a:rPr>
              <a:t>Mức trung bình (tự động hoá một phần): </a:t>
            </a:r>
            <a:r>
              <a:rPr lang="vi-VN" sz="2000" b="0" i="0">
                <a:solidFill>
                  <a:srgbClr val="000000"/>
                </a:solidFill>
                <a:effectLst/>
              </a:rPr>
              <a:t>có máy tính trợ giúp nhưng không đảo lộn</a:t>
            </a:r>
            <a:r>
              <a:rPr lang="en-US" sz="2000" b="0" i="0">
                <a:solidFill>
                  <a:srgbClr val="000000"/>
                </a:solidFill>
                <a:effectLst/>
              </a:rPr>
              <a:t> </a:t>
            </a:r>
            <a:r>
              <a:rPr lang="vi-VN" sz="2000" b="0" i="0">
                <a:solidFill>
                  <a:srgbClr val="000000"/>
                </a:solidFill>
                <a:effectLst/>
              </a:rPr>
              <a:t>cơ cấu tổ chức; tự động hoá từng bộ phận, chức năng hay một số lĩnh vực của hệ thống.</a:t>
            </a:r>
            <a:endParaRPr lang="en-US" sz="2000" b="0" i="0">
              <a:solidFill>
                <a:srgbClr val="000000"/>
              </a:solidFill>
              <a:effectLst/>
            </a:endParaRP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2000">
                <a:solidFill>
                  <a:srgbClr val="000000"/>
                </a:solidFill>
              </a:rPr>
              <a:t>- </a:t>
            </a:r>
            <a:r>
              <a:rPr lang="vi-VN" sz="2000" b="0" i="1">
                <a:solidFill>
                  <a:srgbClr val="000000"/>
                </a:solidFill>
                <a:effectLst/>
              </a:rPr>
              <a:t>Mức cao (tự động hoá toàn bộ hệ thống): </a:t>
            </a:r>
            <a:r>
              <a:rPr lang="vi-VN" sz="2000" b="0" i="0">
                <a:solidFill>
                  <a:srgbClr val="000000"/>
                </a:solidFill>
                <a:effectLst/>
              </a:rPr>
              <a:t>thay đổi toàn diện cơ cấu tổ chức và</a:t>
            </a:r>
            <a:r>
              <a:rPr lang="en-US" sz="2000" b="0" i="0">
                <a:solidFill>
                  <a:srgbClr val="000000"/>
                </a:solidFill>
                <a:effectLst/>
              </a:rPr>
              <a:t> </a:t>
            </a:r>
            <a:r>
              <a:rPr lang="vi-VN" sz="2000" b="0" i="0">
                <a:solidFill>
                  <a:srgbClr val="000000"/>
                </a:solidFill>
                <a:effectLst/>
              </a:rPr>
              <a:t>phương thức làm việc.</a:t>
            </a:r>
            <a:endParaRPr lang="en-US" sz="2000"/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843784" y="176733"/>
            <a:ext cx="7330054" cy="556914"/>
          </a:xfrm>
        </p:spPr>
        <p:txBody>
          <a:bodyPr/>
          <a:lstStyle/>
          <a:p>
            <a:pPr algn="ctr"/>
            <a:r>
              <a:rPr lang="en-US">
                <a:solidFill>
                  <a:schemeClr val="bg1"/>
                </a:solidFill>
              </a:rPr>
              <a:t>2.2. XÁC LẬP DỰ ÁN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" smtClean="0"/>
            </a:fld>
            <a:endParaRPr lang="en-US" spc="-5" dirty="0"/>
          </a:p>
        </p:txBody>
      </p:sp>
      <p:sp>
        <p:nvSpPr>
          <p:cNvPr id="2" name="TextBox 1"/>
          <p:cNvSpPr txBox="1"/>
          <p:nvPr/>
        </p:nvSpPr>
        <p:spPr>
          <a:xfrm>
            <a:off x="400493" y="903767"/>
            <a:ext cx="8717706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0" i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2.2.3.2. Phân tích tính hiệu quả và đánh giá tính khả thi</a:t>
            </a:r>
            <a:endParaRPr lang="en-US" sz="2400" b="0" i="1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Khi phân tích tính hiệu quả và đánh giá tính khả thi của các giải pháp, ta phải phân tích kỹ về các mặt sau:</a:t>
            </a:r>
            <a:endParaRPr lang="en-US" sz="2400" b="0" i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US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Chi phí bỏ ra và lợi ích thu về</a:t>
            </a:r>
            <a:endParaRPr lang="en-US" sz="2400" b="0" i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US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Tính khả thi về kỹ thuật</a:t>
            </a:r>
            <a:endParaRPr lang="en-US" sz="2400" b="0" i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US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Tính khả thi về kinh tế</a:t>
            </a:r>
            <a:endParaRPr lang="en-US" sz="2400" b="0" i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US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Tính khả thi về nghiệp vụ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843784" y="176733"/>
            <a:ext cx="7330054" cy="556914"/>
          </a:xfrm>
        </p:spPr>
        <p:txBody>
          <a:bodyPr/>
          <a:lstStyle/>
          <a:p>
            <a:pPr algn="ctr"/>
            <a:r>
              <a:rPr lang="en-US">
                <a:solidFill>
                  <a:schemeClr val="bg1"/>
                </a:solidFill>
              </a:rPr>
              <a:t>2.2. XÁC LẬP DỰ ÁN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" smtClean="0"/>
            </a:fld>
            <a:endParaRPr lang="en-US" spc="-5" dirty="0"/>
          </a:p>
        </p:txBody>
      </p:sp>
      <p:sp>
        <p:nvSpPr>
          <p:cNvPr id="2" name="TextBox 1"/>
          <p:cNvSpPr txBox="1"/>
          <p:nvPr/>
        </p:nvSpPr>
        <p:spPr>
          <a:xfrm>
            <a:off x="318976" y="837122"/>
            <a:ext cx="944171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400" b="0" i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3.2.3.3. Lựa chọn, cân nhắc tính khả thi</a:t>
            </a:r>
            <a:endParaRPr lang="en-US" sz="2400" b="0" i="1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Trên cơ phân tích tính hiệu quả và đánh giá tính khả thi chúng ta cân nhắc để lựa</a:t>
            </a:r>
            <a:r>
              <a:rPr lang="en-US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chọn giải pháp tối ưu</a:t>
            </a:r>
            <a:endParaRPr lang="en-US" sz="2400" b="0" i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Đưa ra giải pháp để thuyết phục người dùng (ở mức sơ bộ). Từ đó, định hướng cho</a:t>
            </a:r>
            <a:r>
              <a:rPr lang="en-US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việc phân tích và thiết kế hệ thống thông tin. Ta nên đưa ra nhiều giải pháp, như:</a:t>
            </a:r>
            <a:endParaRPr lang="en-US" sz="2400" b="0" i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Tx/>
              <a:buChar char="-"/>
            </a:pPr>
            <a: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Giải pháp cho máy đơn.</a:t>
            </a:r>
            <a:endParaRPr lang="en-US" sz="2400" b="0" i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Tx/>
              <a:buChar char="-"/>
            </a:pPr>
            <a:r>
              <a:rPr lang="vi-VN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Giải pháp máy mạng.</a:t>
            </a: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vi-VN" sz="24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 từng giải pháp phải mang tính khả thi:</a:t>
            </a:r>
            <a:endParaRPr lang="en-US" sz="240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Tx/>
              <a:buChar char="-"/>
            </a:pPr>
            <a:r>
              <a:rPr lang="vi-VN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Khả thi về mặt nghiệp vụ: phải đáp ứng được các yêu cầu của công việc.</a:t>
            </a: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Tx/>
              <a:buChar char="-"/>
            </a:pPr>
            <a:r>
              <a:rPr lang="vi-VN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Khả thi về mặt kỹ thuật: sử dụng phù hợp với hệ thống máy hiện có, tương lai,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v.v…</a:t>
            </a: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Tx/>
              <a:buChar char="-"/>
            </a:pPr>
            <a:r>
              <a:rPr lang="vi-VN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Khả thi về mặt kinh tế: chi phí viết chương trình có thể chấp nhận được, chi phí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bảo trì không quá cao, v.v…</a:t>
            </a: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843784" y="176733"/>
            <a:ext cx="7330054" cy="556914"/>
          </a:xfrm>
        </p:spPr>
        <p:txBody>
          <a:bodyPr/>
          <a:lstStyle/>
          <a:p>
            <a:pPr algn="ctr"/>
            <a:r>
              <a:rPr lang="en-US">
                <a:solidFill>
                  <a:schemeClr val="bg1"/>
                </a:solidFill>
              </a:rPr>
              <a:t>2.2. XÁC LẬP DỰ ÁN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" smtClean="0"/>
            </a:fld>
            <a:endParaRPr lang="en-US" spc="-5" dirty="0"/>
          </a:p>
        </p:txBody>
      </p:sp>
      <p:sp>
        <p:nvSpPr>
          <p:cNvPr id="3" name="TextBox 2"/>
          <p:cNvSpPr txBox="1"/>
          <p:nvPr/>
        </p:nvSpPr>
        <p:spPr>
          <a:xfrm>
            <a:off x="461355" y="894263"/>
            <a:ext cx="934186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2.2.4 Lập kế hoạch triển khai dự án:</a:t>
            </a:r>
            <a:endParaRPr lang="en-US" sz="2400" b="1" i="1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0" i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sz="2400" b="0" i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.2.4.1. Lập hồ sơ khảo sát:</a:t>
            </a:r>
            <a:br>
              <a:rPr lang="vi-VN" sz="2400" b="0" i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vi-VN" sz="2400" b="1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a. Lập dự trù về thiết bị: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vi-VN" sz="2400" b="0" i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* Dự kiến:</a:t>
            </a:r>
            <a:b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Khối lượng dữ liệu lưu trữ.</a:t>
            </a:r>
            <a:b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Các dạng làm việc với máy tính (máy đơn, máy mạng), xử lý trực tuyến (Online),</a:t>
            </a:r>
            <a:r>
              <a:rPr lang="en-US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v.v…</a:t>
            </a:r>
            <a:b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Số lượng người dùng tối thiểu và tối đa của hệ thống.</a:t>
            </a:r>
            <a:b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Khối lượng thông tin cần thu thập.</a:t>
            </a:r>
            <a:b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Khối lượng thông tin cần kết xuất, cần in ra giấy, v.v…</a:t>
            </a:r>
            <a:b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Thiết bị ngoại vi đặc biệt như: Scanner, máy vẽ, máy cắt, v.v…</a:t>
            </a:r>
            <a:b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vi-VN" sz="2400" b="0" i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* Điều kiện mua và lắp đặt:</a:t>
            </a:r>
            <a:b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Nên chọn nhà cung cấp nào, chi phí vận chuyển.</a:t>
            </a:r>
            <a:b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Mua nguyên bộ, mua rời, v.v…</a:t>
            </a:r>
            <a:b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Sơ đồ lắp đặt mức sơ bộ.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3784" y="176733"/>
            <a:ext cx="7330054" cy="556914"/>
          </a:xfrm>
        </p:spPr>
        <p:txBody>
          <a:bodyPr/>
          <a:lstStyle/>
          <a:p>
            <a:pPr algn="ctr"/>
            <a:r>
              <a:rPr lang="en-US">
                <a:solidFill>
                  <a:schemeClr val="bg1"/>
                </a:solidFill>
              </a:rPr>
              <a:t>2.2. XÁC LẬP DỰ ÁN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" smtClean="0"/>
            </a:fld>
            <a:endParaRPr lang="en-US" spc="-5" dirty="0"/>
          </a:p>
        </p:txBody>
      </p:sp>
      <p:sp>
        <p:nvSpPr>
          <p:cNvPr id="2" name="TextBox 1"/>
          <p:cNvSpPr txBox="1"/>
          <p:nvPr/>
        </p:nvSpPr>
        <p:spPr>
          <a:xfrm>
            <a:off x="450722" y="1116419"/>
            <a:ext cx="903352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vi-VN" sz="2400" b="1" i="0">
                <a:solidFill>
                  <a:srgbClr val="000000"/>
                </a:solidFill>
                <a:effectLst/>
              </a:rPr>
              <a:t>b. Công tác huấn luyện sử dụng chương trình:</a:t>
            </a:r>
            <a:endParaRPr lang="en-US" sz="2400" b="1" i="0">
              <a:solidFill>
                <a:srgbClr val="000000"/>
              </a:solidFill>
              <a:effectLst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vi-VN" sz="2400" b="0" i="0">
                <a:solidFill>
                  <a:srgbClr val="000000"/>
                </a:solidFill>
                <a:effectLst/>
              </a:rPr>
              <a:t>Thời gian huấn luyện bao lâu.</a:t>
            </a:r>
            <a:endParaRPr lang="en-US" sz="2400" b="0" i="0">
              <a:solidFill>
                <a:srgbClr val="000000"/>
              </a:solidFill>
              <a:effectLst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vi-VN" sz="2400" b="0" i="0">
                <a:solidFill>
                  <a:srgbClr val="000000"/>
                </a:solidFill>
                <a:effectLst/>
              </a:rPr>
              <a:t>Chia làm bao nhiêu nhóm huấn luyện.</a:t>
            </a:r>
            <a:endParaRPr lang="en-US" sz="2400" b="0" i="0">
              <a:solidFill>
                <a:srgbClr val="000000"/>
              </a:solidFill>
              <a:effectLst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vi-VN" sz="2400" b="1" i="0">
                <a:solidFill>
                  <a:srgbClr val="000000"/>
                </a:solidFill>
                <a:effectLst/>
              </a:rPr>
              <a:t>c. Công việc bảo trì:</a:t>
            </a:r>
            <a:endParaRPr lang="en-US" sz="2400" b="1" i="0">
              <a:solidFill>
                <a:srgbClr val="000000"/>
              </a:solidFill>
              <a:effectLst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vi-VN" sz="2400" b="0" i="0">
                <a:solidFill>
                  <a:srgbClr val="000000"/>
                </a:solidFill>
                <a:effectLst/>
              </a:rPr>
              <a:t>Đội ngũ bảo trì.</a:t>
            </a:r>
            <a:endParaRPr lang="en-US" sz="2400" b="0" i="0">
              <a:solidFill>
                <a:srgbClr val="000000"/>
              </a:solidFill>
              <a:effectLst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vi-VN" sz="2400" b="0" i="0">
                <a:solidFill>
                  <a:srgbClr val="000000"/>
                </a:solidFill>
                <a:effectLst/>
              </a:rPr>
              <a:t>Chi phí bảo trì.</a:t>
            </a:r>
            <a:endParaRPr lang="en-US" sz="2400" b="0" i="0">
              <a:solidFill>
                <a:srgbClr val="000000"/>
              </a:solidFill>
              <a:effectLst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vi-VN" sz="2400" b="0" i="0">
                <a:solidFill>
                  <a:srgbClr val="000000"/>
                </a:solidFill>
                <a:effectLst/>
              </a:rPr>
              <a:t>Thời gian bảo trì.</a:t>
            </a:r>
            <a:r>
              <a:rPr lang="vi-VN" sz="2400"/>
              <a:t> </a:t>
            </a:r>
            <a:endParaRPr lang="en-US" sz="2400"/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843784" y="176733"/>
            <a:ext cx="7330054" cy="556914"/>
          </a:xfrm>
        </p:spPr>
        <p:txBody>
          <a:bodyPr/>
          <a:lstStyle/>
          <a:p>
            <a:pPr algn="ctr"/>
            <a:r>
              <a:rPr lang="en-US">
                <a:solidFill>
                  <a:schemeClr val="bg1"/>
                </a:solidFill>
              </a:rPr>
              <a:t>2.2. XÁC LẬP DỰ ÁN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" smtClean="0"/>
            </a:fld>
            <a:endParaRPr lang="en-US" spc="-5" dirty="0"/>
          </a:p>
        </p:txBody>
      </p:sp>
      <p:sp>
        <p:nvSpPr>
          <p:cNvPr id="3" name="TextBox 2"/>
          <p:cNvSpPr txBox="1"/>
          <p:nvPr/>
        </p:nvSpPr>
        <p:spPr>
          <a:xfrm>
            <a:off x="619261" y="1020473"/>
            <a:ext cx="8527312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0" i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sz="2400" b="0" i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.2.4.2. Lập kế hoạch triển khai dự án:</a:t>
            </a:r>
            <a:endParaRPr lang="en-US" sz="2400" b="0" i="1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Về mặt nhân sự: có mặt tất cả các chuyên viên, NSD, lãnh đạo cơ quan, phân tích</a:t>
            </a:r>
            <a:r>
              <a:rPr lang="en-US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viên hệ thống (có thể có cả các lập trình viên).</a:t>
            </a:r>
            <a:endParaRPr lang="en-US" sz="2400" b="0" i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Lập tiến độ triển khai dự án.</a:t>
            </a:r>
            <a:endParaRPr lang="en-US" sz="2400" b="0" i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Phân tích tài chính dự án.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3784" y="176733"/>
            <a:ext cx="7330054" cy="556914"/>
          </a:xfrm>
        </p:spPr>
        <p:txBody>
          <a:bodyPr/>
          <a:lstStyle/>
          <a:p>
            <a:pPr algn="ctr"/>
            <a:r>
              <a:rPr lang="en-US">
                <a:solidFill>
                  <a:schemeClr val="bg1"/>
                </a:solidFill>
              </a:rPr>
              <a:t>2.2. XÁC LẬP DỰ ÁN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6748"/>
            <a:ext cx="9906000" cy="717550"/>
          </a:xfrm>
          <a:prstGeom prst="rect">
            <a:avLst/>
          </a:prstGeom>
          <a:solidFill>
            <a:srgbClr val="33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Times New Roman" panose="02020603050405020304" pitchFamily="18" charset="0"/>
                <a:cs typeface="Times New Roman" panose="02020603050405020304" pitchFamily="18" charset="0"/>
              </a:rPr>
              <a:t>BÀI TẬP</a:t>
            </a:r>
            <a:endParaRPr lang="en-US" sz="6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8125" y="953770"/>
            <a:ext cx="9390380" cy="39357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Hãy lập một nhóm đi khảo sát điều tra tìm hiểu yêu cầu, qui trình xử lí của một</a:t>
            </a:r>
            <a:r>
              <a:rPr lang="en-US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tổ chức cơ quan, bao gồm những công việc sau:</a:t>
            </a:r>
            <a:endParaRPr lang="en-US" sz="2400" b="0" i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vi-VN" sz="2400" b="0" i="0">
                <a:solidFill>
                  <a:srgbClr val="000000"/>
                </a:solidFill>
                <a:effectLst/>
              </a:rPr>
              <a:t>Thiết kế các câu hỏi phỏng vấn cho những đối tượng cần phỏng vấn</a:t>
            </a:r>
            <a:endParaRPr lang="en-US" sz="2400" b="0" i="0">
              <a:solidFill>
                <a:srgbClr val="000000"/>
              </a:solidFill>
              <a:effectLst/>
            </a:endParaRP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vi-VN" sz="2400" b="0" i="0">
                <a:solidFill>
                  <a:srgbClr val="000000"/>
                </a:solidFill>
                <a:effectLst/>
              </a:rPr>
              <a:t>Thiết kế các bảng câu hỏi cho các đối tượng cần điều tra</a:t>
            </a:r>
            <a:endParaRPr lang="en-US" sz="2400" b="0" i="0">
              <a:solidFill>
                <a:srgbClr val="000000"/>
              </a:solidFill>
              <a:effectLst/>
            </a:endParaRP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vi-VN" sz="2400" b="0" i="0">
                <a:solidFill>
                  <a:srgbClr val="000000"/>
                </a:solidFill>
                <a:effectLst/>
              </a:rPr>
              <a:t>Phân tích kết quả khảo sát, điều tra</a:t>
            </a:r>
            <a:r>
              <a:rPr lang="en-US" sz="2400" b="0" i="0">
                <a:solidFill>
                  <a:srgbClr val="000000"/>
                </a:solidFill>
                <a:effectLst/>
              </a:rPr>
              <a:t>.</a:t>
            </a:r>
            <a:endParaRPr lang="en-US" sz="2400" b="0" i="0">
              <a:solidFill>
                <a:srgbClr val="000000"/>
              </a:solidFill>
              <a:effectLst/>
            </a:endParaRP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Lập báo cáo kết quả điều tra, từ đó đánh giá tính khả thi cho việc xây dựng hệ thống thông tin.</a:t>
            </a:r>
            <a:r>
              <a:rPr lang="vi-VN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" smtClean="0"/>
            </a:fld>
            <a:endParaRPr lang="en-US" spc="-5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581" y="1609631"/>
            <a:ext cx="7602279" cy="47805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50335" y="159488"/>
            <a:ext cx="77086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 DỤ: BÀI TOÁN QUẢN LÝ THƯ VIỆN</a:t>
            </a:r>
            <a:endParaRPr lang="en-US" sz="28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0722" y="989749"/>
            <a:ext cx="62158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Hoạt động nghiệp vụ thư viện</a:t>
            </a:r>
            <a:endParaRPr lang="en-US" sz="2800" b="1">
              <a:solidFill>
                <a:srgbClr val="33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" smtClean="0"/>
            </a:fld>
            <a:endParaRPr lang="en-US" spc="-5" dirty="0"/>
          </a:p>
        </p:txBody>
      </p:sp>
      <p:sp>
        <p:nvSpPr>
          <p:cNvPr id="5" name="TextBox 4"/>
          <p:cNvSpPr txBox="1"/>
          <p:nvPr/>
        </p:nvSpPr>
        <p:spPr>
          <a:xfrm>
            <a:off x="184908" y="840893"/>
            <a:ext cx="62158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Yêu cầu hệ thống</a:t>
            </a:r>
            <a:endParaRPr lang="en-US" sz="2800" b="1">
              <a:solidFill>
                <a:srgbClr val="33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373" y="1621271"/>
            <a:ext cx="7899990" cy="33441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0335" y="159488"/>
            <a:ext cx="77086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 DỤ: BÀI TOÁN QUẢN LÝ THƯ VIỆN</a:t>
            </a:r>
            <a:endParaRPr lang="en-US" sz="28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100"/>
              </a:spcBef>
            </a:pPr>
            <a:fld id="{81D60167-4931-47E6-BA6A-407CBD079E47}" type="slidenum">
              <a:rPr lang="en-US" spc="-5" smtClean="0"/>
            </a:fld>
            <a:endParaRPr lang="en-US" spc="-5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558" y="1148316"/>
            <a:ext cx="8452884" cy="47527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50335" y="159488"/>
            <a:ext cx="77086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 DỤ: BÀI TOÁN QUẢN LÝ THƯ VIỆN</a:t>
            </a:r>
            <a:endParaRPr lang="en-US" sz="28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2178" y="2555480"/>
            <a:ext cx="4571214" cy="14884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peelOff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11147</Words>
  <Application>WPS Presentation</Application>
  <PresentationFormat>A4 Paper (210x297 mm)</PresentationFormat>
  <Paragraphs>258</Paragraphs>
  <Slides>26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44" baseType="lpstr">
      <vt:lpstr>Arial</vt:lpstr>
      <vt:lpstr>SimSun</vt:lpstr>
      <vt:lpstr>Wingdings</vt:lpstr>
      <vt:lpstr>Arial</vt:lpstr>
      <vt:lpstr>Carlito</vt:lpstr>
      <vt:lpstr>Segoe Print</vt:lpstr>
      <vt:lpstr>Verdana</vt:lpstr>
      <vt:lpstr>Times New Roman</vt:lpstr>
      <vt:lpstr>Bahnschrift SemiBold Condensed</vt:lpstr>
      <vt:lpstr>Fira Sans ExtraBold</vt:lpstr>
      <vt:lpstr>Yu Gothic UI Semibold</vt:lpstr>
      <vt:lpstr>Tahoma</vt:lpstr>
      <vt:lpstr>Calibri</vt:lpstr>
      <vt:lpstr>Microsoft YaHei</vt:lpstr>
      <vt:lpstr>Arial Unicode MS</vt:lpstr>
      <vt:lpstr>Calibri Light</vt:lpstr>
      <vt:lpstr>Custom Design</vt:lpstr>
      <vt:lpstr>1_Custom Design</vt:lpstr>
      <vt:lpstr>PowerPoint 演示文稿</vt:lpstr>
      <vt:lpstr>PowerPoint 演示文稿</vt:lpstr>
      <vt:lpstr>2.1. KHẢO SÁT HỆ THỐNG</vt:lpstr>
      <vt:lpstr>2.1. KHẢO SÁT HỆ THỐNG</vt:lpstr>
      <vt:lpstr>2.1. KHẢO SÁT HỆ THỐNG</vt:lpstr>
      <vt:lpstr>2.1. KHẢO SÁT HỆ THỐNG</vt:lpstr>
      <vt:lpstr>2.1. KHẢO SÁT HỆ THỐNG</vt:lpstr>
      <vt:lpstr>2.1. KHẢO SÁT HỆ THỐNG</vt:lpstr>
      <vt:lpstr>2.1. KHẢO SÁT HỆ THỐNG</vt:lpstr>
      <vt:lpstr>2.1. KHẢO SÁT HỆ THỐNG</vt:lpstr>
      <vt:lpstr>2.1. KHẢO SÁT HỆ THỐNG</vt:lpstr>
      <vt:lpstr>2.1. KHẢO SÁT HỆ THỐNG</vt:lpstr>
      <vt:lpstr>2.1. KHẢO SÁT HỆ THỐNG</vt:lpstr>
      <vt:lpstr>2.2. XÁC LẬP DỰ ÁN</vt:lpstr>
      <vt:lpstr>2.2. XÁC LẬP DỰ ÁN</vt:lpstr>
      <vt:lpstr>2.2. XÁC LẬP DỰ ÁN</vt:lpstr>
      <vt:lpstr>2.2. XÁC LẬP DỰ ÁN</vt:lpstr>
      <vt:lpstr>2.2. XÁC LẬP DỰ ÁN</vt:lpstr>
      <vt:lpstr>2.2. XÁC LẬP DỰ ÁN</vt:lpstr>
      <vt:lpstr>2.2. XÁC LẬP DỰ ÁN</vt:lpstr>
      <vt:lpstr>2.2. XÁC LẬP DỰ ÁN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Dũng Nguyễn</cp:lastModifiedBy>
  <cp:revision>86</cp:revision>
  <dcterms:created xsi:type="dcterms:W3CDTF">2022-07-06T14:01:00Z</dcterms:created>
  <dcterms:modified xsi:type="dcterms:W3CDTF">2024-05-14T17:15:59Z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AA5E152676DB43E4A0BCED0E51CE1033_12</vt:lpwstr>
  </property>
  <property fmtid="{D5CDD505-2E9C-101B-9397-08002B2CF9AE}" pid="3" name="KSOProductBuildVer">
    <vt:lpwstr>1033-12.2.0.16909</vt:lpwstr>
  </property>
</Properties>
</file>